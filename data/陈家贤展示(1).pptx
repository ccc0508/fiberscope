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Override PartName="/customXml/itemProps4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8" r:id="rId3"/>
    <p:sldId id="268" r:id="rId5"/>
    <p:sldId id="311" r:id="rId6"/>
    <p:sldId id="390" r:id="rId7"/>
    <p:sldId id="341" r:id="rId8"/>
    <p:sldId id="343" r:id="rId9"/>
    <p:sldId id="344" r:id="rId10"/>
    <p:sldId id="385" r:id="rId11"/>
    <p:sldId id="391" r:id="rId12"/>
    <p:sldId id="379" r:id="rId13"/>
    <p:sldId id="348" r:id="rId14"/>
    <p:sldId id="346" r:id="rId15"/>
    <p:sldId id="347" r:id="rId16"/>
    <p:sldId id="349" r:id="rId17"/>
    <p:sldId id="350" r:id="rId18"/>
    <p:sldId id="351" r:id="rId19"/>
    <p:sldId id="352" r:id="rId20"/>
    <p:sldId id="386" r:id="rId21"/>
    <p:sldId id="393" r:id="rId22"/>
    <p:sldId id="394" r:id="rId23"/>
    <p:sldId id="395" r:id="rId24"/>
    <p:sldId id="354" r:id="rId25"/>
    <p:sldId id="396" r:id="rId26"/>
    <p:sldId id="355" r:id="rId27"/>
    <p:sldId id="399" r:id="rId28"/>
    <p:sldId id="400" r:id="rId29"/>
    <p:sldId id="389" r:id="rId30"/>
    <p:sldId id="402" r:id="rId31"/>
    <p:sldId id="362" r:id="rId32"/>
    <p:sldId id="327" r:id="rId33"/>
    <p:sldId id="364" r:id="rId34"/>
    <p:sldId id="403" r:id="rId35"/>
    <p:sldId id="404" r:id="rId36"/>
    <p:sldId id="405" r:id="rId37"/>
    <p:sldId id="387" r:id="rId38"/>
    <p:sldId id="407" r:id="rId39"/>
    <p:sldId id="369" r:id="rId40"/>
    <p:sldId id="368" r:id="rId41"/>
    <p:sldId id="408" r:id="rId42"/>
    <p:sldId id="388" r:id="rId43"/>
    <p:sldId id="316" r:id="rId44"/>
    <p:sldId id="374" r:id="rId45"/>
    <p:sldId id="375" r:id="rId46"/>
    <p:sldId id="376" r:id="rId47"/>
    <p:sldId id="377" r:id="rId48"/>
    <p:sldId id="340" r:id="rId49"/>
  </p:sldIdLst>
  <p:sldSz cx="12192000" cy="6858000"/>
  <p:notesSz cx="6858000" cy="9144000"/>
  <p:embeddedFontLst>
    <p:embeddedFont>
      <p:font typeface="微软雅黑" panose="020B0503020204020204" pitchFamily="34" charset="-122"/>
      <p:regular r:id="rId56"/>
    </p:embeddedFont>
    <p:embeddedFont>
      <p:font typeface="Calibri" panose="020F0502020204030204" charset="0"/>
      <p:regular r:id="rId57"/>
      <p:bold r:id="rId58"/>
      <p:italic r:id="rId59"/>
      <p:boldItalic r:id="rId60"/>
    </p:embeddedFont>
  </p:embeddedFontLst>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22" userDrawn="1">
          <p15:clr>
            <a:srgbClr val="A4A3A4"/>
          </p15:clr>
        </p15:guide>
        <p15:guide id="2" orient="horz" pos="14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yi" initials="w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C55A11"/>
    <a:srgbClr val="024DA2"/>
    <a:srgbClr val="007FFF"/>
    <a:srgbClr val="20314B"/>
    <a:srgbClr val="FFC000"/>
    <a:srgbClr val="ED7D31"/>
    <a:srgbClr val="4D71FF"/>
    <a:srgbClr val="595959"/>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57" autoAdjust="0"/>
    <p:restoredTop sz="72382" autoAdjust="0"/>
  </p:normalViewPr>
  <p:slideViewPr>
    <p:cSldViewPr snapToGrid="0" showGuides="1">
      <p:cViewPr varScale="1">
        <p:scale>
          <a:sx n="63" d="100"/>
          <a:sy n="63" d="100"/>
        </p:scale>
        <p:origin x="60" y="879"/>
      </p:cViewPr>
      <p:guideLst>
        <p:guide pos="422"/>
        <p:guide orient="horz" pos="147"/>
      </p:guideLst>
    </p:cSldViewPr>
  </p:slideViewPr>
  <p:notesTextViewPr>
    <p:cViewPr>
      <p:scale>
        <a:sx n="3" d="2"/>
        <a:sy n="3" d="2"/>
      </p:scale>
      <p:origin x="0" y="0"/>
    </p:cViewPr>
  </p:notesTextViewPr>
  <p:sorterViewPr>
    <p:cViewPr>
      <p:scale>
        <a:sx n="100" d="100"/>
        <a:sy n="100" d="100"/>
      </p:scale>
      <p:origin x="0" y="-785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1" Type="http://schemas.openxmlformats.org/officeDocument/2006/relationships/tags" Target="tags/tag50.xml"/><Relationship Id="rId60" Type="http://schemas.openxmlformats.org/officeDocument/2006/relationships/font" Target="fonts/font5.fntdata"/><Relationship Id="rId6" Type="http://schemas.openxmlformats.org/officeDocument/2006/relationships/slide" Target="slides/slide3.xml"/><Relationship Id="rId59" Type="http://schemas.openxmlformats.org/officeDocument/2006/relationships/font" Target="fonts/font4.fntdata"/><Relationship Id="rId58" Type="http://schemas.openxmlformats.org/officeDocument/2006/relationships/font" Target="fonts/font3.fntdata"/><Relationship Id="rId57" Type="http://schemas.openxmlformats.org/officeDocument/2006/relationships/font" Target="fonts/font2.fntdata"/><Relationship Id="rId56" Type="http://schemas.openxmlformats.org/officeDocument/2006/relationships/font" Target="fonts/font1.fntdata"/><Relationship Id="rId55" Type="http://schemas.openxmlformats.org/officeDocument/2006/relationships/customXml" Target="../customXml/item1.xml"/><Relationship Id="rId54" Type="http://schemas.openxmlformats.org/officeDocument/2006/relationships/customXmlProps" Target="../customXml/itemProps49.xml"/><Relationship Id="rId53" Type="http://schemas.openxmlformats.org/officeDocument/2006/relationships/commentAuthors" Target="commentAuthors.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E078AE-FFDF-4EF5-837F-4426ACEC8B7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C996B6-11BA-4AC4-8A6C-41DA9F4690E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各位答辩委员，同学们上午好，我是王益，我的论文题目是。。。指导老师是沈文浩教授</a:t>
            </a:r>
            <a:endParaRPr lang="zh-CN" altLang="en-US" dirty="0"/>
          </a:p>
        </p:txBody>
      </p:sp>
      <p:sp>
        <p:nvSpPr>
          <p:cNvPr id="4" name="灯片编号占位符 3"/>
          <p:cNvSpPr>
            <a:spLocks noGrp="1"/>
          </p:cNvSpPr>
          <p:nvPr>
            <p:ph type="sldNum" sz="quarter" idx="10"/>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个方面来介绍我的研究工作</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在纸张的多种应用中，如。。。均涉及渗透现象。。。</a:t>
            </a:r>
            <a:r>
              <a:rPr lang="zh-CN" altLang="en-US" sz="1200" b="1" dirty="0">
                <a:latin typeface="+mn-ea"/>
                <a:cs typeface="Times New Roman" panose="02020603050405020304" pitchFamily="18" charset="0"/>
              </a:rPr>
              <a:t>涂布和加填是纸张生产的常见工艺，是通过改变纸页微观结构来改变纸张性能的。对涂布纸和加填纸的</a:t>
            </a:r>
            <a:r>
              <a:rPr lang="zh-CN" altLang="en-US" sz="1200" b="1" dirty="0">
                <a:solidFill>
                  <a:srgbClr val="FF0000"/>
                </a:solidFill>
                <a:latin typeface="+mn-ea"/>
                <a:cs typeface="Times New Roman" panose="02020603050405020304" pitchFamily="18" charset="0"/>
              </a:rPr>
              <a:t>三维结构和性能进行研究具有必要性，然而因表征手段，分析方法等不足这方面的研究甚少。</a:t>
            </a:r>
            <a:endParaRPr lang="zh-CN" altLang="en-US" sz="1200" b="1" dirty="0">
              <a:solidFill>
                <a:srgbClr val="FF0000"/>
              </a:solidFill>
              <a:latin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在纸张的多种应用中，如。。。均涉及渗透现象。。。</a:t>
            </a:r>
            <a:r>
              <a:rPr lang="zh-CN" altLang="en-US" sz="1200" b="1" dirty="0">
                <a:latin typeface="+mn-ea"/>
                <a:cs typeface="Times New Roman" panose="02020603050405020304" pitchFamily="18" charset="0"/>
              </a:rPr>
              <a:t>涂布和加填是纸张生产的常见工艺，是通过改变纸页微观结构来改变纸张性能的。对涂布纸和加填纸的</a:t>
            </a:r>
            <a:r>
              <a:rPr lang="zh-CN" altLang="en-US" sz="1200" b="1" dirty="0">
                <a:solidFill>
                  <a:srgbClr val="FF0000"/>
                </a:solidFill>
                <a:latin typeface="+mn-ea"/>
                <a:cs typeface="Times New Roman" panose="02020603050405020304" pitchFamily="18" charset="0"/>
              </a:rPr>
              <a:t>三维结构和性能进行研究具有必要性，然而因表征手段，分析方法等不足这方面的研究甚少。</a:t>
            </a:r>
            <a:endParaRPr lang="zh-CN" altLang="en-US" sz="1200" b="1" dirty="0">
              <a:solidFill>
                <a:srgbClr val="FF0000"/>
              </a:solidFill>
              <a:latin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研究纸张的结构，进行准确的纸张三维结构建模是基础</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个方面来介绍我的研究工作</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如图为</a:t>
            </a:r>
            <a:r>
              <a:rPr lang="en-US" altLang="zh-CN" dirty="0"/>
              <a:t>X-</a:t>
            </a:r>
            <a:r>
              <a:rPr lang="en-US" altLang="zh-CN" dirty="0" err="1"/>
              <a:t>ct</a:t>
            </a:r>
            <a:r>
              <a:rPr lang="zh-CN" altLang="en-US" dirty="0"/>
              <a:t>测试图，样品被置于样品台上，</a:t>
            </a:r>
            <a:r>
              <a:rPr lang="en-US" altLang="zh-CN" dirty="0"/>
              <a:t>360</a:t>
            </a:r>
            <a:r>
              <a:rPr lang="zh-CN" altLang="en-US" dirty="0"/>
              <a:t>度旋转，光源不动。扫描信号</a:t>
            </a:r>
            <a:r>
              <a:rPr lang="zh-CN" altLang="en-US"/>
              <a:t>被传感器</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个方面来介绍我的研究工作</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个方面来介绍我的研究工作</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solidFill>
                  <a:srgbClr val="FF0000"/>
                </a:solidFill>
                <a:latin typeface="Times New Roman" panose="02020603050405020304" pitchFamily="18" charset="0"/>
                <a:cs typeface="Times New Roman" panose="02020603050405020304" pitchFamily="18" charset="0"/>
              </a:rPr>
              <a:t>流速较快的区域分布在纸表面附近，由于孔径小，这部分的压力梯度较大</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个方面来介绍我的研究工作</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Times New Roman" panose="02020603050405020304" pitchFamily="18" charset="0"/>
                <a:cs typeface="Times New Roman" panose="02020603050405020304" pitchFamily="18" charset="0"/>
              </a:rPr>
              <a:t>填料在纸张内部的分布也使得纸张内部的孔隙结构变得不均匀，影响了流体的横向渗透。</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a:t>
            </a:r>
            <a:r>
              <a:rPr lang="en-US" altLang="zh-CN" dirty="0"/>
              <a:t>6</a:t>
            </a:r>
            <a:r>
              <a:rPr lang="zh-CN" altLang="en-US" dirty="0"/>
              <a:t>个方面来介绍我的研究工作</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PCC1</a:t>
            </a:r>
            <a:r>
              <a:rPr lang="zh-CN" altLang="en-US" dirty="0"/>
              <a:t>的粒径比</a:t>
            </a:r>
            <a:r>
              <a:rPr lang="en-US" altLang="zh-CN" dirty="0"/>
              <a:t>PCC2</a:t>
            </a:r>
            <a:r>
              <a:rPr lang="zh-CN" altLang="en-US" dirty="0"/>
              <a:t>的粒径更大，分布在纸张纤维中能打开更大的孔隙；更多细小的填料颗粒形成了在孔隙空间内更复杂的孔隙结构，流体流经路径变长；</a:t>
            </a:r>
            <a:r>
              <a:rPr lang="en-US" altLang="zh-CN" dirty="0"/>
              <a:t>PCC2</a:t>
            </a:r>
            <a:r>
              <a:rPr lang="zh-CN" altLang="en-US" dirty="0"/>
              <a:t>分散在纸张纤维和孔隙空间中形成了更复杂的孔隙结构</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PCC1</a:t>
            </a:r>
            <a:r>
              <a:rPr lang="zh-CN" altLang="en-US" dirty="0"/>
              <a:t>的粒径比</a:t>
            </a:r>
            <a:r>
              <a:rPr lang="en-US" altLang="zh-CN" dirty="0"/>
              <a:t>PCC2</a:t>
            </a:r>
            <a:r>
              <a:rPr lang="zh-CN" altLang="en-US" dirty="0"/>
              <a:t>的粒径更大，分布在纸张纤维中能打开更大的孔隙；更多细小的填料颗粒形成了在孔隙空间内更复杂的孔隙结构，流体流经路径变长；</a:t>
            </a:r>
            <a:r>
              <a:rPr lang="en-US" altLang="zh-CN" dirty="0"/>
              <a:t>PCC2</a:t>
            </a:r>
            <a:r>
              <a:rPr lang="zh-CN" altLang="en-US" dirty="0"/>
              <a:t>分散在纸张纤维和孔隙空间中形成了更复杂的孔隙结构</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PCC1</a:t>
            </a:r>
            <a:r>
              <a:rPr lang="zh-CN" altLang="en-US" dirty="0"/>
              <a:t>的粒径比</a:t>
            </a:r>
            <a:r>
              <a:rPr lang="en-US" altLang="zh-CN" dirty="0"/>
              <a:t>PCC2</a:t>
            </a:r>
            <a:r>
              <a:rPr lang="zh-CN" altLang="en-US" dirty="0"/>
              <a:t>的粒径更大，分布在纸张纤维中能打开更大的孔隙；更多细小的填料颗粒形成了在孔隙空间内更复杂的孔隙结构，流体流经路径变长；</a:t>
            </a:r>
            <a:r>
              <a:rPr lang="en-US" altLang="zh-CN" dirty="0"/>
              <a:t>PCC2</a:t>
            </a:r>
            <a:r>
              <a:rPr lang="zh-CN" altLang="en-US" dirty="0"/>
              <a:t>分散在纸张纤维和孔隙空间中形成了更复杂的孔隙结构</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PCC1</a:t>
            </a:r>
            <a:r>
              <a:rPr lang="zh-CN" altLang="en-US" dirty="0"/>
              <a:t>的粒径比</a:t>
            </a:r>
            <a:r>
              <a:rPr lang="en-US" altLang="zh-CN" dirty="0"/>
              <a:t>PCC2</a:t>
            </a:r>
            <a:r>
              <a:rPr lang="zh-CN" altLang="en-US" dirty="0"/>
              <a:t>的粒径更大，分布在纸张纤维中能打开更大的孔隙；更多细小的填料颗粒形成了在孔隙空间内更复杂的孔隙结构，流体流经路径变长；</a:t>
            </a:r>
            <a:r>
              <a:rPr lang="en-US" altLang="zh-CN" dirty="0"/>
              <a:t>PCC2</a:t>
            </a:r>
            <a:r>
              <a:rPr lang="zh-CN" altLang="en-US" dirty="0"/>
              <a:t>分散在纸张纤维和孔隙空间中形成了更复杂的孔隙结构</a:t>
            </a:r>
            <a:endParaRPr lang="zh-CN" altLang="en-US" dirty="0"/>
          </a:p>
        </p:txBody>
      </p:sp>
      <p:sp>
        <p:nvSpPr>
          <p:cNvPr id="4" name="灯片编号占位符 3"/>
          <p:cNvSpPr>
            <a:spLocks noGrp="1"/>
          </p:cNvSpPr>
          <p:nvPr>
            <p:ph type="sldNum" sz="quarter" idx="5"/>
          </p:nvPr>
        </p:nvSpPr>
        <p:spPr/>
        <p:txBody>
          <a:bodyPr/>
          <a:lstStyle/>
          <a:p>
            <a:fld id="{BCC996B6-11BA-4AC4-8A6C-41DA9F4690E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CC996B6-11BA-4AC4-8A6C-41DA9F4690E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12A7C36-7760-4578-9F7D-D8B1AECCD3EC}"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70AAD88-A23F-4039-B25B-7D01AF1ADCC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0BBD9C2-B949-4F81-86B2-C7E2D2B878C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B2BC47D-6290-4E48-9B6E-9A8D3200DE09}"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3FE6D38A-0B18-4B3B-B9A1-0D4879137A6A}"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7AEF10-4C31-4DDC-8BE2-87674E4BBF54}"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E2B621-3DC6-47D5-A497-EC548090B0FD}"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B912AFA-91FB-4D2F-A871-D8423E7ACC8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1BC365E-6DA3-4F8E-BE44-6B27749CD9E1}"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D8EEA55-12DB-44A5-840E-21A760CB7BF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21A590C-253E-4D2F-B9FB-1B3CED7DEA8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674DAA-B895-4292-BF3B-3C003D11A923}"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3.xml"/><Relationship Id="rId13" Type="http://schemas.openxmlformats.org/officeDocument/2006/relationships/slideLayout" Target="../slideLayouts/slideLayout1.xml"/><Relationship Id="rId12" Type="http://schemas.openxmlformats.org/officeDocument/2006/relationships/image" Target="../media/image4.png"/><Relationship Id="rId11" Type="http://schemas.openxmlformats.org/officeDocument/2006/relationships/tags" Target="../tags/tag10.xml"/><Relationship Id="rId10" Type="http://schemas.openxmlformats.org/officeDocument/2006/relationships/image" Target="../media/image3.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image" Target="../media/image5.jpeg"/><Relationship Id="rId3" Type="http://schemas.openxmlformats.org/officeDocument/2006/relationships/tags" Target="../tags/tag13.xml"/><Relationship Id="rId2" Type="http://schemas.openxmlformats.org/officeDocument/2006/relationships/tags" Target="../tags/tag12.xml"/><Relationship Id="rId12" Type="http://schemas.openxmlformats.org/officeDocument/2006/relationships/notesSlide" Target="../notesSlides/notesSlide4.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24.xml"/><Relationship Id="rId7" Type="http://schemas.openxmlformats.org/officeDocument/2006/relationships/image" Target="../media/image13.jpeg"/><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image" Target="../media/image12.png"/><Relationship Id="rId2" Type="http://schemas.openxmlformats.org/officeDocument/2006/relationships/tags" Target="../tags/tag20.xml"/><Relationship Id="rId13" Type="http://schemas.openxmlformats.org/officeDocument/2006/relationships/slideLayout" Target="../slideLayouts/slideLayout7.xml"/><Relationship Id="rId12" Type="http://schemas.openxmlformats.org/officeDocument/2006/relationships/image" Target="../media/image15.jpeg"/><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0.wmf"/><Relationship Id="rId7" Type="http://schemas.openxmlformats.org/officeDocument/2006/relationships/oleObject" Target="../embeddings/oleObject4.bin"/><Relationship Id="rId6" Type="http://schemas.openxmlformats.org/officeDocument/2006/relationships/image" Target="../media/image29.wmf"/><Relationship Id="rId5" Type="http://schemas.openxmlformats.org/officeDocument/2006/relationships/oleObject" Target="../embeddings/oleObject3.bin"/><Relationship Id="rId4" Type="http://schemas.openxmlformats.org/officeDocument/2006/relationships/image" Target="../media/image28.wmf"/><Relationship Id="rId3" Type="http://schemas.openxmlformats.org/officeDocument/2006/relationships/oleObject" Target="../embeddings/oleObject2.bin"/><Relationship Id="rId2" Type="http://schemas.openxmlformats.org/officeDocument/2006/relationships/image" Target="../media/image27.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tags" Target="../tags/tag3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37.wmf"/><Relationship Id="rId7" Type="http://schemas.openxmlformats.org/officeDocument/2006/relationships/oleObject" Target="../embeddings/oleObject8.bin"/><Relationship Id="rId6" Type="http://schemas.openxmlformats.org/officeDocument/2006/relationships/image" Target="../media/image36.wmf"/><Relationship Id="rId5" Type="http://schemas.openxmlformats.org/officeDocument/2006/relationships/oleObject" Target="../embeddings/oleObject7.bin"/><Relationship Id="rId4" Type="http://schemas.openxmlformats.org/officeDocument/2006/relationships/image" Target="../media/image35.wmf"/><Relationship Id="rId3" Type="http://schemas.openxmlformats.org/officeDocument/2006/relationships/oleObject" Target="../embeddings/oleObject6.bin"/><Relationship Id="rId2" Type="http://schemas.openxmlformats.org/officeDocument/2006/relationships/image" Target="../media/image34.wmf"/><Relationship Id="rId14" Type="http://schemas.openxmlformats.org/officeDocument/2006/relationships/vmlDrawing" Target="../drawings/vmlDrawing2.vml"/><Relationship Id="rId13" Type="http://schemas.openxmlformats.org/officeDocument/2006/relationships/slideLayout" Target="../slideLayouts/slideLayout1.xml"/><Relationship Id="rId12" Type="http://schemas.openxmlformats.org/officeDocument/2006/relationships/oleObject" Target="../embeddings/oleObject11.bin"/><Relationship Id="rId11" Type="http://schemas.openxmlformats.org/officeDocument/2006/relationships/oleObject" Target="../embeddings/oleObject10.bin"/><Relationship Id="rId10" Type="http://schemas.openxmlformats.org/officeDocument/2006/relationships/image" Target="../media/image38.wmf"/><Relationship Id="rId1"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1.xml"/><Relationship Id="rId5" Type="http://schemas.openxmlformats.org/officeDocument/2006/relationships/image" Target="../media/image41.wmf"/><Relationship Id="rId4" Type="http://schemas.openxmlformats.org/officeDocument/2006/relationships/oleObject" Target="../embeddings/oleObject13.bin"/><Relationship Id="rId3" Type="http://schemas.openxmlformats.org/officeDocument/2006/relationships/image" Target="../media/image40.wmf"/><Relationship Id="rId2" Type="http://schemas.openxmlformats.org/officeDocument/2006/relationships/oleObject" Target="../embeddings/oleObject12.bin"/><Relationship Id="rId1" Type="http://schemas.openxmlformats.org/officeDocument/2006/relationships/image" Target="../media/image39.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image" Target="../media/image43.wmf"/><Relationship Id="rId3" Type="http://schemas.openxmlformats.org/officeDocument/2006/relationships/oleObject" Target="../embeddings/oleObject15.bin"/><Relationship Id="rId2" Type="http://schemas.openxmlformats.org/officeDocument/2006/relationships/image" Target="../media/image42.wmf"/><Relationship Id="rId1" Type="http://schemas.openxmlformats.org/officeDocument/2006/relationships/oleObject" Target="../embeddings/oleObject14.bin"/></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37.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image" Target="../media/image51.svg"/><Relationship Id="rId7" Type="http://schemas.openxmlformats.org/officeDocument/2006/relationships/image" Target="../media/image50.png"/><Relationship Id="rId6" Type="http://schemas.openxmlformats.org/officeDocument/2006/relationships/tags" Target="../tags/tag35.xml"/><Relationship Id="rId5" Type="http://schemas.openxmlformats.org/officeDocument/2006/relationships/image" Target="../media/image49.svg"/><Relationship Id="rId4" Type="http://schemas.openxmlformats.org/officeDocument/2006/relationships/image" Target="../media/image48.png"/><Relationship Id="rId3" Type="http://schemas.openxmlformats.org/officeDocument/2006/relationships/image" Target="../media/image47.svg"/><Relationship Id="rId26" Type="http://schemas.openxmlformats.org/officeDocument/2006/relationships/notesSlide" Target="../notesSlides/notesSlide13.xml"/><Relationship Id="rId25" Type="http://schemas.openxmlformats.org/officeDocument/2006/relationships/slideLayout" Target="../slideLayouts/slideLayout1.xml"/><Relationship Id="rId24" Type="http://schemas.openxmlformats.org/officeDocument/2006/relationships/image" Target="../media/image55.svg"/><Relationship Id="rId23" Type="http://schemas.openxmlformats.org/officeDocument/2006/relationships/image" Target="../media/image54.png"/><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image" Target="../media/image46.png"/><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image" Target="../media/image53.svg"/><Relationship Id="rId15" Type="http://schemas.openxmlformats.org/officeDocument/2006/relationships/image" Target="../media/image52.png"/><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3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10253" y="5159388"/>
            <a:ext cx="10972800" cy="1724147"/>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a:off x="7937501" y="-1509485"/>
            <a:ext cx="4254499" cy="8367486"/>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075161" y="1664143"/>
            <a:ext cx="8468952" cy="1568450"/>
          </a:xfrm>
          <a:prstGeom prst="rect">
            <a:avLst/>
          </a:prstGeom>
          <a:noFill/>
        </p:spPr>
        <p:txBody>
          <a:bodyPr wrap="square" rtlCol="0">
            <a:spAutoFit/>
          </a:bodyPr>
          <a:lstStyle/>
          <a:p>
            <a:pPr algn="ctr">
              <a:lnSpc>
                <a:spcPct val="150000"/>
              </a:lnSpc>
            </a:pPr>
            <a:r>
              <a:rPr lang="zh-CN" altLang="en-US" sz="3200" b="1" dirty="0">
                <a:solidFill>
                  <a:srgbClr val="024DA2"/>
                </a:solidFill>
                <a:latin typeface="微软雅黑" panose="020B0503020204020204" pitchFamily="34" charset="-122"/>
                <a:ea typeface="微软雅黑" panose="020B0503020204020204" pitchFamily="34" charset="-122"/>
              </a:rPr>
              <a:t>基于纤维形态及成纸强度的再生纸浆</a:t>
            </a:r>
            <a:endParaRPr lang="zh-CN" altLang="en-US" sz="3200" b="1" dirty="0">
              <a:solidFill>
                <a:srgbClr val="024DA2"/>
              </a:solidFill>
              <a:latin typeface="微软雅黑" panose="020B0503020204020204" pitchFamily="34" charset="-122"/>
              <a:ea typeface="微软雅黑" panose="020B0503020204020204" pitchFamily="34" charset="-122"/>
            </a:endParaRPr>
          </a:p>
          <a:p>
            <a:pPr algn="ctr">
              <a:lnSpc>
                <a:spcPct val="150000"/>
              </a:lnSpc>
            </a:pPr>
            <a:r>
              <a:rPr lang="zh-CN" altLang="en-US" sz="3200" b="1" dirty="0">
                <a:solidFill>
                  <a:srgbClr val="024DA2"/>
                </a:solidFill>
                <a:latin typeface="微软雅黑" panose="020B0503020204020204" pitchFamily="34" charset="-122"/>
                <a:ea typeface="微软雅黑" panose="020B0503020204020204" pitchFamily="34" charset="-122"/>
              </a:rPr>
              <a:t>再利用适用度定量评价研究</a:t>
            </a:r>
            <a:endParaRPr lang="zh-CN" altLang="en-US" sz="3200" b="1" dirty="0">
              <a:solidFill>
                <a:srgbClr val="024DA2"/>
              </a:solidFill>
              <a:latin typeface="微软雅黑" panose="020B0503020204020204" pitchFamily="34" charset="-122"/>
              <a:ea typeface="微软雅黑" panose="020B0503020204020204" pitchFamily="34" charset="-122"/>
            </a:endParaRPr>
          </a:p>
        </p:txBody>
      </p:sp>
      <p:pic>
        <p:nvPicPr>
          <p:cNvPr id="14"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97084" y="5482554"/>
            <a:ext cx="3042950" cy="1267896"/>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a:blip r:embed="rId2"/>
          <a:stretch>
            <a:fillRect/>
          </a:stretch>
        </p:blipFill>
        <p:spPr>
          <a:xfrm>
            <a:off x="200025" y="159406"/>
            <a:ext cx="3825635" cy="484644"/>
          </a:xfrm>
          <a:prstGeom prst="rect">
            <a:avLst/>
          </a:prstGeom>
        </p:spPr>
      </p:pic>
      <p:sp>
        <p:nvSpPr>
          <p:cNvPr id="8" name="矩形 7"/>
          <p:cNvSpPr/>
          <p:nvPr/>
        </p:nvSpPr>
        <p:spPr>
          <a:xfrm>
            <a:off x="4184037" y="3904637"/>
            <a:ext cx="2998470" cy="1337945"/>
          </a:xfrm>
          <a:prstGeom prst="rect">
            <a:avLst/>
          </a:prstGeom>
          <a:noFill/>
          <a:ln>
            <a:noFill/>
          </a:ln>
        </p:spPr>
        <p:txBody>
          <a:bodyPr wrap="none">
            <a:spAutoFit/>
          </a:bodyPr>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答辩人：陈家贤</a:t>
            </a:r>
            <a:endParaRPr kumimoji="0" lang="en-US" altLang="zh-CN"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指导老师：沈文浩教授</a:t>
            </a:r>
            <a:endParaRPr kumimoji="0" lang="en-US" altLang="zh-CN"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答辩时间：</a:t>
            </a:r>
            <a:r>
              <a:rPr kumimoji="0" lang="en-US" altLang="zh-CN"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2025</a:t>
            </a:r>
            <a:r>
              <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年</a:t>
            </a:r>
            <a:r>
              <a:rPr lang="en-US" altLang="zh-CN" b="1" dirty="0">
                <a:solidFill>
                  <a:prstClr val="black">
                    <a:lumMod val="65000"/>
                    <a:lumOff val="35000"/>
                  </a:prstClr>
                </a:solidFill>
                <a:latin typeface="微软雅黑" panose="020B0503020204020204" pitchFamily="34" charset="-122"/>
                <a:ea typeface="微软雅黑" panose="020B0503020204020204" pitchFamily="34" charset="-122"/>
              </a:rPr>
              <a:t>5</a:t>
            </a:r>
            <a:r>
              <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月</a:t>
            </a:r>
            <a:r>
              <a:rPr kumimoji="0" lang="en-US" altLang="zh-CN"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28</a:t>
            </a:r>
            <a:r>
              <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日</a:t>
            </a:r>
            <a:endParaRPr kumimoji="0" lang="zh-CN" altLang="en-US" sz="1800" b="1"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4049010" y="3258670"/>
            <a:ext cx="2646878" cy="581057"/>
          </a:xfrm>
          <a:prstGeom prst="rect">
            <a:avLst/>
          </a:prstGeom>
          <a:noFill/>
          <a:ln>
            <a:noFill/>
          </a:ln>
        </p:spPr>
        <p:txBody>
          <a:bodyPr wrap="none">
            <a:spAutoFit/>
          </a:bodyPr>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硕士学位</a:t>
            </a:r>
            <a:r>
              <a:rPr lang="zh-CN" altLang="en-US" sz="2400" b="1" dirty="0">
                <a:solidFill>
                  <a:prstClr val="black"/>
                </a:solidFill>
                <a:latin typeface="微软雅黑" panose="020B0503020204020204" pitchFamily="34" charset="-122"/>
                <a:ea typeface="微软雅黑" panose="020B0503020204020204" pitchFamily="34" charset="-122"/>
              </a:rPr>
              <a:t>论文</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答辩</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0" y="0"/>
            <a:ext cx="4990011" cy="5918934"/>
          </a:xfrm>
          <a:prstGeom prst="triangle">
            <a:avLst>
              <a:gd name="adj" fmla="val 10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0" y="3657601"/>
            <a:ext cx="10972800" cy="3200400"/>
          </a:xfrm>
          <a:prstGeom prst="triangle">
            <a:avLst>
              <a:gd name="adj" fmla="val 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629871" y="1258976"/>
            <a:ext cx="6476275" cy="3685800"/>
            <a:chOff x="4603018" y="3207206"/>
            <a:chExt cx="4020218" cy="3685800"/>
          </a:xfrm>
        </p:grpSpPr>
        <p:sp>
          <p:nvSpPr>
            <p:cNvPr id="44" name="矩形 43"/>
            <p:cNvSpPr/>
            <p:nvPr/>
          </p:nvSpPr>
          <p:spPr>
            <a:xfrm>
              <a:off x="4603018" y="3207206"/>
              <a:ext cx="2985964" cy="707886"/>
            </a:xfrm>
            <a:prstGeom prst="rect">
              <a:avLst/>
            </a:prstGeom>
          </p:spPr>
          <p:txBody>
            <a:bodyPr wrap="square">
              <a:spAutoFit/>
            </a:bodyPr>
            <a:lstStyle/>
            <a:p>
              <a:pPr algn="ctr"/>
              <a:r>
                <a:rPr lang="zh-CN" altLang="en-US" sz="4000" b="1" dirty="0">
                  <a:solidFill>
                    <a:srgbClr val="024DA2"/>
                  </a:solidFill>
                  <a:latin typeface="微软雅黑" panose="020B0503020204020204" pitchFamily="34" charset="-122"/>
                  <a:ea typeface="微软雅黑" panose="020B0503020204020204" pitchFamily="34" charset="-122"/>
                </a:rPr>
                <a:t>目录</a:t>
              </a:r>
              <a:endParaRPr lang="zh-CN" altLang="en-US" sz="4000" b="1" dirty="0">
                <a:solidFill>
                  <a:srgbClr val="024DA2"/>
                </a:solidFill>
                <a:latin typeface="微软雅黑" panose="020B0503020204020204" pitchFamily="34" charset="-122"/>
                <a:ea typeface="微软雅黑" panose="020B0503020204020204" pitchFamily="34" charset="-122"/>
              </a:endParaRPr>
            </a:p>
          </p:txBody>
        </p:sp>
        <p:sp>
          <p:nvSpPr>
            <p:cNvPr id="45" name="矩形 44"/>
            <p:cNvSpPr/>
            <p:nvPr/>
          </p:nvSpPr>
          <p:spPr>
            <a:xfrm>
              <a:off x="5099241" y="4031696"/>
              <a:ext cx="3523995" cy="2861310"/>
            </a:xfrm>
            <a:prstGeom prst="rect">
              <a:avLst/>
            </a:prstGeom>
          </p:spPr>
          <p:txBody>
            <a:bodyPr wrap="square">
              <a:spAutoFit/>
            </a:bodyPr>
            <a:lstStyle/>
            <a:p>
              <a:pPr marL="514350" indent="-514350">
                <a:lnSpc>
                  <a:spcPct val="150000"/>
                </a:lnSpc>
                <a:buFont typeface="+mj-lt"/>
                <a:buAutoNum type="arabicPeriod"/>
              </a:pPr>
              <a:r>
                <a:rPr lang="zh-CN" altLang="en-US" sz="2000" b="1" dirty="0">
                  <a:solidFill>
                    <a:srgbClr val="FF0000"/>
                  </a:solidFill>
                  <a:latin typeface="微软雅黑" panose="020B0503020204020204" pitchFamily="34" charset="-122"/>
                  <a:ea typeface="微软雅黑" panose="020B0503020204020204" pitchFamily="34" charset="-122"/>
                </a:rPr>
                <a:t>课题研究背景及意义</a:t>
              </a:r>
              <a:endParaRPr lang="en-US" altLang="zh-CN" sz="2000" b="1" dirty="0">
                <a:solidFill>
                  <a:srgbClr val="FF0000"/>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再生纸浆循环回用纤维劣化研究</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再生纸张物理强度预测模型构建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再生纸浆再利用适用度评价体系构建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再生纸浆数据库构建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总结与展望</a:t>
              </a:r>
              <a:endParaRPr lang="en-US" altLang="zh-CN" sz="2000" b="1" dirty="0">
                <a:latin typeface="微软雅黑" panose="020B0503020204020204" pitchFamily="34" charset="-122"/>
                <a:ea typeface="微软雅黑" panose="020B0503020204020204" pitchFamily="34" charset="-122"/>
              </a:endParaRPr>
            </a:p>
          </p:txBody>
        </p:sp>
        <p:sp>
          <p:nvSpPr>
            <p:cNvPr id="47" name="等腰三角形 46"/>
            <p:cNvSpPr/>
            <p:nvPr/>
          </p:nvSpPr>
          <p:spPr>
            <a:xfrm flipV="1">
              <a:off x="6000750" y="3915093"/>
              <a:ext cx="190500" cy="16422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pic>
        <p:nvPicPr>
          <p:cNvPr id="11"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431" y="5355806"/>
            <a:ext cx="3042950" cy="12678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316"/>
    </mc:Choice>
    <mc:Fallback>
      <p:transition spd="slow" advTm="431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2467"/>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296092" y="-1075"/>
            <a:ext cx="5257199" cy="46166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1.1 </a:t>
            </a:r>
            <a:r>
              <a:rPr lang="zh-CN" altLang="en-US" sz="2400" b="1" dirty="0">
                <a:solidFill>
                  <a:schemeClr val="tx1">
                    <a:lumMod val="65000"/>
                    <a:lumOff val="35000"/>
                  </a:schemeClr>
                </a:solidFill>
                <a:latin typeface="+mn-ea"/>
              </a:rPr>
              <a:t>课题研究背景</a:t>
            </a:r>
            <a:endParaRPr lang="zh-CN" altLang="en-US" sz="2400" b="1" dirty="0">
              <a:solidFill>
                <a:schemeClr val="tx1">
                  <a:lumMod val="65000"/>
                  <a:lumOff val="35000"/>
                </a:schemeClr>
              </a:solidFill>
              <a:latin typeface="+mn-ea"/>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3" name="文本框 2"/>
          <p:cNvSpPr txBox="1"/>
          <p:nvPr>
            <p:custDataLst>
              <p:tags r:id="rId1"/>
            </p:custDataLst>
          </p:nvPr>
        </p:nvSpPr>
        <p:spPr>
          <a:xfrm>
            <a:off x="1152525" y="4897120"/>
            <a:ext cx="3861435" cy="306705"/>
          </a:xfrm>
          <a:prstGeom prst="rect">
            <a:avLst/>
          </a:prstGeom>
          <a:noFill/>
        </p:spPr>
        <p:txBody>
          <a:bodyPr wrap="square" rtlCol="0">
            <a:spAutoFit/>
          </a:bodyPr>
          <a:lstStyle/>
          <a:p>
            <a:r>
              <a:rPr lang="zh-CN" altLang="en-US" sz="1400" dirty="0">
                <a:latin typeface="+mn-ea"/>
                <a:cs typeface="Times New Roman" panose="02020603050405020304" pitchFamily="18" charset="0"/>
              </a:rPr>
              <a:t>玖龙纸页近年海外投资再生纸浆生产线</a:t>
            </a:r>
            <a:r>
              <a:rPr lang="zh-CN" altLang="en-US" sz="1400" dirty="0">
                <a:latin typeface="+mn-ea"/>
                <a:cs typeface="Times New Roman" panose="02020603050405020304" pitchFamily="18" charset="0"/>
              </a:rPr>
              <a:t>情况</a:t>
            </a:r>
            <a:endParaRPr lang="zh-CN" altLang="en-US" sz="1400" dirty="0">
              <a:latin typeface="+mn-ea"/>
              <a:cs typeface="Times New Roman" panose="02020603050405020304" pitchFamily="18" charset="0"/>
            </a:endParaRPr>
          </a:p>
        </p:txBody>
      </p:sp>
      <p:sp>
        <p:nvSpPr>
          <p:cNvPr id="20" name="文本框 19"/>
          <p:cNvSpPr txBox="1"/>
          <p:nvPr>
            <p:custDataLst>
              <p:tags r:id="rId2"/>
            </p:custDataLst>
          </p:nvPr>
        </p:nvSpPr>
        <p:spPr>
          <a:xfrm>
            <a:off x="483584" y="5204073"/>
            <a:ext cx="5433976" cy="737235"/>
          </a:xfrm>
          <a:prstGeom prst="rect">
            <a:avLst/>
          </a:prstGeom>
          <a:noFill/>
        </p:spPr>
        <p:txBody>
          <a:bodyPr wrap="square" rtlCol="0">
            <a:spAutoFit/>
          </a:bodyPr>
          <a:lstStyle/>
          <a:p>
            <a:r>
              <a:rPr lang="zh-CN" altLang="en-US" sz="1400" b="1" dirty="0">
                <a:latin typeface="+mn-ea"/>
                <a:cs typeface="Times New Roman" panose="02020603050405020304" pitchFamily="18" charset="0"/>
              </a:rPr>
              <a:t>自</a:t>
            </a:r>
            <a:r>
              <a:rPr lang="en-US" altLang="zh-CN" sz="1400" b="1" dirty="0">
                <a:latin typeface="+mn-ea"/>
                <a:cs typeface="Times New Roman" panose="02020603050405020304" pitchFamily="18" charset="0"/>
              </a:rPr>
              <a:t>2018</a:t>
            </a:r>
            <a:r>
              <a:rPr lang="zh-CN" altLang="en-US" sz="1400" b="1" dirty="0">
                <a:latin typeface="+mn-ea"/>
                <a:cs typeface="Times New Roman" panose="02020603050405020304" pitchFamily="18" charset="0"/>
              </a:rPr>
              <a:t>年</a:t>
            </a:r>
            <a:r>
              <a:rPr lang="en-US" altLang="zh-CN" sz="1400" b="1" dirty="0">
                <a:latin typeface="+mn-ea"/>
                <a:cs typeface="Times New Roman" panose="02020603050405020304" pitchFamily="18" charset="0"/>
              </a:rPr>
              <a:t>“</a:t>
            </a:r>
            <a:r>
              <a:rPr lang="zh-CN" altLang="en-US" sz="1400" b="1" dirty="0">
                <a:latin typeface="+mn-ea"/>
                <a:cs typeface="Times New Roman" panose="02020603050405020304" pitchFamily="18" charset="0"/>
              </a:rPr>
              <a:t>禁废令</a:t>
            </a:r>
            <a:r>
              <a:rPr lang="en-US" altLang="zh-CN" sz="1400" b="1" dirty="0">
                <a:latin typeface="+mn-ea"/>
                <a:cs typeface="Times New Roman" panose="02020603050405020304" pitchFamily="18" charset="0"/>
              </a:rPr>
              <a:t>”</a:t>
            </a:r>
            <a:r>
              <a:rPr lang="zh-CN" altLang="en-US" sz="1400" b="1" dirty="0">
                <a:latin typeface="+mn-ea"/>
                <a:cs typeface="Times New Roman" panose="02020603050405020304" pitchFamily="18" charset="0"/>
              </a:rPr>
              <a:t>实施以来，我国废纸纤维原料存在大量缺口，国内造纸企业陆续在海外投资建设再生纸浆生产线，将外国废纸加工成再生纸浆作为替代品</a:t>
            </a:r>
            <a:r>
              <a:rPr lang="en-US" altLang="zh-CN" sz="1400" b="1" baseline="30000" dirty="0">
                <a:latin typeface="+mn-ea"/>
                <a:cs typeface="Times New Roman" panose="02020603050405020304" pitchFamily="18" charset="0"/>
              </a:rPr>
              <a:t>[1]</a:t>
            </a:r>
            <a:r>
              <a:rPr lang="zh-CN" altLang="en-US" sz="1400" b="1" dirty="0">
                <a:latin typeface="+mn-ea"/>
                <a:cs typeface="Times New Roman" panose="02020603050405020304" pitchFamily="18" charset="0"/>
              </a:rPr>
              <a:t>。</a:t>
            </a:r>
            <a:endParaRPr lang="zh-CN" altLang="en-US" sz="1400" b="1" dirty="0">
              <a:latin typeface="+mn-ea"/>
              <a:cs typeface="Times New Roman" panose="02020603050405020304" pitchFamily="18" charset="0"/>
            </a:endParaRPr>
          </a:p>
        </p:txBody>
      </p:sp>
      <p:sp>
        <p:nvSpPr>
          <p:cNvPr id="28" name="文本框 27"/>
          <p:cNvSpPr txBox="1"/>
          <p:nvPr/>
        </p:nvSpPr>
        <p:spPr>
          <a:xfrm>
            <a:off x="-78740" y="6247431"/>
            <a:ext cx="8573278" cy="645160"/>
          </a:xfrm>
          <a:prstGeom prst="rect">
            <a:avLst/>
          </a:prstGeom>
          <a:noFill/>
        </p:spPr>
        <p:txBody>
          <a:bodyPr wrap="square">
            <a:spAutoFit/>
          </a:bodyPr>
          <a:lstStyle/>
          <a:p>
            <a:r>
              <a:rPr lang="en-US" altLang="zh-CN" sz="1200" kern="0" dirty="0">
                <a:solidFill>
                  <a:srgbClr val="000000"/>
                </a:solidFill>
                <a:effectLst/>
                <a:latin typeface="+mn-ea"/>
              </a:rPr>
              <a:t>[1] </a:t>
            </a:r>
            <a:r>
              <a:rPr lang="zh-CN" altLang="en-US" sz="1200" kern="0" dirty="0">
                <a:solidFill>
                  <a:srgbClr val="000000"/>
                </a:solidFill>
                <a:effectLst/>
                <a:latin typeface="+mn-ea"/>
              </a:rPr>
              <a:t>万金泉</a:t>
            </a:r>
            <a:r>
              <a:rPr lang="en-US" altLang="zh-CN" sz="1200" kern="0" dirty="0">
                <a:solidFill>
                  <a:srgbClr val="000000"/>
                </a:solidFill>
                <a:effectLst/>
                <a:latin typeface="+mn-ea"/>
              </a:rPr>
              <a:t>. </a:t>
            </a:r>
            <a:r>
              <a:rPr lang="zh-CN" altLang="en-US" sz="1200" kern="0" dirty="0">
                <a:solidFill>
                  <a:srgbClr val="000000"/>
                </a:solidFill>
                <a:effectLst/>
                <a:latin typeface="+mn-ea"/>
              </a:rPr>
              <a:t>以创新发展构建我国再生纤维高质量利用的新格局</a:t>
            </a:r>
            <a:r>
              <a:rPr lang="en-US" altLang="zh-CN" sz="1200" kern="0" dirty="0">
                <a:solidFill>
                  <a:srgbClr val="000000"/>
                </a:solidFill>
                <a:effectLst/>
                <a:latin typeface="+mn-ea"/>
              </a:rPr>
              <a:t>[J]. </a:t>
            </a:r>
            <a:r>
              <a:rPr lang="zh-CN" altLang="en-US" sz="1200" kern="0" dirty="0">
                <a:solidFill>
                  <a:srgbClr val="000000"/>
                </a:solidFill>
                <a:effectLst/>
                <a:latin typeface="+mn-ea"/>
              </a:rPr>
              <a:t>中国造纸，</a:t>
            </a:r>
            <a:r>
              <a:rPr lang="en-US" altLang="zh-CN" sz="1200" kern="0" dirty="0">
                <a:solidFill>
                  <a:srgbClr val="000000"/>
                </a:solidFill>
                <a:effectLst/>
                <a:latin typeface="+mn-ea"/>
              </a:rPr>
              <a:t>2021</a:t>
            </a:r>
            <a:endParaRPr lang="en-US" altLang="zh-CN" sz="1200" kern="0" dirty="0">
              <a:solidFill>
                <a:srgbClr val="000000"/>
              </a:solidFill>
              <a:effectLst/>
              <a:latin typeface="+mn-ea"/>
            </a:endParaRPr>
          </a:p>
          <a:p>
            <a:r>
              <a:rPr lang="en-US" altLang="zh-CN" sz="1200" kern="0" dirty="0">
                <a:solidFill>
                  <a:srgbClr val="000000"/>
                </a:solidFill>
                <a:effectLst/>
                <a:latin typeface="+mn-ea"/>
              </a:rPr>
              <a:t>[2] </a:t>
            </a:r>
            <a:r>
              <a:rPr lang="zh-CN" altLang="en-US" sz="1200" kern="0" dirty="0">
                <a:solidFill>
                  <a:srgbClr val="000000"/>
                </a:solidFill>
                <a:effectLst/>
                <a:latin typeface="+mn-ea"/>
              </a:rPr>
              <a:t>中国造纸工业</a:t>
            </a:r>
            <a:r>
              <a:rPr lang="en-US" altLang="zh-CN" sz="1200" kern="0" dirty="0">
                <a:solidFill>
                  <a:srgbClr val="000000"/>
                </a:solidFill>
                <a:effectLst/>
                <a:latin typeface="+mn-ea"/>
              </a:rPr>
              <a:t>2023</a:t>
            </a:r>
            <a:r>
              <a:rPr lang="zh-CN" altLang="en-US" sz="1200" kern="0" dirty="0">
                <a:solidFill>
                  <a:srgbClr val="000000"/>
                </a:solidFill>
                <a:effectLst/>
                <a:latin typeface="+mn-ea"/>
              </a:rPr>
              <a:t>年度报告，中国造纸协会</a:t>
            </a:r>
            <a:endParaRPr lang="zh-CN" altLang="en-US" sz="1200" kern="0" dirty="0">
              <a:solidFill>
                <a:srgbClr val="000000"/>
              </a:solidFill>
              <a:effectLst/>
              <a:latin typeface="+mn-ea"/>
            </a:endParaRPr>
          </a:p>
          <a:p>
            <a:endParaRPr lang="en-US" altLang="zh-CN" sz="1200" kern="0" dirty="0">
              <a:solidFill>
                <a:srgbClr val="000000"/>
              </a:solidFill>
              <a:effectLst/>
              <a:latin typeface="+mn-ea"/>
            </a:endParaRPr>
          </a:p>
        </p:txBody>
      </p:sp>
      <p:sp>
        <p:nvSpPr>
          <p:cNvPr id="39" name="矩形: 圆角 38"/>
          <p:cNvSpPr/>
          <p:nvPr>
            <p:custDataLst>
              <p:tags r:id="rId3"/>
            </p:custDataLst>
          </p:nvPr>
        </p:nvSpPr>
        <p:spPr>
          <a:xfrm>
            <a:off x="173990" y="710565"/>
            <a:ext cx="5831205" cy="5342255"/>
          </a:xfrm>
          <a:prstGeom prst="round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9" name="文本框 8"/>
          <p:cNvSpPr txBox="1"/>
          <p:nvPr>
            <p:custDataLst>
              <p:tags r:id="rId4"/>
            </p:custDataLst>
          </p:nvPr>
        </p:nvSpPr>
        <p:spPr>
          <a:xfrm>
            <a:off x="197777" y="578165"/>
            <a:ext cx="2069925" cy="337185"/>
          </a:xfrm>
          <a:prstGeom prst="rect">
            <a:avLst/>
          </a:prstGeom>
          <a:solidFill>
            <a:srgbClr val="C55A11"/>
          </a:solidFill>
        </p:spPr>
        <p:txBody>
          <a:bodyPr wrap="square" rtlCol="0">
            <a:spAutoFit/>
          </a:bodyPr>
          <a:lstStyle/>
          <a:p>
            <a:pPr algn="ctr"/>
            <a:r>
              <a:rPr lang="zh-CN" altLang="en-US" sz="1600" b="1" dirty="0">
                <a:solidFill>
                  <a:srgbClr val="FFFFFF"/>
                </a:solidFill>
                <a:latin typeface="+mn-ea"/>
              </a:rPr>
              <a:t>废纸纤维</a:t>
            </a:r>
            <a:r>
              <a:rPr lang="zh-CN" altLang="en-US" sz="1600" b="1" dirty="0">
                <a:solidFill>
                  <a:srgbClr val="FFFFFF"/>
                </a:solidFill>
                <a:latin typeface="+mn-ea"/>
              </a:rPr>
              <a:t>存在缺口</a:t>
            </a:r>
            <a:endParaRPr lang="zh-CN" altLang="en-US" sz="1600" b="1" dirty="0">
              <a:solidFill>
                <a:srgbClr val="FFFFFF"/>
              </a:solidFill>
              <a:latin typeface="+mn-ea"/>
            </a:endParaRPr>
          </a:p>
        </p:txBody>
      </p:sp>
      <p:sp>
        <p:nvSpPr>
          <p:cNvPr id="13" name="文本框 12"/>
          <p:cNvSpPr txBox="1"/>
          <p:nvPr>
            <p:custDataLst>
              <p:tags r:id="rId5"/>
            </p:custDataLst>
          </p:nvPr>
        </p:nvSpPr>
        <p:spPr>
          <a:xfrm>
            <a:off x="7913370" y="4901565"/>
            <a:ext cx="2901950" cy="306705"/>
          </a:xfrm>
          <a:prstGeom prst="rect">
            <a:avLst/>
          </a:prstGeom>
          <a:noFill/>
        </p:spPr>
        <p:txBody>
          <a:bodyPr wrap="square" rtlCol="0">
            <a:spAutoFit/>
          </a:bodyPr>
          <a:p>
            <a:r>
              <a:rPr lang="en-US" altLang="zh-CN" sz="1400" dirty="0">
                <a:latin typeface="+mn-ea"/>
                <a:cs typeface="Times New Roman" panose="02020603050405020304" pitchFamily="18" charset="0"/>
              </a:rPr>
              <a:t>2014—2023</a:t>
            </a:r>
            <a:r>
              <a:rPr lang="zh-CN" altLang="en-US" sz="1400" dirty="0">
                <a:latin typeface="+mn-ea"/>
                <a:cs typeface="Times New Roman" panose="02020603050405020304" pitchFamily="18" charset="0"/>
              </a:rPr>
              <a:t>年国内纸浆利用情况</a:t>
            </a:r>
            <a:r>
              <a:rPr lang="en-US" altLang="zh-CN" sz="1200" baseline="30000" dirty="0">
                <a:latin typeface="+mn-ea"/>
                <a:cs typeface="Times New Roman" panose="02020603050405020304" pitchFamily="18" charset="0"/>
              </a:rPr>
              <a:t>[2]</a:t>
            </a:r>
            <a:endParaRPr lang="zh-CN" altLang="en-US" sz="1200" baseline="30000" dirty="0">
              <a:latin typeface="+mn-ea"/>
              <a:cs typeface="Times New Roman" panose="02020603050405020304" pitchFamily="18" charset="0"/>
            </a:endParaRPr>
          </a:p>
        </p:txBody>
      </p:sp>
      <p:sp>
        <p:nvSpPr>
          <p:cNvPr id="15" name="文本框 14"/>
          <p:cNvSpPr txBox="1"/>
          <p:nvPr>
            <p:custDataLst>
              <p:tags r:id="rId6"/>
            </p:custDataLst>
          </p:nvPr>
        </p:nvSpPr>
        <p:spPr>
          <a:xfrm>
            <a:off x="6646894" y="5235823"/>
            <a:ext cx="5433976" cy="737235"/>
          </a:xfrm>
          <a:prstGeom prst="rect">
            <a:avLst/>
          </a:prstGeom>
          <a:noFill/>
        </p:spPr>
        <p:txBody>
          <a:bodyPr wrap="square" rtlCol="0">
            <a:spAutoFit/>
          </a:bodyPr>
          <a:p>
            <a:r>
              <a:rPr lang="en-US" altLang="zh-CN" sz="1400" b="1" dirty="0">
                <a:latin typeface="+mn-ea"/>
                <a:cs typeface="Times New Roman" panose="02020603050405020304" pitchFamily="18" charset="0"/>
              </a:rPr>
              <a:t>2023</a:t>
            </a:r>
            <a:r>
              <a:rPr lang="zh-CN" altLang="en-US" sz="1400" b="1" dirty="0">
                <a:latin typeface="+mn-ea"/>
                <a:cs typeface="Times New Roman" panose="02020603050405020304" pitchFamily="18" charset="0"/>
              </a:rPr>
              <a:t>年我国纸浆消耗量</a:t>
            </a:r>
            <a:r>
              <a:rPr lang="en-US" altLang="zh-CN" sz="1400" b="1" dirty="0">
                <a:latin typeface="+mn-ea"/>
                <a:cs typeface="Times New Roman" panose="02020603050405020304" pitchFamily="18" charset="0"/>
              </a:rPr>
              <a:t>8726</a:t>
            </a:r>
            <a:r>
              <a:rPr lang="zh-CN" altLang="en-US" sz="1400" b="1" dirty="0">
                <a:latin typeface="+mn-ea"/>
                <a:cs typeface="Times New Roman" panose="02020603050405020304" pitchFamily="18" charset="0"/>
              </a:rPr>
              <a:t>万吨，其中再生纸浆</a:t>
            </a:r>
            <a:r>
              <a:rPr lang="en-US" altLang="zh-CN" sz="1400" b="1" dirty="0">
                <a:latin typeface="+mn-ea"/>
                <a:cs typeface="Times New Roman" panose="02020603050405020304" pitchFamily="18" charset="0"/>
              </a:rPr>
              <a:t>5946</a:t>
            </a:r>
            <a:r>
              <a:rPr lang="zh-CN" altLang="en-US" sz="1400" b="1" dirty="0">
                <a:latin typeface="+mn-ea"/>
                <a:cs typeface="Times New Roman" panose="02020603050405020304" pitchFamily="18" charset="0"/>
              </a:rPr>
              <a:t>万吨，占纸浆消耗总量</a:t>
            </a:r>
            <a:r>
              <a:rPr lang="en-US" altLang="zh-CN" sz="1400" b="1" dirty="0">
                <a:latin typeface="+mn-ea"/>
                <a:cs typeface="Times New Roman" panose="02020603050405020304" pitchFamily="18" charset="0"/>
              </a:rPr>
              <a:t>68%</a:t>
            </a:r>
            <a:r>
              <a:rPr lang="zh-CN" altLang="en-US" sz="1400" b="1" dirty="0">
                <a:latin typeface="+mn-ea"/>
                <a:cs typeface="Times New Roman" panose="02020603050405020304" pitchFamily="18" charset="0"/>
              </a:rPr>
              <a:t>，由此可见再生纸浆的规模化应用成为禁废令</a:t>
            </a:r>
            <a:r>
              <a:rPr lang="en-US" altLang="zh-CN" sz="1400" b="1" dirty="0">
                <a:latin typeface="+mn-ea"/>
                <a:cs typeface="Times New Roman" panose="02020603050405020304" pitchFamily="18" charset="0"/>
              </a:rPr>
              <a:t>”</a:t>
            </a:r>
            <a:r>
              <a:rPr lang="zh-CN" altLang="en-US" sz="1400" b="1" dirty="0">
                <a:latin typeface="+mn-ea"/>
                <a:cs typeface="Times New Roman" panose="02020603050405020304" pitchFamily="18" charset="0"/>
              </a:rPr>
              <a:t>政策下造纸行业的必然选择。</a:t>
            </a:r>
            <a:endParaRPr lang="zh-CN" altLang="en-US" sz="1400" b="1" dirty="0">
              <a:latin typeface="+mn-ea"/>
              <a:cs typeface="Times New Roman" panose="02020603050405020304" pitchFamily="18" charset="0"/>
            </a:endParaRPr>
          </a:p>
        </p:txBody>
      </p:sp>
      <p:sp>
        <p:nvSpPr>
          <p:cNvPr id="16" name="矩形: 圆角 38"/>
          <p:cNvSpPr/>
          <p:nvPr>
            <p:custDataLst>
              <p:tags r:id="rId7"/>
            </p:custDataLst>
          </p:nvPr>
        </p:nvSpPr>
        <p:spPr>
          <a:xfrm>
            <a:off x="6294755" y="685800"/>
            <a:ext cx="5786120" cy="5342255"/>
          </a:xfrm>
          <a:prstGeom prst="round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8" name="文本框 17"/>
          <p:cNvSpPr txBox="1"/>
          <p:nvPr>
            <p:custDataLst>
              <p:tags r:id="rId8"/>
            </p:custDataLst>
          </p:nvPr>
        </p:nvSpPr>
        <p:spPr>
          <a:xfrm>
            <a:off x="6361722" y="553400"/>
            <a:ext cx="2069925" cy="337185"/>
          </a:xfrm>
          <a:prstGeom prst="rect">
            <a:avLst/>
          </a:prstGeom>
          <a:solidFill>
            <a:srgbClr val="C55A11"/>
          </a:solidFill>
        </p:spPr>
        <p:txBody>
          <a:bodyPr wrap="square" rtlCol="0">
            <a:spAutoFit/>
          </a:bodyPr>
          <a:p>
            <a:pPr algn="ctr"/>
            <a:r>
              <a:rPr lang="zh-CN" altLang="en-US" sz="1600" b="1" dirty="0">
                <a:solidFill>
                  <a:srgbClr val="FFFFFF"/>
                </a:solidFill>
                <a:latin typeface="+mn-ea"/>
              </a:rPr>
              <a:t>再生纸浆的</a:t>
            </a:r>
            <a:r>
              <a:rPr lang="zh-CN" altLang="en-US" sz="1600" b="1" dirty="0">
                <a:solidFill>
                  <a:srgbClr val="FFFFFF"/>
                </a:solidFill>
                <a:latin typeface="+mn-ea"/>
              </a:rPr>
              <a:t>地位</a:t>
            </a:r>
            <a:endParaRPr lang="zh-CN" altLang="en-US" sz="1600" b="1" dirty="0">
              <a:solidFill>
                <a:srgbClr val="FFFFFF"/>
              </a:solidFill>
              <a:latin typeface="+mn-ea"/>
            </a:endParaRPr>
          </a:p>
        </p:txBody>
      </p:sp>
      <p:pic>
        <p:nvPicPr>
          <p:cNvPr id="21" name="图片 20" descr="E:/11AA研究生学习/中期/图一纸浆利用情况.png图一纸浆利用情况"/>
          <p:cNvPicPr>
            <a:picLocks noChangeAspect="1"/>
          </p:cNvPicPr>
          <p:nvPr>
            <p:custDataLst>
              <p:tags r:id="rId9"/>
            </p:custDataLst>
          </p:nvPr>
        </p:nvPicPr>
        <p:blipFill>
          <a:blip r:embed="rId10"/>
          <a:srcRect l="3292" r="1384"/>
          <a:stretch>
            <a:fillRect/>
          </a:stretch>
        </p:blipFill>
        <p:spPr>
          <a:xfrm>
            <a:off x="6557010" y="962025"/>
            <a:ext cx="5168900" cy="3964305"/>
          </a:xfrm>
          <a:prstGeom prst="rect">
            <a:avLst/>
          </a:prstGeom>
        </p:spPr>
      </p:pic>
      <p:pic>
        <p:nvPicPr>
          <p:cNvPr id="22" name="图片 21" descr="海外投资建厂"/>
          <p:cNvPicPr>
            <a:picLocks noChangeAspect="1"/>
          </p:cNvPicPr>
          <p:nvPr>
            <p:custDataLst>
              <p:tags r:id="rId11"/>
            </p:custDataLst>
          </p:nvPr>
        </p:nvPicPr>
        <p:blipFill>
          <a:blip r:embed="rId12"/>
          <a:stretch>
            <a:fillRect/>
          </a:stretch>
        </p:blipFill>
        <p:spPr>
          <a:xfrm>
            <a:off x="483870" y="1275715"/>
            <a:ext cx="5200015" cy="3459480"/>
          </a:xfrm>
          <a:prstGeom prst="rect">
            <a:avLst/>
          </a:prstGeom>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2467"/>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296092" y="-1075"/>
            <a:ext cx="5257199" cy="46166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1.1 </a:t>
            </a:r>
            <a:r>
              <a:rPr lang="zh-CN" altLang="en-US" sz="2400" b="1" dirty="0">
                <a:solidFill>
                  <a:schemeClr val="tx1">
                    <a:lumMod val="65000"/>
                    <a:lumOff val="35000"/>
                  </a:schemeClr>
                </a:solidFill>
                <a:latin typeface="+mn-ea"/>
              </a:rPr>
              <a:t>课题研究背景</a:t>
            </a:r>
            <a:endParaRPr lang="zh-CN" altLang="en-US" sz="2400" b="1" dirty="0">
              <a:solidFill>
                <a:schemeClr val="tx1">
                  <a:lumMod val="65000"/>
                  <a:lumOff val="35000"/>
                </a:schemeClr>
              </a:solidFill>
              <a:latin typeface="+mn-ea"/>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20" name="文本框 19"/>
          <p:cNvSpPr txBox="1"/>
          <p:nvPr>
            <p:custDataLst>
              <p:tags r:id="rId1"/>
            </p:custDataLst>
          </p:nvPr>
        </p:nvSpPr>
        <p:spPr>
          <a:xfrm>
            <a:off x="6549104" y="5204073"/>
            <a:ext cx="5433976" cy="737235"/>
          </a:xfrm>
          <a:prstGeom prst="rect">
            <a:avLst/>
          </a:prstGeom>
          <a:noFill/>
        </p:spPr>
        <p:txBody>
          <a:bodyPr wrap="square" rtlCol="0">
            <a:spAutoFit/>
          </a:bodyPr>
          <a:lstStyle/>
          <a:p>
            <a:r>
              <a:rPr lang="en-US" altLang="zh-CN" sz="1400" b="1" dirty="0">
                <a:latin typeface="+mn-ea"/>
                <a:cs typeface="Times New Roman" panose="02020603050405020304" pitchFamily="18" charset="0"/>
              </a:rPr>
              <a:t>2023</a:t>
            </a:r>
            <a:r>
              <a:rPr lang="zh-CN" altLang="en-US" sz="1400" b="1" dirty="0">
                <a:latin typeface="+mn-ea"/>
                <a:cs typeface="Times New Roman" panose="02020603050405020304" pitchFamily="18" charset="0"/>
              </a:rPr>
              <a:t>年</a:t>
            </a:r>
            <a:r>
              <a:rPr lang="en-US" altLang="zh-CN" sz="1400" b="1" dirty="0">
                <a:latin typeface="+mn-ea"/>
                <a:cs typeface="Times New Roman" panose="02020603050405020304" pitchFamily="18" charset="0"/>
              </a:rPr>
              <a:t>9</a:t>
            </a:r>
            <a:r>
              <a:rPr lang="zh-CN" altLang="en-US" sz="1400" b="1" dirty="0">
                <a:latin typeface="+mn-ea"/>
                <a:cs typeface="Times New Roman" panose="02020603050405020304" pitchFamily="18" charset="0"/>
              </a:rPr>
              <a:t>月</a:t>
            </a:r>
            <a:r>
              <a:rPr lang="en-US" altLang="zh-CN" sz="1400" b="1" dirty="0">
                <a:latin typeface="+mn-ea"/>
                <a:cs typeface="Times New Roman" panose="02020603050405020304" pitchFamily="18" charset="0"/>
              </a:rPr>
              <a:t>11</a:t>
            </a:r>
            <a:r>
              <a:rPr lang="zh-CN" altLang="en-US" sz="1400" b="1" dirty="0">
                <a:latin typeface="+mn-ea"/>
                <a:cs typeface="Times New Roman" panose="02020603050405020304" pitchFamily="18" charset="0"/>
              </a:rPr>
              <a:t>日，习近平总书记给红其拉甫海关全体关员回信强调：</a:t>
            </a:r>
            <a:r>
              <a:rPr lang="en-US" altLang="zh-CN" sz="1400" b="1" dirty="0">
                <a:latin typeface="+mn-ea"/>
                <a:cs typeface="Times New Roman" panose="02020603050405020304" pitchFamily="18" charset="0"/>
              </a:rPr>
              <a:t>“</a:t>
            </a:r>
            <a:r>
              <a:rPr lang="zh-CN" altLang="en-US" sz="1400" b="1" dirty="0">
                <a:latin typeface="+mn-ea"/>
                <a:cs typeface="Times New Roman" panose="02020603050405020304" pitchFamily="18" charset="0"/>
              </a:rPr>
              <a:t>海关担负着守国门、促发展的职责使命，</a:t>
            </a:r>
            <a:r>
              <a:rPr lang="zh-CN" altLang="en-US" sz="1400" b="1" dirty="0">
                <a:latin typeface="+mn-ea"/>
                <a:cs typeface="Times New Roman" panose="02020603050405020304" pitchFamily="18" charset="0"/>
              </a:rPr>
              <a:t>以智慧海关建设、</a:t>
            </a:r>
            <a:r>
              <a:rPr lang="en-US" altLang="zh-CN" sz="1400" b="1" dirty="0">
                <a:latin typeface="+mn-ea"/>
                <a:cs typeface="Times New Roman" panose="02020603050405020304" pitchFamily="18" charset="0"/>
              </a:rPr>
              <a:t>“</a:t>
            </a:r>
            <a:r>
              <a:rPr lang="zh-CN" altLang="en-US" sz="1400" b="1" dirty="0">
                <a:latin typeface="+mn-ea"/>
                <a:cs typeface="Times New Roman" panose="02020603050405020304" pitchFamily="18" charset="0"/>
              </a:rPr>
              <a:t>智关强国</a:t>
            </a:r>
            <a:r>
              <a:rPr lang="en-US" altLang="zh-CN" sz="1400" b="1" dirty="0">
                <a:latin typeface="+mn-ea"/>
                <a:cs typeface="Times New Roman" panose="02020603050405020304" pitchFamily="18" charset="0"/>
              </a:rPr>
              <a:t>”</a:t>
            </a:r>
            <a:r>
              <a:rPr lang="zh-CN" altLang="en-US" sz="1400" b="1" dirty="0">
                <a:latin typeface="+mn-ea"/>
                <a:cs typeface="Times New Roman" panose="02020603050405020304" pitchFamily="18" charset="0"/>
              </a:rPr>
              <a:t>行动为总抓手，为中国式现代化贡献海关力量。</a:t>
            </a:r>
            <a:endParaRPr lang="zh-CN" altLang="en-US" sz="1400" b="1" dirty="0">
              <a:latin typeface="+mn-ea"/>
              <a:cs typeface="Times New Roman" panose="02020603050405020304" pitchFamily="18" charset="0"/>
            </a:endParaRPr>
          </a:p>
        </p:txBody>
      </p:sp>
      <p:sp>
        <p:nvSpPr>
          <p:cNvPr id="39" name="矩形: 圆角 38"/>
          <p:cNvSpPr/>
          <p:nvPr>
            <p:custDataLst>
              <p:tags r:id="rId2"/>
            </p:custDataLst>
          </p:nvPr>
        </p:nvSpPr>
        <p:spPr>
          <a:xfrm>
            <a:off x="6239510" y="710565"/>
            <a:ext cx="5831205" cy="5342255"/>
          </a:xfrm>
          <a:prstGeom prst="round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9" name="文本框 8"/>
          <p:cNvSpPr txBox="1"/>
          <p:nvPr>
            <p:custDataLst>
              <p:tags r:id="rId3"/>
            </p:custDataLst>
          </p:nvPr>
        </p:nvSpPr>
        <p:spPr>
          <a:xfrm>
            <a:off x="6263005" y="577850"/>
            <a:ext cx="1595120" cy="337185"/>
          </a:xfrm>
          <a:prstGeom prst="rect">
            <a:avLst/>
          </a:prstGeom>
          <a:solidFill>
            <a:srgbClr val="C55A11"/>
          </a:solidFill>
        </p:spPr>
        <p:txBody>
          <a:bodyPr wrap="square" rtlCol="0">
            <a:spAutoFit/>
          </a:bodyPr>
          <a:lstStyle/>
          <a:p>
            <a:pPr algn="ctr"/>
            <a:r>
              <a:rPr lang="zh-CN" altLang="en-US" sz="1600" b="1" dirty="0">
                <a:solidFill>
                  <a:schemeClr val="bg1"/>
                </a:solidFill>
                <a:latin typeface="+mn-ea"/>
              </a:rPr>
              <a:t>智关</a:t>
            </a:r>
            <a:r>
              <a:rPr lang="zh-CN" altLang="en-US" sz="1600" b="1" dirty="0">
                <a:solidFill>
                  <a:schemeClr val="bg1"/>
                </a:solidFill>
                <a:latin typeface="+mn-ea"/>
              </a:rPr>
              <a:t>强国</a:t>
            </a:r>
            <a:endParaRPr lang="zh-CN" altLang="en-US" sz="1600" b="1" dirty="0">
              <a:solidFill>
                <a:schemeClr val="bg1"/>
              </a:solidFill>
              <a:latin typeface="+mn-ea"/>
            </a:endParaRPr>
          </a:p>
        </p:txBody>
      </p:sp>
      <p:pic>
        <p:nvPicPr>
          <p:cNvPr id="11" name="图片 10"/>
          <p:cNvPicPr/>
          <p:nvPr/>
        </p:nvPicPr>
        <p:blipFill>
          <a:blip r:embed="rId4"/>
          <a:stretch>
            <a:fillRect/>
          </a:stretch>
        </p:blipFill>
        <p:spPr>
          <a:xfrm>
            <a:off x="7857490" y="813435"/>
            <a:ext cx="2962910" cy="4124960"/>
          </a:xfrm>
          <a:prstGeom prst="rect">
            <a:avLst/>
          </a:prstGeom>
        </p:spPr>
      </p:pic>
      <p:sp>
        <p:nvSpPr>
          <p:cNvPr id="17" name="文本框 16"/>
          <p:cNvSpPr txBox="1"/>
          <p:nvPr>
            <p:custDataLst>
              <p:tags r:id="rId5"/>
            </p:custDataLst>
          </p:nvPr>
        </p:nvSpPr>
        <p:spPr>
          <a:xfrm>
            <a:off x="1946275" y="4855845"/>
            <a:ext cx="2901950" cy="306705"/>
          </a:xfrm>
          <a:prstGeom prst="rect">
            <a:avLst/>
          </a:prstGeom>
          <a:noFill/>
        </p:spPr>
        <p:txBody>
          <a:bodyPr wrap="square" rtlCol="0">
            <a:spAutoFit/>
          </a:bodyPr>
          <a:p>
            <a:r>
              <a:rPr lang="en-US" altLang="zh-CN" sz="1400" dirty="0">
                <a:latin typeface="+mn-ea"/>
                <a:cs typeface="Times New Roman" panose="02020603050405020304" pitchFamily="18" charset="0"/>
              </a:rPr>
              <a:t>GB/T 43393 - 2023 </a:t>
            </a:r>
            <a:r>
              <a:rPr lang="zh-CN" altLang="en-US" sz="1400" dirty="0">
                <a:latin typeface="+mn-ea"/>
                <a:cs typeface="Times New Roman" panose="02020603050405020304" pitchFamily="18" charset="0"/>
              </a:rPr>
              <a:t>再生纸浆</a:t>
            </a:r>
            <a:endParaRPr lang="zh-CN" altLang="en-US" sz="1200" baseline="30000" dirty="0">
              <a:latin typeface="+mn-ea"/>
              <a:cs typeface="Times New Roman" panose="02020603050405020304" pitchFamily="18" charset="0"/>
            </a:endParaRPr>
          </a:p>
        </p:txBody>
      </p:sp>
      <p:sp>
        <p:nvSpPr>
          <p:cNvPr id="19" name="文本框 18"/>
          <p:cNvSpPr txBox="1"/>
          <p:nvPr>
            <p:custDataLst>
              <p:tags r:id="rId6"/>
            </p:custDataLst>
          </p:nvPr>
        </p:nvSpPr>
        <p:spPr>
          <a:xfrm>
            <a:off x="593439" y="5194548"/>
            <a:ext cx="5433976" cy="737235"/>
          </a:xfrm>
          <a:prstGeom prst="rect">
            <a:avLst/>
          </a:prstGeom>
          <a:noFill/>
        </p:spPr>
        <p:txBody>
          <a:bodyPr wrap="square" rtlCol="0">
            <a:spAutoFit/>
          </a:bodyPr>
          <a:p>
            <a:r>
              <a:rPr lang="zh-CN" altLang="en-US" sz="1400" b="1" dirty="0">
                <a:latin typeface="+mn-ea"/>
                <a:cs typeface="Times New Roman" panose="02020603050405020304" pitchFamily="18" charset="0"/>
              </a:rPr>
              <a:t>现有再生纸浆国标主要基于成纸物理强度设定静态质量阈值进行质量评判，检测方法耗费大量时间，缺少对再生纸浆</a:t>
            </a:r>
            <a:r>
              <a:rPr lang="zh-CN" altLang="en-US" sz="1400" b="1" dirty="0">
                <a:latin typeface="+mn-ea"/>
                <a:cs typeface="Times New Roman" panose="02020603050405020304" pitchFamily="18" charset="0"/>
              </a:rPr>
              <a:t>直观的可利用程度判断方案。</a:t>
            </a:r>
            <a:endParaRPr lang="zh-CN" altLang="en-US" sz="1400" b="1" dirty="0">
              <a:latin typeface="+mn-ea"/>
              <a:cs typeface="Times New Roman" panose="02020603050405020304" pitchFamily="18" charset="0"/>
            </a:endParaRPr>
          </a:p>
        </p:txBody>
      </p:sp>
      <p:sp>
        <p:nvSpPr>
          <p:cNvPr id="21" name="矩形: 圆角 38"/>
          <p:cNvSpPr/>
          <p:nvPr>
            <p:custDataLst>
              <p:tags r:id="rId7"/>
            </p:custDataLst>
          </p:nvPr>
        </p:nvSpPr>
        <p:spPr>
          <a:xfrm>
            <a:off x="241300" y="644525"/>
            <a:ext cx="5786120" cy="5342255"/>
          </a:xfrm>
          <a:prstGeom prst="round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2" name="文本框 21"/>
          <p:cNvSpPr txBox="1"/>
          <p:nvPr>
            <p:custDataLst>
              <p:tags r:id="rId8"/>
            </p:custDataLst>
          </p:nvPr>
        </p:nvSpPr>
        <p:spPr>
          <a:xfrm>
            <a:off x="307975" y="511810"/>
            <a:ext cx="2510790" cy="337185"/>
          </a:xfrm>
          <a:prstGeom prst="rect">
            <a:avLst/>
          </a:prstGeom>
          <a:solidFill>
            <a:srgbClr val="C55A11"/>
          </a:solidFill>
        </p:spPr>
        <p:txBody>
          <a:bodyPr wrap="square" rtlCol="0">
            <a:spAutoFit/>
          </a:bodyPr>
          <a:p>
            <a:pPr algn="ctr"/>
            <a:r>
              <a:rPr lang="zh-CN" altLang="en-US" sz="1600" b="1" dirty="0">
                <a:solidFill>
                  <a:srgbClr val="FFFFFF"/>
                </a:solidFill>
                <a:latin typeface="+mn-ea"/>
              </a:rPr>
              <a:t>再生纸浆检测存在</a:t>
            </a:r>
            <a:r>
              <a:rPr lang="zh-CN" altLang="en-US" sz="1600" b="1" dirty="0">
                <a:solidFill>
                  <a:srgbClr val="FFFFFF"/>
                </a:solidFill>
                <a:latin typeface="+mn-ea"/>
              </a:rPr>
              <a:t>的问题</a:t>
            </a:r>
            <a:endParaRPr lang="zh-CN" altLang="en-US" sz="1600" b="1" dirty="0">
              <a:solidFill>
                <a:srgbClr val="FFFFFF"/>
              </a:solidFill>
              <a:latin typeface="+mn-ea"/>
            </a:endParaRPr>
          </a:p>
        </p:txBody>
      </p:sp>
      <p:pic>
        <p:nvPicPr>
          <p:cNvPr id="23" name="图片 22" descr="再生纸浆标准"/>
          <p:cNvPicPr>
            <a:picLocks noChangeAspect="1"/>
          </p:cNvPicPr>
          <p:nvPr>
            <p:custDataLst>
              <p:tags r:id="rId9"/>
            </p:custDataLst>
          </p:nvPr>
        </p:nvPicPr>
        <p:blipFill>
          <a:blip r:embed="rId10"/>
          <a:stretch>
            <a:fillRect/>
          </a:stretch>
        </p:blipFill>
        <p:spPr>
          <a:xfrm>
            <a:off x="474345" y="1009650"/>
            <a:ext cx="5320665" cy="3887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2467"/>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96092" y="-1075"/>
            <a:ext cx="5257199" cy="46166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1.2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国内外研究现状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28" name="文本框 27"/>
          <p:cNvSpPr txBox="1"/>
          <p:nvPr/>
        </p:nvSpPr>
        <p:spPr>
          <a:xfrm>
            <a:off x="24765" y="5837555"/>
            <a:ext cx="9126855" cy="1014730"/>
          </a:xfrm>
          <a:prstGeom prst="rect">
            <a:avLst/>
          </a:prstGeom>
          <a:noFill/>
        </p:spPr>
        <p:txBody>
          <a:bodyPr wrap="square">
            <a:spAutoFit/>
          </a:bodyPr>
          <a:lstStyle/>
          <a:p>
            <a:r>
              <a:rPr lang="en-US" altLang="zh-CN" sz="1200" kern="0" dirty="0">
                <a:solidFill>
                  <a:srgbClr val="000000"/>
                </a:solidFill>
                <a:effectLst/>
                <a:latin typeface="Times New Roman" panose="02020603050405020304" pitchFamily="18" charset="0"/>
                <a:ea typeface="宋体" panose="02010600030101010101" pitchFamily="2" charset="-122"/>
              </a:rPr>
              <a:t>[1] </a:t>
            </a:r>
            <a:r>
              <a:rPr lang="zh-CN" altLang="en-US" sz="1200" kern="0" dirty="0">
                <a:solidFill>
                  <a:srgbClr val="000000"/>
                </a:solidFill>
                <a:effectLst/>
                <a:latin typeface="Times New Roman" panose="02020603050405020304" pitchFamily="18" charset="0"/>
                <a:ea typeface="宋体" panose="02010600030101010101" pitchFamily="2" charset="-122"/>
              </a:rPr>
              <a:t>詹怀宇</a:t>
            </a:r>
            <a:r>
              <a:rPr lang="en-US" altLang="zh-CN" sz="1200" kern="0" dirty="0">
                <a:solidFill>
                  <a:srgbClr val="000000"/>
                </a:solidFill>
                <a:effectLst/>
                <a:latin typeface="Times New Roman" panose="02020603050405020304" pitchFamily="18" charset="0"/>
                <a:ea typeface="宋体" panose="02010600030101010101" pitchFamily="2" charset="-122"/>
              </a:rPr>
              <a:t>. </a:t>
            </a:r>
            <a:r>
              <a:rPr lang="zh-CN" altLang="en-US" sz="1200" kern="0" dirty="0">
                <a:solidFill>
                  <a:srgbClr val="000000"/>
                </a:solidFill>
                <a:effectLst/>
                <a:latin typeface="Times New Roman" panose="02020603050405020304" pitchFamily="18" charset="0"/>
                <a:ea typeface="宋体" panose="02010600030101010101" pitchFamily="2" charset="-122"/>
              </a:rPr>
              <a:t>制浆原理与工程（第四版）</a:t>
            </a:r>
            <a:r>
              <a:rPr lang="en-US" altLang="zh-CN" sz="1200" kern="0" dirty="0">
                <a:solidFill>
                  <a:srgbClr val="000000"/>
                </a:solidFill>
                <a:effectLst/>
                <a:latin typeface="Times New Roman" panose="02020603050405020304" pitchFamily="18" charset="0"/>
                <a:ea typeface="宋体" panose="02010600030101010101" pitchFamily="2" charset="-122"/>
              </a:rPr>
              <a:t>. </a:t>
            </a:r>
            <a:r>
              <a:rPr lang="zh-CN" altLang="en-US" sz="1200" kern="0" dirty="0">
                <a:solidFill>
                  <a:srgbClr val="000000"/>
                </a:solidFill>
                <a:effectLst/>
                <a:latin typeface="Times New Roman" panose="02020603050405020304" pitchFamily="18" charset="0"/>
                <a:ea typeface="宋体" panose="02010600030101010101" pitchFamily="2" charset="-122"/>
              </a:rPr>
              <a:t>北京：中国轻工业出版社，</a:t>
            </a:r>
            <a:r>
              <a:rPr lang="en-US" altLang="zh-CN" sz="1200" kern="0" dirty="0">
                <a:solidFill>
                  <a:srgbClr val="000000"/>
                </a:solidFill>
                <a:effectLst/>
                <a:latin typeface="Times New Roman" panose="02020603050405020304" pitchFamily="18" charset="0"/>
                <a:ea typeface="宋体" panose="02010600030101010101" pitchFamily="2" charset="-122"/>
              </a:rPr>
              <a:t>2019</a:t>
            </a:r>
            <a:r>
              <a:rPr lang="en-US" altLang="zh-CN" sz="1200" kern="0" dirty="0">
                <a:solidFill>
                  <a:srgbClr val="000000"/>
                </a:solidFill>
                <a:effectLst/>
                <a:latin typeface="Times New Roman" panose="02020603050405020304" pitchFamily="18" charset="0"/>
                <a:ea typeface="宋体" panose="02010600030101010101" pitchFamily="2" charset="-122"/>
              </a:rPr>
              <a:t> </a:t>
            </a:r>
            <a:endParaRPr lang="en-US" altLang="zh-CN" sz="1200" kern="0" dirty="0">
              <a:solidFill>
                <a:srgbClr val="000000"/>
              </a:solidFill>
              <a:effectLst/>
              <a:latin typeface="Times New Roman" panose="02020603050405020304" pitchFamily="18" charset="0"/>
              <a:ea typeface="宋体" panose="02010600030101010101" pitchFamily="2" charset="-122"/>
            </a:endParaRPr>
          </a:p>
          <a:p>
            <a:r>
              <a:rPr lang="en-US" altLang="zh-CN" sz="1200" kern="0" dirty="0">
                <a:solidFill>
                  <a:srgbClr val="000000"/>
                </a:solidFill>
                <a:effectLst/>
                <a:latin typeface="Times New Roman" panose="02020603050405020304" pitchFamily="18" charset="0"/>
                <a:ea typeface="宋体" panose="02010600030101010101" pitchFamily="2" charset="-122"/>
              </a:rPr>
              <a:t>[2] </a:t>
            </a:r>
            <a:r>
              <a:rPr lang="zh-CN" altLang="en-US" sz="1200" kern="0" dirty="0">
                <a:solidFill>
                  <a:srgbClr val="000000"/>
                </a:solidFill>
                <a:effectLst/>
                <a:latin typeface="Times New Roman" panose="02020603050405020304" pitchFamily="18" charset="0"/>
                <a:ea typeface="宋体" panose="02010600030101010101" pitchFamily="2" charset="-122"/>
              </a:rPr>
              <a:t>陈杨梅</a:t>
            </a:r>
            <a:r>
              <a:rPr lang="en-US" altLang="zh-CN" sz="1200" kern="0" dirty="0">
                <a:solidFill>
                  <a:srgbClr val="000000"/>
                </a:solidFill>
                <a:effectLst/>
                <a:latin typeface="Times New Roman" panose="02020603050405020304" pitchFamily="18" charset="0"/>
                <a:ea typeface="宋体" panose="02010600030101010101" pitchFamily="2" charset="-122"/>
              </a:rPr>
              <a:t>. </a:t>
            </a:r>
            <a:r>
              <a:rPr lang="zh-CN" altLang="en-US" sz="1200" kern="0" dirty="0">
                <a:solidFill>
                  <a:srgbClr val="000000"/>
                </a:solidFill>
                <a:effectLst/>
                <a:latin typeface="Times New Roman" panose="02020603050405020304" pitchFamily="18" charset="0"/>
                <a:ea typeface="宋体" panose="02010600030101010101" pitchFamily="2" charset="-122"/>
              </a:rPr>
              <a:t>再生植物纤维循环回用过程中纤维角质化机理及纤维性能改性研究</a:t>
            </a:r>
            <a:r>
              <a:rPr lang="en-US" altLang="zh-CN" sz="1200" kern="0" dirty="0">
                <a:solidFill>
                  <a:srgbClr val="000000"/>
                </a:solidFill>
                <a:effectLst/>
                <a:latin typeface="Times New Roman" panose="02020603050405020304" pitchFamily="18" charset="0"/>
                <a:ea typeface="宋体" panose="02010600030101010101" pitchFamily="2" charset="-122"/>
              </a:rPr>
              <a:t>. </a:t>
            </a:r>
            <a:r>
              <a:rPr lang="zh-CN" altLang="en-US" sz="1200" kern="0" dirty="0">
                <a:solidFill>
                  <a:srgbClr val="000000"/>
                </a:solidFill>
                <a:effectLst/>
                <a:latin typeface="Times New Roman" panose="02020603050405020304" pitchFamily="18" charset="0"/>
                <a:ea typeface="宋体" panose="02010600030101010101" pitchFamily="2" charset="-122"/>
              </a:rPr>
              <a:t>广州：华南理工大学，</a:t>
            </a:r>
            <a:r>
              <a:rPr lang="en-US" altLang="zh-CN" sz="1200" kern="0" dirty="0">
                <a:solidFill>
                  <a:srgbClr val="000000"/>
                </a:solidFill>
                <a:effectLst/>
                <a:latin typeface="Times New Roman" panose="02020603050405020304" pitchFamily="18" charset="0"/>
                <a:ea typeface="宋体" panose="02010600030101010101" pitchFamily="2" charset="-122"/>
              </a:rPr>
              <a:t>2011.</a:t>
            </a:r>
            <a:endParaRPr lang="en-US" altLang="zh-CN" sz="1200" kern="0" dirty="0">
              <a:solidFill>
                <a:srgbClr val="000000"/>
              </a:solidFill>
              <a:effectLst/>
              <a:latin typeface="Times New Roman" panose="02020603050405020304" pitchFamily="18" charset="0"/>
              <a:ea typeface="宋体" panose="02010600030101010101" pitchFamily="2" charset="-122"/>
            </a:endParaRPr>
          </a:p>
          <a:p>
            <a:r>
              <a:rPr lang="en-US" altLang="zh-CN" sz="1200" kern="0" dirty="0">
                <a:solidFill>
                  <a:srgbClr val="000000"/>
                </a:solidFill>
                <a:latin typeface="Times New Roman" panose="02020603050405020304" pitchFamily="18" charset="0"/>
                <a:ea typeface="宋体" panose="02010600030101010101" pitchFamily="2" charset="-122"/>
              </a:rPr>
              <a:t>[3] Bangiji Cao</a:t>
            </a:r>
            <a:r>
              <a:rPr lang="en-US" altLang="en-US" sz="1200" kern="0" dirty="0">
                <a:solidFill>
                  <a:srgbClr val="000000"/>
                </a:solidFill>
                <a:latin typeface="Times New Roman" panose="02020603050405020304" pitchFamily="18" charset="0"/>
                <a:ea typeface="宋体" panose="02010600030101010101" pitchFamily="2" charset="-122"/>
              </a:rPr>
              <a:t></a:t>
            </a:r>
            <a:r>
              <a:rPr lang="en-US" altLang="zh-CN" sz="1200" kern="0" dirty="0">
                <a:solidFill>
                  <a:srgbClr val="000000"/>
                </a:solidFill>
                <a:latin typeface="Times New Roman" panose="02020603050405020304" pitchFamily="18" charset="0"/>
                <a:ea typeface="宋体" panose="02010600030101010101" pitchFamily="2" charset="-122"/>
              </a:rPr>
              <a:t>Ulrike Tschirner</a:t>
            </a:r>
            <a:r>
              <a:rPr lang="en-US" altLang="en-US" sz="1200" kern="0" dirty="0">
                <a:solidFill>
                  <a:srgbClr val="000000"/>
                </a:solidFill>
                <a:latin typeface="Times New Roman" panose="02020603050405020304" pitchFamily="18" charset="0"/>
                <a:ea typeface="宋体" panose="02010600030101010101" pitchFamily="2" charset="-122"/>
              </a:rPr>
              <a:t></a:t>
            </a:r>
            <a:r>
              <a:rPr lang="en-US" altLang="zh-CN" sz="1200" kern="0" dirty="0">
                <a:solidFill>
                  <a:srgbClr val="000000"/>
                </a:solidFill>
                <a:latin typeface="Times New Roman" panose="02020603050405020304" pitchFamily="18" charset="0"/>
                <a:ea typeface="宋体" panose="02010600030101010101" pitchFamily="2" charset="-122"/>
              </a:rPr>
              <a:t>and Shri Ramaswamy</a:t>
            </a:r>
            <a:r>
              <a:rPr lang="zh-CN" altLang="en-US" sz="1200" kern="0" dirty="0">
                <a:solidFill>
                  <a:srgbClr val="000000"/>
                </a:solidFill>
                <a:latin typeface="Times New Roman" panose="02020603050405020304" pitchFamily="18" charset="0"/>
                <a:ea typeface="宋体" panose="02010600030101010101" pitchFamily="2" charset="-122"/>
              </a:rPr>
              <a:t>．</a:t>
            </a:r>
            <a:r>
              <a:rPr lang="en-US" altLang="zh-CN" sz="1200" kern="0" dirty="0">
                <a:solidFill>
                  <a:srgbClr val="000000"/>
                </a:solidFill>
                <a:latin typeface="Times New Roman" panose="02020603050405020304" pitchFamily="18" charset="0"/>
                <a:ea typeface="宋体" panose="02010600030101010101" pitchFamily="2" charset="-122"/>
              </a:rPr>
              <a:t>TAPPI</a:t>
            </a:r>
            <a:r>
              <a:rPr lang="en-US" altLang="en-US" sz="1200" kern="0" dirty="0">
                <a:solidFill>
                  <a:srgbClr val="000000"/>
                </a:solidFill>
                <a:latin typeface="Times New Roman" panose="02020603050405020304" pitchFamily="18" charset="0"/>
                <a:ea typeface="宋体" panose="02010600030101010101" pitchFamily="2" charset="-122"/>
              </a:rPr>
              <a:t></a:t>
            </a:r>
            <a:r>
              <a:rPr lang="en-US" altLang="zh-CN" sz="1200" kern="0" dirty="0">
                <a:solidFill>
                  <a:srgbClr val="000000"/>
                </a:solidFill>
                <a:latin typeface="Times New Roman" panose="02020603050405020304" pitchFamily="18" charset="0"/>
                <a:ea typeface="宋体" panose="02010600030101010101" pitchFamily="2" charset="-122"/>
              </a:rPr>
              <a:t>81</a:t>
            </a:r>
            <a:r>
              <a:rPr lang="zh-CN" altLang="en-US" sz="1200" kern="0" dirty="0">
                <a:solidFill>
                  <a:srgbClr val="000000"/>
                </a:solidFill>
                <a:latin typeface="Times New Roman" panose="02020603050405020304" pitchFamily="18" charset="0"/>
                <a:ea typeface="宋体" panose="02010600030101010101" pitchFamily="2" charset="-122"/>
              </a:rPr>
              <a:t>（</a:t>
            </a:r>
            <a:r>
              <a:rPr lang="en-US" altLang="zh-CN" sz="1200" kern="0" dirty="0">
                <a:solidFill>
                  <a:srgbClr val="000000"/>
                </a:solidFill>
                <a:latin typeface="Times New Roman" panose="02020603050405020304" pitchFamily="18" charset="0"/>
                <a:ea typeface="宋体" panose="02010600030101010101" pitchFamily="2" charset="-122"/>
              </a:rPr>
              <a:t>12</a:t>
            </a:r>
            <a:r>
              <a:rPr lang="zh-CN" altLang="en-US" sz="1200" kern="0" dirty="0">
                <a:solidFill>
                  <a:srgbClr val="000000"/>
                </a:solidFill>
                <a:latin typeface="Times New Roman" panose="02020603050405020304" pitchFamily="18" charset="0"/>
                <a:ea typeface="宋体" panose="02010600030101010101" pitchFamily="2" charset="-122"/>
              </a:rPr>
              <a:t>）</a:t>
            </a:r>
            <a:endParaRPr lang="zh-CN" altLang="en-US" sz="1200" kern="0" dirty="0">
              <a:solidFill>
                <a:srgbClr val="000000"/>
              </a:solidFill>
              <a:latin typeface="Times New Roman" panose="02020603050405020304" pitchFamily="18" charset="0"/>
              <a:ea typeface="宋体" panose="02010600030101010101" pitchFamily="2" charset="-122"/>
            </a:endParaRPr>
          </a:p>
          <a:p>
            <a:r>
              <a:rPr lang="en-US" altLang="zh-CN" sz="1200" kern="0" dirty="0">
                <a:solidFill>
                  <a:srgbClr val="000000"/>
                </a:solidFill>
                <a:effectLst/>
                <a:latin typeface="Times New Roman" panose="02020603050405020304" pitchFamily="18" charset="0"/>
                <a:ea typeface="宋体" panose="02010600030101010101" pitchFamily="2" charset="-122"/>
              </a:rPr>
              <a:t>[4] Inger Eriksson</a:t>
            </a:r>
            <a:r>
              <a:rPr lang="en-US"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Paivi Lunabba</a:t>
            </a:r>
            <a:r>
              <a:rPr lang="en-US"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Annika Pettersson</a:t>
            </a:r>
            <a:r>
              <a:rPr lang="en-US"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et al</a:t>
            </a:r>
            <a:r>
              <a:rPr lang="zh-CN"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TAPPI</a:t>
            </a:r>
            <a:r>
              <a:rPr lang="en-US"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80</a:t>
            </a:r>
            <a:r>
              <a:rPr lang="zh-CN"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7</a:t>
            </a:r>
            <a:r>
              <a:rPr lang="zh-CN" altLang="en-US" sz="1200" kern="0" dirty="0">
                <a:solidFill>
                  <a:srgbClr val="000000"/>
                </a:solidFill>
                <a:effectLst/>
                <a:latin typeface="Times New Roman" panose="02020603050405020304" pitchFamily="18" charset="0"/>
                <a:ea typeface="宋体" panose="02010600030101010101" pitchFamily="2" charset="-122"/>
              </a:rPr>
              <a:t>）</a:t>
            </a:r>
            <a:endParaRPr lang="zh-CN" altLang="en-US" sz="1200" kern="0" dirty="0">
              <a:solidFill>
                <a:srgbClr val="000000"/>
              </a:solidFill>
              <a:effectLst/>
              <a:latin typeface="Times New Roman" panose="02020603050405020304" pitchFamily="18" charset="0"/>
              <a:ea typeface="宋体" panose="02010600030101010101" pitchFamily="2" charset="-122"/>
            </a:endParaRPr>
          </a:p>
          <a:p>
            <a:r>
              <a:rPr lang="en-US" altLang="zh-CN" sz="1200" kern="0" dirty="0">
                <a:solidFill>
                  <a:srgbClr val="000000"/>
                </a:solidFill>
                <a:latin typeface="Times New Roman" panose="02020603050405020304" pitchFamily="18" charset="0"/>
                <a:ea typeface="宋体" panose="02010600030101010101" pitchFamily="2" charset="-122"/>
              </a:rPr>
              <a:t>[5] </a:t>
            </a:r>
            <a:r>
              <a:rPr lang="en-US" altLang="zh-CN" sz="1200" kern="0" dirty="0">
                <a:solidFill>
                  <a:srgbClr val="000000"/>
                </a:solidFill>
                <a:effectLst/>
                <a:latin typeface="Times New Roman" panose="02020603050405020304" pitchFamily="18" charset="0"/>
                <a:ea typeface="宋体" panose="02010600030101010101" pitchFamily="2" charset="-122"/>
              </a:rPr>
              <a:t>Roland Mckinney</a:t>
            </a:r>
            <a:r>
              <a:rPr lang="zh-CN"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Proceedings of Pre-symposium of the10thISWPC</a:t>
            </a:r>
            <a:r>
              <a:rPr lang="en-US" altLang="en-US" sz="1200" kern="0" dirty="0">
                <a:solidFill>
                  <a:srgbClr val="000000"/>
                </a:solidFill>
                <a:effectLst/>
                <a:latin typeface="Times New Roman" panose="02020603050405020304" pitchFamily="18" charset="0"/>
                <a:ea typeface="宋体" panose="02010600030101010101" pitchFamily="2" charset="-122"/>
              </a:rPr>
              <a:t></a:t>
            </a:r>
            <a:r>
              <a:rPr lang="en-US" altLang="zh-CN" sz="1200" kern="0" dirty="0">
                <a:solidFill>
                  <a:srgbClr val="000000"/>
                </a:solidFill>
                <a:effectLst/>
                <a:latin typeface="Times New Roman" panose="02020603050405020304" pitchFamily="18" charset="0"/>
                <a:ea typeface="宋体" panose="02010600030101010101" pitchFamily="2" charset="-122"/>
              </a:rPr>
              <a:t>1999</a:t>
            </a:r>
            <a:endParaRPr lang="en-US" altLang="zh-CN" sz="1200" kern="0" dirty="0">
              <a:solidFill>
                <a:srgbClr val="000000"/>
              </a:solidFill>
              <a:effectLst/>
              <a:latin typeface="Times New Roman" panose="02020603050405020304" pitchFamily="18" charset="0"/>
              <a:ea typeface="宋体" panose="02010600030101010101" pitchFamily="2" charset="-122"/>
            </a:endParaRPr>
          </a:p>
        </p:txBody>
      </p:sp>
      <p:sp>
        <p:nvSpPr>
          <p:cNvPr id="47" name="矩形: 圆角 46"/>
          <p:cNvSpPr/>
          <p:nvPr/>
        </p:nvSpPr>
        <p:spPr>
          <a:xfrm>
            <a:off x="142614" y="586547"/>
            <a:ext cx="11862032" cy="5197658"/>
          </a:xfrm>
          <a:prstGeom prst="round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4710077" y="3043870"/>
            <a:ext cx="3146964" cy="275590"/>
          </a:xfrm>
          <a:prstGeom prst="rect">
            <a:avLst/>
          </a:prstGeom>
          <a:noFill/>
        </p:spPr>
        <p:txBody>
          <a:bodyPr wrap="square">
            <a:spAutoFit/>
          </a:bodyPr>
          <a:lstStyle/>
          <a:p>
            <a:r>
              <a:rPr lang="zh-CN" altLang="en-US" sz="1200" dirty="0">
                <a:effectLst/>
                <a:latin typeface="+mj-ea"/>
                <a:ea typeface="+mj-ea"/>
              </a:rPr>
              <a:t>显微镜观察下的再生纸浆纤维</a:t>
            </a:r>
            <a:r>
              <a:rPr lang="zh-CN" altLang="en-US" sz="1200" dirty="0">
                <a:effectLst/>
                <a:latin typeface="+mj-ea"/>
                <a:ea typeface="+mj-ea"/>
              </a:rPr>
              <a:t>形态</a:t>
            </a:r>
            <a:endParaRPr lang="zh-CN" altLang="en-US" sz="1200" dirty="0">
              <a:effectLst/>
              <a:latin typeface="+mj-ea"/>
              <a:ea typeface="+mj-ea"/>
            </a:endParaRPr>
          </a:p>
        </p:txBody>
      </p:sp>
      <p:sp>
        <p:nvSpPr>
          <p:cNvPr id="29" name="文本框 28"/>
          <p:cNvSpPr txBox="1"/>
          <p:nvPr/>
        </p:nvSpPr>
        <p:spPr>
          <a:xfrm>
            <a:off x="339896" y="3496324"/>
            <a:ext cx="5609408" cy="1753235"/>
          </a:xfrm>
          <a:prstGeom prst="rect">
            <a:avLst/>
          </a:prstGeom>
          <a:noFill/>
        </p:spPr>
        <p:txBody>
          <a:bodyPr wrap="square" rtlCol="0">
            <a:spAutoFit/>
          </a:bodyPr>
          <a:lstStyle/>
          <a:p>
            <a:pPr marL="285750" indent="-285750">
              <a:spcBef>
                <a:spcPts val="600"/>
              </a:spcBef>
              <a:buFont typeface="Wingdings" panose="05000000000000000000" pitchFamily="2" charset="2"/>
              <a:buChar char="p"/>
            </a:pPr>
            <a:r>
              <a:rPr lang="zh-CN" altLang="en-US" sz="1400" b="1" dirty="0"/>
              <a:t>在利用再生纸浆生产纸张时，纤维历经多次打浆、润胀以及干燥处理，在此过程中，纤维细胞壁出现收缩现象，内部形成氢键，进而引发细胞腔产生</a:t>
            </a:r>
            <a:r>
              <a:rPr lang="zh-CN" altLang="en-US" sz="1400" b="1" dirty="0">
                <a:solidFill>
                  <a:srgbClr val="FF0000"/>
                </a:solidFill>
              </a:rPr>
              <a:t>不可逆塌陷</a:t>
            </a:r>
            <a:r>
              <a:rPr lang="zh-CN" altLang="en-US" sz="1400" b="1" dirty="0"/>
              <a:t>和</a:t>
            </a:r>
            <a:r>
              <a:rPr lang="zh-CN" altLang="en-US" sz="1400" b="1" dirty="0">
                <a:solidFill>
                  <a:srgbClr val="FF0000"/>
                </a:solidFill>
              </a:rPr>
              <a:t>纤维角质化</a:t>
            </a:r>
            <a:r>
              <a:rPr lang="zh-CN" altLang="en-US" sz="1400" b="1" dirty="0"/>
              <a:t>。</a:t>
            </a:r>
            <a:endParaRPr lang="en-US" altLang="zh-CN" sz="1400" dirty="0"/>
          </a:p>
          <a:p>
            <a:pPr marL="285750" indent="-285750">
              <a:spcBef>
                <a:spcPts val="600"/>
              </a:spcBef>
              <a:buFont typeface="Wingdings" panose="05000000000000000000" pitchFamily="2" charset="2"/>
              <a:buChar char="p"/>
            </a:pPr>
            <a:r>
              <a:rPr lang="zh-CN" altLang="en-US" sz="1400" b="1" dirty="0"/>
              <a:t>纤维的结晶度提高，游离羟基数量逐渐减少，再生纤维的润胀能力大幅下降，保水性能降低，纤维质地变得挺硬，塑性减弱。</a:t>
            </a:r>
            <a:endParaRPr lang="zh-CN" altLang="en-US" sz="1400" b="1" dirty="0"/>
          </a:p>
          <a:p>
            <a:pPr marL="285750" indent="-285750">
              <a:spcBef>
                <a:spcPts val="600"/>
              </a:spcBef>
              <a:buFont typeface="Wingdings" panose="05000000000000000000" pitchFamily="2" charset="2"/>
              <a:buChar char="p"/>
            </a:pPr>
            <a:r>
              <a:rPr lang="zh-CN" altLang="en-US" sz="1400" b="1" dirty="0">
                <a:solidFill>
                  <a:schemeClr val="tx1"/>
                </a:solidFill>
              </a:rPr>
              <a:t>抄造纸张时</a:t>
            </a:r>
            <a:r>
              <a:rPr lang="zh-CN" altLang="en-US" sz="1400" b="1" dirty="0">
                <a:solidFill>
                  <a:srgbClr val="FF0000"/>
                </a:solidFill>
              </a:rPr>
              <a:t>纤维间的结合强度降低，纸张的抗张强度等物理性能显著下滑，严重制约了再生纤维的充分有效利用。</a:t>
            </a:r>
            <a:r>
              <a:rPr lang="en-US" altLang="zh-CN" sz="1400" b="1" baseline="30000" dirty="0">
                <a:latin typeface="+mn-ea"/>
                <a:cs typeface="Times New Roman" panose="02020603050405020304" pitchFamily="18" charset="0"/>
                <a:sym typeface="+mn-ea"/>
              </a:rPr>
              <a:t>[1,2]</a:t>
            </a:r>
            <a:endParaRPr lang="zh-CN" altLang="en-US" sz="1400" b="1" dirty="0">
              <a:solidFill>
                <a:srgbClr val="FF0000"/>
              </a:solidFill>
            </a:endParaRPr>
          </a:p>
        </p:txBody>
      </p:sp>
      <p:sp>
        <p:nvSpPr>
          <p:cNvPr id="26" name="文本框 25"/>
          <p:cNvSpPr txBox="1"/>
          <p:nvPr/>
        </p:nvSpPr>
        <p:spPr>
          <a:xfrm>
            <a:off x="6232881" y="3496203"/>
            <a:ext cx="5521611" cy="2183765"/>
          </a:xfrm>
          <a:prstGeom prst="rect">
            <a:avLst/>
          </a:prstGeom>
          <a:noFill/>
        </p:spPr>
        <p:txBody>
          <a:bodyPr wrap="square" rtlCol="0">
            <a:spAutoFit/>
          </a:bodyPr>
          <a:lstStyle/>
          <a:p>
            <a:pPr marL="285750" indent="-285750">
              <a:spcBef>
                <a:spcPts val="600"/>
              </a:spcBef>
              <a:buFont typeface="Wingdings" panose="05000000000000000000" pitchFamily="2" charset="2"/>
              <a:buChar char="p"/>
            </a:pPr>
            <a:r>
              <a:rPr lang="zh-CN" altLang="en-US" sz="1400" b="1" dirty="0"/>
              <a:t>纤维中聚戊糖和木质素的减少是回用中纤维化学衰变的主要特征。纤维微纤间存在的木聚糖分子，对维持纤维弹性发挥着积极作用，进而有效延缓纤维品质的恶化。</a:t>
            </a:r>
            <a:r>
              <a:rPr lang="en-US" altLang="zh-CN" sz="1400" b="1" baseline="30000" dirty="0">
                <a:latin typeface="+mn-ea"/>
                <a:cs typeface="Times New Roman" panose="02020603050405020304" pitchFamily="18" charset="0"/>
                <a:sym typeface="+mn-ea"/>
              </a:rPr>
              <a:t>[3]</a:t>
            </a:r>
            <a:endParaRPr lang="zh-CN" altLang="en-US" sz="1400" b="1" dirty="0"/>
          </a:p>
          <a:p>
            <a:pPr marL="285750" indent="-285750">
              <a:spcBef>
                <a:spcPts val="600"/>
              </a:spcBef>
              <a:buFont typeface="Wingdings" panose="05000000000000000000" pitchFamily="2" charset="2"/>
              <a:buChar char="p"/>
            </a:pPr>
            <a:r>
              <a:rPr lang="zh-CN" altLang="en-US" sz="1400" b="1" dirty="0">
                <a:solidFill>
                  <a:schemeClr val="tx1"/>
                </a:solidFill>
              </a:rPr>
              <a:t>戊聚糖等半纤维素物质能够减小纤维表面的水滴接触角，增强纤维表面的亲水性，这对回用时纤维的重新润湿极为有利，有助于推动纤维间的相互结合。</a:t>
            </a:r>
            <a:r>
              <a:rPr lang="en-US" altLang="zh-CN" sz="1400" b="1" baseline="30000" dirty="0">
                <a:latin typeface="+mn-ea"/>
                <a:cs typeface="Times New Roman" panose="02020603050405020304" pitchFamily="18" charset="0"/>
                <a:sym typeface="+mn-ea"/>
              </a:rPr>
              <a:t>[4]</a:t>
            </a:r>
            <a:endParaRPr lang="zh-CN" altLang="en-US" sz="1400" b="1" dirty="0">
              <a:solidFill>
                <a:schemeClr val="tx1"/>
              </a:solidFill>
            </a:endParaRPr>
          </a:p>
          <a:p>
            <a:pPr marL="285750" indent="-285750">
              <a:spcBef>
                <a:spcPts val="600"/>
              </a:spcBef>
              <a:buFont typeface="Wingdings" panose="05000000000000000000" pitchFamily="2" charset="2"/>
              <a:buChar char="p"/>
            </a:pPr>
            <a:r>
              <a:rPr lang="zh-CN" altLang="en-US" sz="1400" b="1" dirty="0">
                <a:solidFill>
                  <a:schemeClr val="tx1"/>
                </a:solidFill>
              </a:rPr>
              <a:t>纸浆中的</a:t>
            </a:r>
            <a:r>
              <a:rPr lang="zh-CN" altLang="en-US" sz="1400" b="1" dirty="0">
                <a:solidFill>
                  <a:srgbClr val="FF0000"/>
                </a:solidFill>
              </a:rPr>
              <a:t>细小纤维对纸页强度有重要的贡献</a:t>
            </a:r>
            <a:r>
              <a:rPr lang="zh-CN" altLang="en-US" sz="1400" b="1" dirty="0">
                <a:solidFill>
                  <a:schemeClr val="tx1"/>
                </a:solidFill>
              </a:rPr>
              <a:t>，而在回用纤维中，产生角质化的细小组分无法发挥这一作用，从而使纸页的机械强度大幅削减。</a:t>
            </a:r>
            <a:r>
              <a:rPr lang="en-US" altLang="zh-CN" sz="1400" b="1" baseline="30000" dirty="0">
                <a:latin typeface="+mn-ea"/>
                <a:cs typeface="Times New Roman" panose="02020603050405020304" pitchFamily="18" charset="0"/>
                <a:sym typeface="+mn-ea"/>
              </a:rPr>
              <a:t>[5]</a:t>
            </a:r>
            <a:endParaRPr lang="zh-CN" altLang="en-US" sz="1400" b="1" dirty="0">
              <a:solidFill>
                <a:schemeClr val="tx1"/>
              </a:solidFill>
            </a:endParaRPr>
          </a:p>
        </p:txBody>
      </p:sp>
      <p:sp>
        <p:nvSpPr>
          <p:cNvPr id="48" name="文本框 47"/>
          <p:cNvSpPr txBox="1"/>
          <p:nvPr/>
        </p:nvSpPr>
        <p:spPr>
          <a:xfrm>
            <a:off x="4825284" y="392747"/>
            <a:ext cx="2379244" cy="368300"/>
          </a:xfrm>
          <a:prstGeom prst="rect">
            <a:avLst/>
          </a:prstGeom>
          <a:solidFill>
            <a:srgbClr val="C55A11"/>
          </a:solidFill>
          <a:ln>
            <a:noFill/>
          </a:ln>
        </p:spPr>
        <p:txBody>
          <a:bodyPr wrap="square" rtlCol="0">
            <a:spAutoFit/>
          </a:bodyPr>
          <a:lstStyle/>
          <a:p>
            <a:pPr algn="ctr"/>
            <a:r>
              <a:rPr lang="zh-CN" altLang="en-US" b="1" dirty="0">
                <a:solidFill>
                  <a:schemeClr val="bg1"/>
                </a:solidFill>
                <a:latin typeface="Arial" panose="020B0604020202020204" pitchFamily="34" charset="0"/>
                <a:cs typeface="Arial" panose="020B0604020202020204" pitchFamily="34" charset="0"/>
              </a:rPr>
              <a:t>纤维形态劣化机理</a:t>
            </a:r>
            <a:endParaRPr lang="zh-CN" altLang="en-US" b="1" dirty="0">
              <a:solidFill>
                <a:schemeClr val="bg1"/>
              </a:solidFill>
              <a:latin typeface="Arial" panose="020B0604020202020204" pitchFamily="34" charset="0"/>
              <a:cs typeface="Arial" panose="020B0604020202020204" pitchFamily="34" charset="0"/>
            </a:endParaRPr>
          </a:p>
        </p:txBody>
      </p:sp>
      <p:pic>
        <p:nvPicPr>
          <p:cNvPr id="3"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263650" y="864235"/>
            <a:ext cx="2903855" cy="2082165"/>
          </a:xfrm>
          <a:prstGeom prst="rect">
            <a:avLst/>
          </a:prstGeom>
          <a:noFill/>
          <a:ln>
            <a:noFill/>
          </a:ln>
        </p:spPr>
      </p:pic>
      <p:pic>
        <p:nvPicPr>
          <p:cNvPr id="1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484370" y="891540"/>
            <a:ext cx="2903855" cy="2017395"/>
          </a:xfrm>
          <a:prstGeom prst="rect">
            <a:avLst/>
          </a:prstGeom>
          <a:noFill/>
          <a:ln>
            <a:noFill/>
          </a:ln>
        </p:spPr>
      </p:pic>
      <p:pic>
        <p:nvPicPr>
          <p:cNvPr id="7"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7704455" y="896620"/>
            <a:ext cx="2816225" cy="2011680"/>
          </a:xfrm>
          <a:prstGeom prst="rect">
            <a:avLst/>
          </a:prstGeom>
          <a:noFill/>
          <a:ln>
            <a:noFill/>
          </a:ln>
        </p:spPr>
      </p:pic>
      <p:sp>
        <p:nvSpPr>
          <p:cNvPr id="15" name="矩形: 圆角 14"/>
          <p:cNvSpPr/>
          <p:nvPr/>
        </p:nvSpPr>
        <p:spPr>
          <a:xfrm>
            <a:off x="2169795" y="3044190"/>
            <a:ext cx="1508760" cy="452120"/>
          </a:xfrm>
          <a:prstGeom prst="roundRect">
            <a:avLst/>
          </a:prstGeom>
          <a:solidFill>
            <a:schemeClr val="bg1"/>
          </a:solidFill>
          <a:ln w="38100">
            <a:solidFill>
              <a:srgbClr val="024DA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nSpc>
                <a:spcPct val="150000"/>
              </a:lnSpc>
              <a:buFont typeface="Wingdings" panose="05000000000000000000" pitchFamily="2" charset="2"/>
              <a:buNone/>
            </a:pPr>
            <a:r>
              <a:rPr lang="zh-CN" altLang="en-US" sz="1600" b="1"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细胞的</a:t>
            </a:r>
            <a:r>
              <a:rPr lang="zh-CN" altLang="en-US" sz="1600" b="1"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角质化</a:t>
            </a:r>
            <a:endParaRPr lang="zh-CN" altLang="en-US" sz="1600" b="1"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圆角 14"/>
          <p:cNvSpPr/>
          <p:nvPr/>
        </p:nvSpPr>
        <p:spPr>
          <a:xfrm>
            <a:off x="8239760" y="3043555"/>
            <a:ext cx="1768475" cy="452120"/>
          </a:xfrm>
          <a:prstGeom prst="roundRect">
            <a:avLst/>
          </a:prstGeom>
          <a:solidFill>
            <a:schemeClr val="bg1"/>
          </a:solidFill>
          <a:ln w="38100">
            <a:solidFill>
              <a:srgbClr val="024DA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nSpc>
                <a:spcPct val="150000"/>
              </a:lnSpc>
              <a:buFont typeface="Wingdings" panose="05000000000000000000" pitchFamily="2" charset="2"/>
              <a:buNone/>
            </a:pPr>
            <a:r>
              <a:rPr lang="zh-CN" altLang="en-US" sz="1600" b="1"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化学组分的变化</a:t>
            </a:r>
            <a:endParaRPr lang="zh-CN" altLang="en-US" sz="1600" b="1"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2467"/>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96092" y="-1075"/>
            <a:ext cx="5257199" cy="46166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1.3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研究目的</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3" name="文本框 2"/>
          <p:cNvSpPr txBox="1"/>
          <p:nvPr/>
        </p:nvSpPr>
        <p:spPr>
          <a:xfrm>
            <a:off x="619124" y="834222"/>
            <a:ext cx="11130749" cy="1876425"/>
          </a:xfrm>
          <a:prstGeom prst="rect">
            <a:avLst/>
          </a:prstGeom>
          <a:noFill/>
        </p:spPr>
        <p:txBody>
          <a:bodyPr wrap="square" rtlCol="0">
            <a:spAutoFit/>
          </a:bodyPr>
          <a:lstStyle/>
          <a:p>
            <a:r>
              <a:rPr lang="zh-CN" altLang="en-US" sz="2000" b="1" dirty="0"/>
              <a:t>研究现状的不足之处：</a:t>
            </a:r>
            <a:endParaRPr lang="en-US" altLang="zh-CN" sz="2000" b="1" dirty="0"/>
          </a:p>
          <a:p>
            <a:pPr marL="342900" indent="-342900">
              <a:lnSpc>
                <a:spcPct val="150000"/>
              </a:lnSpc>
              <a:buFont typeface="+mj-lt"/>
              <a:buAutoNum type="arabicPeriod"/>
            </a:pPr>
            <a:r>
              <a:rPr lang="zh-CN" altLang="en-US" sz="1600" b="1" dirty="0">
                <a:effectLst/>
                <a:latin typeface="+mn-ea"/>
                <a:cs typeface="Times New Roman" panose="02020603050405020304" pitchFamily="18" charset="0"/>
              </a:rPr>
              <a:t>缺少对再生纸浆循环回用过程中纤维形态与纸张物理强度劣化机制的系统性研究。</a:t>
            </a:r>
            <a:endParaRPr lang="zh-CN" altLang="en-US" sz="1600" b="1" dirty="0">
              <a:effectLst/>
              <a:latin typeface="+mn-ea"/>
              <a:cs typeface="Times New Roman" panose="02020603050405020304" pitchFamily="18" charset="0"/>
            </a:endParaRPr>
          </a:p>
          <a:p>
            <a:pPr marL="342900" indent="-342900">
              <a:lnSpc>
                <a:spcPct val="150000"/>
              </a:lnSpc>
              <a:buFont typeface="+mj-lt"/>
              <a:buAutoNum type="arabicPeriod"/>
            </a:pPr>
            <a:r>
              <a:rPr lang="zh-CN" altLang="en-US" sz="1600" b="1" dirty="0">
                <a:latin typeface="+mn-ea"/>
                <a:cs typeface="Times New Roman" panose="02020603050405020304" pitchFamily="18" charset="0"/>
              </a:rPr>
              <a:t>传统强度预测模型依赖静态纤维参数，无法全面的反映纤维形态</a:t>
            </a:r>
            <a:r>
              <a:rPr lang="en-US" altLang="zh-CN" sz="1600" b="1" dirty="0">
                <a:latin typeface="+mn-ea"/>
                <a:cs typeface="Times New Roman" panose="02020603050405020304" pitchFamily="18" charset="0"/>
              </a:rPr>
              <a:t>-</a:t>
            </a:r>
            <a:r>
              <a:rPr lang="zh-CN" altLang="en-US" sz="1600" b="1" dirty="0">
                <a:latin typeface="+mn-ea"/>
                <a:cs typeface="Times New Roman" panose="02020603050405020304" pitchFamily="18" charset="0"/>
              </a:rPr>
              <a:t>纸张物理强度间的动态演变规律。</a:t>
            </a:r>
            <a:endParaRPr lang="zh-CN" altLang="en-US" sz="1600" b="1" dirty="0">
              <a:latin typeface="+mn-ea"/>
              <a:cs typeface="Times New Roman" panose="02020603050405020304" pitchFamily="18" charset="0"/>
            </a:endParaRPr>
          </a:p>
          <a:p>
            <a:pPr marL="342900" indent="-342900">
              <a:lnSpc>
                <a:spcPct val="150000"/>
              </a:lnSpc>
              <a:buFont typeface="+mj-lt"/>
              <a:buAutoNum type="arabicPeriod"/>
            </a:pPr>
            <a:r>
              <a:rPr lang="zh-CN" altLang="en-US" sz="1600" b="1" dirty="0">
                <a:latin typeface="+mn-ea"/>
              </a:rPr>
              <a:t>当前再生纸浆质量评价体系存在显著局限性，传统方法依赖静态阈值，难以适配再生纸浆纤维形态的特殊性与物理强度的非线性衰减规律。</a:t>
            </a:r>
            <a:endParaRPr lang="zh-CN" altLang="en-US" sz="1600" b="1" dirty="0">
              <a:latin typeface="+mn-ea"/>
            </a:endParaRPr>
          </a:p>
        </p:txBody>
      </p:sp>
      <p:sp>
        <p:nvSpPr>
          <p:cNvPr id="25" name="文本框 24"/>
          <p:cNvSpPr txBox="1"/>
          <p:nvPr/>
        </p:nvSpPr>
        <p:spPr>
          <a:xfrm>
            <a:off x="619124" y="3041818"/>
            <a:ext cx="11130750" cy="2245360"/>
          </a:xfrm>
          <a:prstGeom prst="rect">
            <a:avLst/>
          </a:prstGeom>
          <a:noFill/>
        </p:spPr>
        <p:txBody>
          <a:bodyPr wrap="square" rtlCol="0">
            <a:spAutoFit/>
          </a:bodyPr>
          <a:lstStyle/>
          <a:p>
            <a:r>
              <a:rPr lang="zh-CN" altLang="en-US" sz="2000" b="1" dirty="0"/>
              <a:t>研究目的：</a:t>
            </a:r>
            <a:endParaRPr lang="en-US" altLang="zh-CN" sz="2000" b="1" dirty="0"/>
          </a:p>
          <a:p>
            <a:pPr marL="342900" indent="-342900">
              <a:lnSpc>
                <a:spcPct val="150000"/>
              </a:lnSpc>
              <a:buFont typeface="+mj-lt"/>
              <a:buAutoNum type="arabicPeriod"/>
            </a:pPr>
            <a:r>
              <a:rPr lang="zh-CN" altLang="en-US" sz="1600" b="1" dirty="0">
                <a:effectLst/>
                <a:latin typeface="+mn-ea"/>
                <a:cs typeface="Times New Roman" panose="02020603050405020304" pitchFamily="18" charset="0"/>
              </a:rPr>
              <a:t>探究再生纸浆纤维形态与物理强度间劣化关系，分析研究纤维形态参数对纸张物理强度的协同影响。</a:t>
            </a:r>
            <a:endParaRPr lang="en-US" altLang="zh-CN" sz="1600" b="1" dirty="0">
              <a:latin typeface="+mn-ea"/>
              <a:cs typeface="Times New Roman" panose="02020603050405020304" pitchFamily="18" charset="0"/>
            </a:endParaRPr>
          </a:p>
          <a:p>
            <a:pPr marL="342900" indent="-342900">
              <a:lnSpc>
                <a:spcPct val="150000"/>
              </a:lnSpc>
              <a:buFont typeface="+mj-lt"/>
              <a:buAutoNum type="arabicPeriod"/>
            </a:pPr>
            <a:r>
              <a:rPr lang="zh-CN" altLang="en-US" sz="1600" b="1" dirty="0">
                <a:effectLst/>
                <a:latin typeface="+mn-ea"/>
                <a:cs typeface="Times New Roman" panose="02020603050405020304" pitchFamily="18" charset="0"/>
              </a:rPr>
              <a:t>建立准确的</a:t>
            </a:r>
            <a:r>
              <a:rPr lang="zh-CN" altLang="en-US" sz="1600" b="1" dirty="0">
                <a:solidFill>
                  <a:srgbClr val="FF0000"/>
                </a:solidFill>
                <a:effectLst/>
                <a:latin typeface="+mn-ea"/>
                <a:cs typeface="Times New Roman" panose="02020603050405020304" pitchFamily="18" charset="0"/>
              </a:rPr>
              <a:t>再生纸张物理强度预测模型</a:t>
            </a:r>
            <a:r>
              <a:rPr lang="zh-CN" altLang="en-US" sz="1600" b="1" dirty="0">
                <a:effectLst/>
                <a:latin typeface="+mn-ea"/>
                <a:cs typeface="Times New Roman" panose="02020603050405020304" pitchFamily="18" charset="0"/>
              </a:rPr>
              <a:t>，捕捉纤维参数与物理强度间的复杂关联。</a:t>
            </a:r>
            <a:endParaRPr lang="en-US" altLang="zh-CN" sz="1600" b="1" dirty="0">
              <a:effectLst/>
              <a:latin typeface="+mn-ea"/>
              <a:cs typeface="Times New Roman" panose="02020603050405020304" pitchFamily="18" charset="0"/>
            </a:endParaRPr>
          </a:p>
          <a:p>
            <a:pPr marL="342900" indent="-342900">
              <a:lnSpc>
                <a:spcPct val="150000"/>
              </a:lnSpc>
              <a:buFont typeface="+mj-lt"/>
              <a:buAutoNum type="arabicPeriod"/>
            </a:pPr>
            <a:r>
              <a:rPr lang="zh-CN" altLang="en-US" sz="1600" b="1" dirty="0">
                <a:effectLst/>
                <a:latin typeface="+mn-ea"/>
                <a:cs typeface="Times New Roman" panose="02020603050405020304" pitchFamily="18" charset="0"/>
              </a:rPr>
              <a:t>建立</a:t>
            </a:r>
            <a:r>
              <a:rPr lang="zh-CN" altLang="en-US" sz="1600" b="1" dirty="0">
                <a:solidFill>
                  <a:srgbClr val="FF0000"/>
                </a:solidFill>
                <a:effectLst/>
                <a:latin typeface="+mn-ea"/>
                <a:cs typeface="Times New Roman" panose="02020603050405020304" pitchFamily="18" charset="0"/>
              </a:rPr>
              <a:t>再生纸浆再利用适用度评价体系</a:t>
            </a:r>
            <a:r>
              <a:rPr lang="zh-CN" altLang="en-US" sz="1600" b="1" dirty="0">
                <a:effectLst/>
                <a:latin typeface="+mn-ea"/>
                <a:cs typeface="Times New Roman" panose="02020603050405020304" pitchFamily="18" charset="0"/>
              </a:rPr>
              <a:t>，</a:t>
            </a:r>
            <a:r>
              <a:rPr lang="zh-CN" altLang="en-US" sz="1600" b="1" dirty="0">
                <a:solidFill>
                  <a:schemeClr val="tx1"/>
                </a:solidFill>
                <a:effectLst/>
                <a:latin typeface="+mn-ea"/>
                <a:cs typeface="Times New Roman" panose="02020603050405020304" pitchFamily="18" charset="0"/>
              </a:rPr>
              <a:t>实现再生纸浆质量的动态精准评分</a:t>
            </a:r>
            <a:r>
              <a:rPr lang="zh-CN" altLang="zh-CN" sz="1600" b="1" dirty="0">
                <a:solidFill>
                  <a:schemeClr val="tx1"/>
                </a:solidFill>
                <a:effectLst/>
                <a:latin typeface="+mn-ea"/>
                <a:cs typeface="Times New Roman" panose="02020603050405020304" pitchFamily="18" charset="0"/>
              </a:rPr>
              <a:t>。</a:t>
            </a:r>
            <a:endParaRPr lang="zh-CN" altLang="zh-CN" sz="1600" b="1" dirty="0">
              <a:solidFill>
                <a:srgbClr val="FF0000"/>
              </a:solidFill>
              <a:effectLst/>
              <a:latin typeface="+mn-ea"/>
              <a:cs typeface="Times New Roman" panose="02020603050405020304" pitchFamily="18" charset="0"/>
            </a:endParaRPr>
          </a:p>
          <a:p>
            <a:pPr marL="342900" indent="-342900">
              <a:lnSpc>
                <a:spcPct val="150000"/>
              </a:lnSpc>
              <a:buFont typeface="+mj-lt"/>
              <a:buAutoNum type="arabicPeriod"/>
            </a:pPr>
            <a:r>
              <a:rPr lang="zh-CN" altLang="en-US" sz="1600" b="1" dirty="0">
                <a:solidFill>
                  <a:schemeClr val="tx1"/>
                </a:solidFill>
                <a:latin typeface="+mn-ea"/>
              </a:rPr>
              <a:t>集成纸张强度预测与再利用适用度的再生纸浆数据库构建，为造纸行业快速筛选鉴别优质再生纸浆提供了便捷智能的技术手段。</a:t>
            </a:r>
            <a:endParaRPr lang="zh-CN" altLang="en-US" sz="1600" b="1" dirty="0">
              <a:solidFill>
                <a:schemeClr val="tx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2467"/>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326738" y="0"/>
            <a:ext cx="6096000" cy="460375"/>
          </a:xfrm>
          <a:prstGeom prst="rect">
            <a:avLst/>
          </a:prstGeom>
          <a:noFill/>
        </p:spPr>
        <p:txBody>
          <a:bodyPr wrap="square">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1.4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全文技术路线图</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1" name="图片 10" descr="总技术路线V4-0416"/>
          <p:cNvPicPr>
            <a:picLocks noChangeAspect="1"/>
          </p:cNvPicPr>
          <p:nvPr/>
        </p:nvPicPr>
        <p:blipFill>
          <a:blip r:embed="rId1"/>
          <a:stretch>
            <a:fillRect/>
          </a:stretch>
        </p:blipFill>
        <p:spPr>
          <a:xfrm>
            <a:off x="3917950" y="-77470"/>
            <a:ext cx="8721725" cy="7036435"/>
          </a:xfrm>
          <a:prstGeom prst="rect">
            <a:avLst/>
          </a:prstGeom>
        </p:spPr>
      </p:pic>
      <p:sp>
        <p:nvSpPr>
          <p:cNvPr id="13" name="文本框 12"/>
          <p:cNvSpPr txBox="1"/>
          <p:nvPr/>
        </p:nvSpPr>
        <p:spPr>
          <a:xfrm>
            <a:off x="198120" y="1124585"/>
            <a:ext cx="3827780" cy="4156075"/>
          </a:xfrm>
          <a:prstGeom prst="rect">
            <a:avLst/>
          </a:prstGeom>
          <a:noFill/>
        </p:spPr>
        <p:txBody>
          <a:bodyPr wrap="square">
            <a:noAutofit/>
          </a:bodyPr>
          <a:p>
            <a:pPr>
              <a:lnSpc>
                <a:spcPct val="150000"/>
              </a:lnSpc>
              <a:spcBef>
                <a:spcPts val="600"/>
              </a:spcBef>
            </a:pPr>
            <a:r>
              <a:rPr lang="zh-CN" altLang="en-US" sz="1600" b="1" dirty="0">
                <a:latin typeface="+mn-ea"/>
              </a:rPr>
              <a:t>（</a:t>
            </a:r>
            <a:r>
              <a:rPr lang="en-US" altLang="zh-CN" sz="1600" b="1" dirty="0">
                <a:latin typeface="+mn-ea"/>
              </a:rPr>
              <a:t>1）设计再生纸浆循环回用实验，</a:t>
            </a:r>
            <a:r>
              <a:rPr lang="en-US" altLang="zh-CN" sz="1600" b="1" dirty="0">
                <a:solidFill>
                  <a:srgbClr val="FF0000"/>
                </a:solidFill>
                <a:latin typeface="+mn-ea"/>
              </a:rPr>
              <a:t>探究再生纸浆参数劣化演变规律</a:t>
            </a:r>
            <a:r>
              <a:rPr lang="zh-CN" altLang="en-US" sz="1600" b="1" dirty="0">
                <a:latin typeface="+mn-ea"/>
              </a:rPr>
              <a:t>。</a:t>
            </a:r>
            <a:endParaRPr lang="en-US" altLang="zh-CN" sz="1600" b="1" dirty="0">
              <a:latin typeface="+mn-ea"/>
            </a:endParaRPr>
          </a:p>
          <a:p>
            <a:pPr>
              <a:lnSpc>
                <a:spcPct val="150000"/>
              </a:lnSpc>
              <a:spcBef>
                <a:spcPts val="600"/>
              </a:spcBef>
            </a:pPr>
            <a:r>
              <a:rPr lang="zh-CN" altLang="en-US" sz="1600" b="1" dirty="0">
                <a:latin typeface="+mn-ea"/>
              </a:rPr>
              <a:t>（</a:t>
            </a:r>
            <a:r>
              <a:rPr lang="en-US" altLang="zh-CN" sz="1600" b="1" dirty="0">
                <a:latin typeface="+mn-ea"/>
              </a:rPr>
              <a:t>2</a:t>
            </a:r>
            <a:r>
              <a:rPr lang="zh-CN" altLang="en-US" sz="1600" b="1" dirty="0">
                <a:latin typeface="+mn-ea"/>
              </a:rPr>
              <a:t>）对实验数据进行处理后，使用随机森林算法构建</a:t>
            </a:r>
            <a:r>
              <a:rPr lang="zh-CN" altLang="en-US" sz="1600" b="1" dirty="0">
                <a:solidFill>
                  <a:srgbClr val="FF0000"/>
                </a:solidFill>
                <a:latin typeface="+mn-ea"/>
              </a:rPr>
              <a:t>再生纸张物理强度预测模型，</a:t>
            </a:r>
            <a:r>
              <a:rPr lang="zh-CN" altLang="en-US" sz="1600" b="1" dirty="0">
                <a:solidFill>
                  <a:schemeClr val="tx1"/>
                </a:solidFill>
                <a:latin typeface="+mn-ea"/>
              </a:rPr>
              <a:t>并验证模型性能。</a:t>
            </a:r>
            <a:endParaRPr lang="zh-CN" altLang="en-US" sz="1600" b="1" dirty="0">
              <a:solidFill>
                <a:schemeClr val="tx1"/>
              </a:solidFill>
              <a:latin typeface="+mn-ea"/>
            </a:endParaRPr>
          </a:p>
          <a:p>
            <a:pPr>
              <a:lnSpc>
                <a:spcPct val="150000"/>
              </a:lnSpc>
              <a:spcBef>
                <a:spcPts val="600"/>
              </a:spcBef>
            </a:pPr>
            <a:r>
              <a:rPr lang="zh-CN" altLang="en-US" sz="1600" b="1" dirty="0">
                <a:latin typeface="+mn-ea"/>
              </a:rPr>
              <a:t>（</a:t>
            </a:r>
            <a:r>
              <a:rPr lang="en-US" altLang="zh-CN" sz="1600" b="1" dirty="0">
                <a:latin typeface="+mn-ea"/>
              </a:rPr>
              <a:t>3</a:t>
            </a:r>
            <a:r>
              <a:rPr lang="zh-CN" altLang="en-US" sz="1600" b="1" dirty="0">
                <a:latin typeface="+mn-ea"/>
              </a:rPr>
              <a:t>）</a:t>
            </a:r>
            <a:r>
              <a:rPr lang="zh-CN" altLang="en-US" sz="1600" b="1" dirty="0">
                <a:solidFill>
                  <a:schemeClr val="tx1"/>
                </a:solidFill>
                <a:latin typeface="+mn-ea"/>
              </a:rPr>
              <a:t>提出再生纸浆再利用适用度定义，</a:t>
            </a:r>
            <a:r>
              <a:rPr lang="zh-CN" altLang="en-US" sz="1600" b="1" dirty="0">
                <a:solidFill>
                  <a:srgbClr val="FF0000"/>
                </a:solidFill>
                <a:latin typeface="+mn-ea"/>
              </a:rPr>
              <a:t>建立混合法评价体系</a:t>
            </a:r>
            <a:r>
              <a:rPr lang="zh-CN" altLang="en-US" sz="1600" b="1" dirty="0">
                <a:solidFill>
                  <a:schemeClr val="tx1"/>
                </a:solidFill>
                <a:latin typeface="+mn-ea"/>
              </a:rPr>
              <a:t>并计算权重，验证其实际应用适应性。</a:t>
            </a:r>
            <a:endParaRPr lang="zh-CN" altLang="en-US" sz="1600" b="1" dirty="0">
              <a:solidFill>
                <a:schemeClr val="tx1"/>
              </a:solidFill>
              <a:latin typeface="+mn-ea"/>
            </a:endParaRPr>
          </a:p>
          <a:p>
            <a:pPr>
              <a:lnSpc>
                <a:spcPct val="150000"/>
              </a:lnSpc>
              <a:spcBef>
                <a:spcPts val="600"/>
              </a:spcBef>
            </a:pPr>
            <a:r>
              <a:rPr lang="zh-CN" altLang="en-US" sz="1600" b="1" dirty="0">
                <a:solidFill>
                  <a:schemeClr val="tx1"/>
                </a:solidFill>
                <a:latin typeface="+mn-ea"/>
              </a:rPr>
              <a:t>（</a:t>
            </a:r>
            <a:r>
              <a:rPr lang="en-US" altLang="zh-CN" sz="1600" b="1" dirty="0">
                <a:solidFill>
                  <a:schemeClr val="tx1"/>
                </a:solidFill>
                <a:latin typeface="+mn-ea"/>
              </a:rPr>
              <a:t>4</a:t>
            </a:r>
            <a:r>
              <a:rPr lang="zh-CN" altLang="en-US" sz="1600" b="1" dirty="0">
                <a:solidFill>
                  <a:schemeClr val="tx1"/>
                </a:solidFill>
                <a:latin typeface="+mn-ea"/>
              </a:rPr>
              <a:t>）依据评价系统设计并</a:t>
            </a:r>
            <a:r>
              <a:rPr lang="zh-CN" altLang="en-US" sz="1600" b="1" dirty="0">
                <a:solidFill>
                  <a:srgbClr val="FF0000"/>
                </a:solidFill>
                <a:latin typeface="+mn-ea"/>
              </a:rPr>
              <a:t>建立再生纸浆数据库</a:t>
            </a:r>
            <a:r>
              <a:rPr lang="zh-CN" altLang="en-US" sz="1600" b="1" dirty="0">
                <a:solidFill>
                  <a:schemeClr val="tx1"/>
                </a:solidFill>
                <a:latin typeface="+mn-ea"/>
              </a:rPr>
              <a:t>，开发交互界面集成功能，</a:t>
            </a:r>
            <a:r>
              <a:rPr lang="zh-CN" altLang="en-US" sz="1600" b="1" dirty="0">
                <a:solidFill>
                  <a:srgbClr val="FF0000"/>
                </a:solidFill>
                <a:latin typeface="+mn-ea"/>
              </a:rPr>
              <a:t>实现再生纸浆再利用适用度量化计算</a:t>
            </a:r>
            <a:r>
              <a:rPr lang="zh-CN" altLang="en-US" sz="1600" b="1" dirty="0">
                <a:solidFill>
                  <a:schemeClr val="tx1"/>
                </a:solidFill>
                <a:latin typeface="+mn-ea"/>
              </a:rPr>
              <a:t>。</a:t>
            </a:r>
            <a:endParaRPr lang="zh-CN" altLang="en-US" sz="1600" b="1" dirty="0">
              <a:solidFill>
                <a:schemeClr val="tx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0" y="0"/>
            <a:ext cx="4990011" cy="5918934"/>
          </a:xfrm>
          <a:prstGeom prst="triangle">
            <a:avLst>
              <a:gd name="adj" fmla="val 10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0" y="3657601"/>
            <a:ext cx="10972800" cy="3200400"/>
          </a:xfrm>
          <a:prstGeom prst="triangle">
            <a:avLst>
              <a:gd name="adj" fmla="val 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629871" y="1258976"/>
            <a:ext cx="6476275" cy="3685800"/>
            <a:chOff x="4603018" y="3207206"/>
            <a:chExt cx="4020218" cy="3685800"/>
          </a:xfrm>
        </p:grpSpPr>
        <p:sp>
          <p:nvSpPr>
            <p:cNvPr id="44" name="矩形 43"/>
            <p:cNvSpPr/>
            <p:nvPr/>
          </p:nvSpPr>
          <p:spPr>
            <a:xfrm>
              <a:off x="4603018" y="3207206"/>
              <a:ext cx="2985964" cy="707886"/>
            </a:xfrm>
            <a:prstGeom prst="rect">
              <a:avLst/>
            </a:prstGeom>
          </p:spPr>
          <p:txBody>
            <a:bodyPr wrap="square">
              <a:spAutoFit/>
            </a:bodyPr>
            <a:lstStyle/>
            <a:p>
              <a:pPr algn="ctr"/>
              <a:r>
                <a:rPr lang="zh-CN" altLang="en-US" sz="4000" b="1" dirty="0">
                  <a:solidFill>
                    <a:srgbClr val="024DA2"/>
                  </a:solidFill>
                  <a:latin typeface="微软雅黑" panose="020B0503020204020204" pitchFamily="34" charset="-122"/>
                  <a:ea typeface="微软雅黑" panose="020B0503020204020204" pitchFamily="34" charset="-122"/>
                </a:rPr>
                <a:t>目录</a:t>
              </a:r>
              <a:endParaRPr lang="zh-CN" altLang="en-US" sz="4000" b="1" dirty="0">
                <a:solidFill>
                  <a:srgbClr val="024DA2"/>
                </a:solidFill>
                <a:latin typeface="微软雅黑" panose="020B0503020204020204" pitchFamily="34" charset="-122"/>
                <a:ea typeface="微软雅黑" panose="020B0503020204020204" pitchFamily="34" charset="-122"/>
              </a:endParaRPr>
            </a:p>
          </p:txBody>
        </p:sp>
        <p:sp>
          <p:nvSpPr>
            <p:cNvPr id="45" name="矩形 44"/>
            <p:cNvSpPr/>
            <p:nvPr/>
          </p:nvSpPr>
          <p:spPr>
            <a:xfrm>
              <a:off x="5099241" y="4031696"/>
              <a:ext cx="3523995" cy="2861310"/>
            </a:xfrm>
            <a:prstGeom prst="rect">
              <a:avLst/>
            </a:prstGeom>
          </p:spPr>
          <p:txBody>
            <a:bodyPr wrap="square">
              <a:spAutoFit/>
            </a:bodyPr>
            <a:lstStyle/>
            <a:p>
              <a:pPr marL="514350" indent="-514350">
                <a:lnSpc>
                  <a:spcPct val="150000"/>
                </a:lnSpc>
                <a:buFont typeface="+mj-lt"/>
                <a:buAutoNum type="arabicPeriod"/>
              </a:pPr>
              <a:r>
                <a:rPr lang="zh-CN" altLang="en-US" sz="2000" b="1" dirty="0">
                  <a:solidFill>
                    <a:schemeClr val="tx1"/>
                  </a:solidFill>
                  <a:latin typeface="微软雅黑" panose="020B0503020204020204" pitchFamily="34" charset="-122"/>
                  <a:ea typeface="微软雅黑" panose="020B0503020204020204" pitchFamily="34" charset="-122"/>
                </a:rPr>
                <a:t>课题研究背景及意义</a:t>
              </a:r>
              <a:endParaRPr lang="en-US" altLang="zh-CN" sz="2000" b="1" dirty="0">
                <a:solidFill>
                  <a:schemeClr val="tx1"/>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solidFill>
                    <a:srgbClr val="FF0000"/>
                  </a:solidFill>
                  <a:latin typeface="微软雅黑" panose="020B0503020204020204" pitchFamily="34" charset="-122"/>
                  <a:ea typeface="微软雅黑" panose="020B0503020204020204" pitchFamily="34" charset="-122"/>
                </a:rPr>
                <a:t>再生纸浆循环回用纤维劣化研究</a:t>
              </a:r>
              <a:endParaRPr lang="zh-CN" altLang="en-US" sz="2000" b="1" dirty="0">
                <a:solidFill>
                  <a:srgbClr val="FF0000"/>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再生纸张物理强度预测模型构建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再生纸浆再利用适用度评价体系构建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再生纸浆数据库构建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总结与展望</a:t>
              </a:r>
              <a:endParaRPr lang="en-US" altLang="zh-CN" sz="2000" b="1" dirty="0">
                <a:latin typeface="微软雅黑" panose="020B0503020204020204" pitchFamily="34" charset="-122"/>
                <a:ea typeface="微软雅黑" panose="020B0503020204020204" pitchFamily="34" charset="-122"/>
              </a:endParaRPr>
            </a:p>
          </p:txBody>
        </p:sp>
        <p:sp>
          <p:nvSpPr>
            <p:cNvPr id="47" name="等腰三角形 46"/>
            <p:cNvSpPr/>
            <p:nvPr/>
          </p:nvSpPr>
          <p:spPr>
            <a:xfrm flipV="1">
              <a:off x="6000750" y="3915093"/>
              <a:ext cx="190500" cy="16422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pic>
        <p:nvPicPr>
          <p:cNvPr id="11"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431" y="5355806"/>
            <a:ext cx="3042950" cy="12678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316"/>
    </mc:Choice>
    <mc:Fallback>
      <p:transition spd="slow" advTm="431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58495" y="2115820"/>
            <a:ext cx="5247005" cy="1568450"/>
          </a:xfrm>
          <a:prstGeom prst="rect">
            <a:avLst/>
          </a:prstGeom>
          <a:noFill/>
        </p:spPr>
        <p:txBody>
          <a:bodyPr wrap="square">
            <a:spAutoFit/>
          </a:bodyPr>
          <a:lstStyle/>
          <a:p>
            <a:pPr marL="285750" indent="-285750">
              <a:lnSpc>
                <a:spcPct val="150000"/>
              </a:lnSpc>
              <a:buFont typeface="Wingdings" panose="05000000000000000000" charset="0"/>
              <a:buChar char="Ø"/>
            </a:pPr>
            <a:r>
              <a:rPr lang="zh-CN" altLang="en-US" sz="1600" b="1" dirty="0">
                <a:solidFill>
                  <a:prstClr val="black"/>
                </a:solidFill>
                <a:latin typeface="+mn-ea"/>
                <a:cs typeface="Times New Roman" panose="02020603050405020304" pitchFamily="18" charset="0"/>
              </a:rPr>
              <a:t>设计再生纸浆循环回用实验探究</a:t>
            </a:r>
            <a:r>
              <a:rPr lang="zh-CN" altLang="en-US" sz="1600" b="1" dirty="0">
                <a:solidFill>
                  <a:srgbClr val="FF0000"/>
                </a:solidFill>
                <a:latin typeface="+mn-ea"/>
                <a:cs typeface="Times New Roman" panose="02020603050405020304" pitchFamily="18" charset="0"/>
              </a:rPr>
              <a:t>纤维动态劣化规律</a:t>
            </a:r>
            <a:endParaRPr lang="zh-CN" altLang="en-US" sz="1600" b="1" dirty="0">
              <a:solidFill>
                <a:prstClr val="black"/>
              </a:solidFill>
              <a:latin typeface="+mn-ea"/>
              <a:cs typeface="Times New Roman" panose="02020603050405020304" pitchFamily="18" charset="0"/>
            </a:endParaRPr>
          </a:p>
          <a:p>
            <a:pPr marL="285750" indent="-285750">
              <a:lnSpc>
                <a:spcPct val="150000"/>
              </a:lnSpc>
              <a:buFont typeface="Wingdings" panose="05000000000000000000" charset="0"/>
              <a:buChar char="Ø"/>
            </a:pPr>
            <a:endParaRPr lang="zh-CN" altLang="en-US" sz="1600" b="1" dirty="0">
              <a:solidFill>
                <a:prstClr val="black"/>
              </a:solidFill>
              <a:latin typeface="+mn-ea"/>
              <a:cs typeface="Times New Roman" panose="02020603050405020304" pitchFamily="18" charset="0"/>
            </a:endParaRPr>
          </a:p>
          <a:p>
            <a:pPr marL="285750" indent="-285750">
              <a:lnSpc>
                <a:spcPct val="150000"/>
              </a:lnSpc>
              <a:buFont typeface="Wingdings" panose="05000000000000000000" charset="0"/>
              <a:buChar char="Ø"/>
            </a:pPr>
            <a:r>
              <a:rPr lang="zh-CN" altLang="en-US" sz="1600" b="1" dirty="0">
                <a:solidFill>
                  <a:prstClr val="black"/>
                </a:solidFill>
                <a:latin typeface="+mn-ea"/>
                <a:cs typeface="Times New Roman" panose="02020603050405020304" pitchFamily="18" charset="0"/>
              </a:rPr>
              <a:t>解析纤维长度分布偏移、纤维形态变化的协同作用规律，并</a:t>
            </a:r>
            <a:r>
              <a:rPr lang="zh-CN" altLang="en-US" sz="1600" b="1" dirty="0">
                <a:solidFill>
                  <a:srgbClr val="FF0000"/>
                </a:solidFill>
                <a:latin typeface="+mn-ea"/>
                <a:cs typeface="Times New Roman" panose="02020603050405020304" pitchFamily="18" charset="0"/>
              </a:rPr>
              <a:t>探寻纤维形态</a:t>
            </a:r>
            <a:r>
              <a:rPr lang="zh-CN" altLang="en-US" sz="1600" b="1" dirty="0">
                <a:solidFill>
                  <a:srgbClr val="FF0000"/>
                </a:solidFill>
                <a:latin typeface="+mn-ea"/>
                <a:cs typeface="Times New Roman" panose="02020603050405020304" pitchFamily="18" charset="0"/>
              </a:rPr>
              <a:t>参数对纸张强度的贡献度</a:t>
            </a:r>
            <a:endParaRPr lang="zh-CN" altLang="en-US" sz="1600" b="1" dirty="0">
              <a:solidFill>
                <a:srgbClr val="FF0000"/>
              </a:solidFill>
              <a:latin typeface="+mn-ea"/>
              <a:cs typeface="Times New Roman" panose="02020603050405020304" pitchFamily="18" charset="0"/>
            </a:endParaRPr>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2.1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研究路线</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22" name="图片 22" descr="E:/11AA研究生学习/毕设/0411修改/技术路线/第二章V2-0413.png第二章V2-0413"/>
          <p:cNvPicPr>
            <a:picLocks noChangeAspect="1"/>
          </p:cNvPicPr>
          <p:nvPr/>
        </p:nvPicPr>
        <p:blipFill>
          <a:blip r:embed="rId1"/>
          <a:srcRect t="3011" b="1276"/>
          <a:stretch>
            <a:fillRect/>
          </a:stretch>
        </p:blipFill>
        <p:spPr>
          <a:xfrm>
            <a:off x="6213475" y="622300"/>
            <a:ext cx="4663440" cy="589089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379210" y="1678305"/>
            <a:ext cx="5734685" cy="4399915"/>
          </a:xfrm>
          <a:prstGeom prst="rect">
            <a:avLst/>
          </a:prstGeom>
          <a:noFill/>
        </p:spPr>
        <p:txBody>
          <a:bodyPr wrap="square">
            <a:spAutoFit/>
          </a:bodyPr>
          <a:lstStyle/>
          <a:p>
            <a:pPr marL="285750" indent="-285750" algn="l">
              <a:lnSpc>
                <a:spcPct val="150000"/>
              </a:lnSpc>
              <a:buFont typeface="Wingdings" panose="05000000000000000000" pitchFamily="2" charset="2"/>
              <a:buChar char="p"/>
            </a:pPr>
            <a:r>
              <a:rPr lang="zh-CN" altLang="en-US" sz="1600" b="1" i="0" dirty="0">
                <a:solidFill>
                  <a:srgbClr val="C55A11"/>
                </a:solidFill>
                <a:effectLst/>
                <a:latin typeface="+mn-ea"/>
                <a:cs typeface="Times New Roman" panose="02020603050405020304" pitchFamily="18" charset="0"/>
              </a:rPr>
              <a:t>样品参数</a:t>
            </a:r>
            <a:r>
              <a:rPr lang="en-US" altLang="zh-CN" sz="1600" b="1" dirty="0">
                <a:solidFill>
                  <a:srgbClr val="C55A11"/>
                </a:solidFill>
                <a:latin typeface="+mn-ea"/>
                <a:cs typeface="Times New Roman" panose="02020603050405020304" pitchFamily="18" charset="0"/>
              </a:rPr>
              <a:t>:</a:t>
            </a:r>
            <a:endParaRPr lang="en-US" altLang="zh-CN" sz="1600" b="1" dirty="0">
              <a:solidFill>
                <a:srgbClr val="C55A11"/>
              </a:solidFill>
              <a:latin typeface="+mn-ea"/>
              <a:cs typeface="Times New Roman" panose="02020603050405020304" pitchFamily="18" charset="0"/>
            </a:endParaRPr>
          </a:p>
          <a:p>
            <a:pPr>
              <a:lnSpc>
                <a:spcPct val="150000"/>
              </a:lnSpc>
            </a:pPr>
            <a:r>
              <a:rPr lang="en-US" altLang="zh-CN" sz="1600" b="1" dirty="0">
                <a:latin typeface="+mn-ea"/>
                <a:cs typeface="Times New Roman" panose="02020603050405020304" pitchFamily="18" charset="0"/>
              </a:rPr>
              <a:t>a.</a:t>
            </a:r>
            <a:r>
              <a:rPr lang="zh-CN" altLang="en-US" sz="1600" b="1" dirty="0">
                <a:latin typeface="+mn-ea"/>
                <a:cs typeface="Times New Roman" panose="02020603050405020304" pitchFamily="18" charset="0"/>
              </a:rPr>
              <a:t>以进口</a:t>
            </a:r>
            <a:r>
              <a:rPr lang="zh-CN" altLang="en-US" sz="1600" b="1" dirty="0">
                <a:latin typeface="+mn-ea"/>
                <a:cs typeface="Times New Roman" panose="02020603050405020304" pitchFamily="18" charset="0"/>
                <a:sym typeface="+mn-ea"/>
              </a:rPr>
              <a:t>美废</a:t>
            </a:r>
            <a:r>
              <a:rPr lang="en-US" altLang="zh-CN" sz="1600" b="1" dirty="0">
                <a:latin typeface="+mn-ea"/>
                <a:cs typeface="Times New Roman" panose="02020603050405020304" pitchFamily="18" charset="0"/>
                <a:sym typeface="+mn-ea"/>
              </a:rPr>
              <a:t>12#</a:t>
            </a:r>
            <a:r>
              <a:rPr lang="zh-CN" altLang="en-US" sz="1600" b="1" dirty="0">
                <a:latin typeface="+mn-ea"/>
                <a:cs typeface="Times New Roman" panose="02020603050405020304" pitchFamily="18" charset="0"/>
                <a:sym typeface="+mn-ea"/>
              </a:rPr>
              <a:t>再生纸浆</a:t>
            </a:r>
            <a:r>
              <a:rPr lang="zh-CN" altLang="en-US" sz="1600" b="1" dirty="0">
                <a:latin typeface="+mn-ea"/>
                <a:cs typeface="Times New Roman" panose="02020603050405020304" pitchFamily="18" charset="0"/>
              </a:rPr>
              <a:t>为</a:t>
            </a:r>
            <a:r>
              <a:rPr lang="zh-CN" altLang="en-US" sz="1600" b="1" dirty="0">
                <a:latin typeface="+mn-ea"/>
                <a:cs typeface="Times New Roman" panose="02020603050405020304" pitchFamily="18" charset="0"/>
                <a:sym typeface="+mn-ea"/>
              </a:rPr>
              <a:t>原料</a:t>
            </a:r>
            <a:r>
              <a:rPr lang="en-US" altLang="zh-CN" sz="1600" b="1" dirty="0">
                <a:latin typeface="+mn-ea"/>
                <a:cs typeface="Times New Roman" panose="02020603050405020304" pitchFamily="18" charset="0"/>
              </a:rPr>
              <a:t>;</a:t>
            </a:r>
            <a:endParaRPr lang="en-US" altLang="zh-CN" sz="1600" b="1" dirty="0">
              <a:latin typeface="+mn-ea"/>
              <a:cs typeface="Times New Roman" panose="02020603050405020304" pitchFamily="18" charset="0"/>
            </a:endParaRPr>
          </a:p>
          <a:p>
            <a:pPr>
              <a:lnSpc>
                <a:spcPct val="150000"/>
              </a:lnSpc>
            </a:pPr>
            <a:r>
              <a:rPr lang="en-US" altLang="zh-CN" sz="1600" b="1" dirty="0">
                <a:latin typeface="+mn-ea"/>
                <a:cs typeface="Times New Roman" panose="02020603050405020304" pitchFamily="18" charset="0"/>
              </a:rPr>
              <a:t>b.</a:t>
            </a:r>
            <a:r>
              <a:rPr lang="zh-CN" altLang="en-US" sz="1600" b="1" i="0" dirty="0">
                <a:effectLst/>
                <a:latin typeface="+mn-ea"/>
                <a:cs typeface="Times New Roman" panose="02020603050405020304" pitchFamily="18" charset="0"/>
              </a:rPr>
              <a:t>进行显微观察、纤维分析检测，得到再生纸浆的</a:t>
            </a:r>
            <a:r>
              <a:rPr lang="en-US" altLang="zh-CN" sz="1600" b="1" i="0" dirty="0">
                <a:solidFill>
                  <a:srgbClr val="FF0000"/>
                </a:solidFill>
                <a:effectLst/>
                <a:latin typeface="+mn-ea"/>
                <a:cs typeface="Times New Roman" panose="02020603050405020304" pitchFamily="18" charset="0"/>
              </a:rPr>
              <a:t>22</a:t>
            </a:r>
            <a:r>
              <a:rPr lang="zh-CN" altLang="en-US" sz="1600" b="1" i="0" dirty="0">
                <a:solidFill>
                  <a:srgbClr val="FF0000"/>
                </a:solidFill>
                <a:effectLst/>
                <a:latin typeface="+mn-ea"/>
                <a:cs typeface="Times New Roman" panose="02020603050405020304" pitchFamily="18" charset="0"/>
              </a:rPr>
              <a:t>个纤维形态参数</a:t>
            </a:r>
            <a:r>
              <a:rPr lang="en-US" altLang="zh-CN" sz="1600" b="1" i="0" dirty="0">
                <a:effectLst/>
                <a:latin typeface="+mn-ea"/>
                <a:cs typeface="Times New Roman" panose="02020603050405020304" pitchFamily="18" charset="0"/>
              </a:rPr>
              <a:t>;</a:t>
            </a:r>
            <a:endParaRPr lang="en-US" altLang="zh-CN" sz="1600" b="1" i="0" dirty="0">
              <a:effectLst/>
              <a:latin typeface="+mn-ea"/>
              <a:cs typeface="Times New Roman" panose="02020603050405020304" pitchFamily="18" charset="0"/>
            </a:endParaRPr>
          </a:p>
          <a:p>
            <a:pPr>
              <a:lnSpc>
                <a:spcPct val="150000"/>
              </a:lnSpc>
            </a:pPr>
            <a:r>
              <a:rPr lang="en-US" altLang="zh-CN" sz="1600" b="1" dirty="0">
                <a:latin typeface="+mn-ea"/>
                <a:cs typeface="Times New Roman" panose="02020603050405020304" pitchFamily="18" charset="0"/>
              </a:rPr>
              <a:t>c.</a:t>
            </a:r>
            <a:r>
              <a:rPr lang="en-US" altLang="zh-CN" sz="1600" b="1" i="0" u="none" strike="noStrike" dirty="0">
                <a:effectLst/>
                <a:latin typeface="+mn-ea"/>
                <a:cs typeface="Times New Roman" panose="02020603050405020304" pitchFamily="18" charset="0"/>
              </a:rPr>
              <a:t> </a:t>
            </a:r>
            <a:r>
              <a:rPr lang="zh-CN" altLang="en-US" sz="1600" b="1" i="0" u="none" strike="noStrike" dirty="0">
                <a:effectLst/>
                <a:latin typeface="+mn-ea"/>
                <a:cs typeface="Times New Roman" panose="02020603050405020304" pitchFamily="18" charset="0"/>
              </a:rPr>
              <a:t>制备得到了定量为</a:t>
            </a:r>
            <a:r>
              <a:rPr lang="en-US" altLang="zh-CN" sz="1600" b="1" i="0" u="none" strike="noStrike" dirty="0">
                <a:effectLst/>
                <a:latin typeface="+mn-ea"/>
                <a:cs typeface="Times New Roman" panose="02020603050405020304" pitchFamily="18" charset="0"/>
              </a:rPr>
              <a:t>75</a:t>
            </a:r>
            <a:r>
              <a:rPr lang="en-US" altLang="zh-CN" sz="1600" b="1" dirty="0">
                <a:effectLst/>
                <a:latin typeface="+mn-ea"/>
                <a:cs typeface="Times New Roman" panose="02020603050405020304" pitchFamily="18" charset="0"/>
                <a:sym typeface="+mn-ea"/>
              </a:rPr>
              <a:t>g/m</a:t>
            </a:r>
            <a:r>
              <a:rPr lang="en-US" altLang="zh-CN" sz="1600" b="1" baseline="30000" dirty="0">
                <a:effectLst/>
                <a:latin typeface="+mn-ea"/>
                <a:cs typeface="Times New Roman" panose="02020603050405020304" pitchFamily="18" charset="0"/>
                <a:sym typeface="+mn-ea"/>
              </a:rPr>
              <a:t>2</a:t>
            </a:r>
            <a:r>
              <a:rPr lang="zh-CN" altLang="en-US" sz="1600" b="1" i="0" u="none" strike="noStrike" dirty="0">
                <a:effectLst/>
                <a:latin typeface="+mn-ea"/>
                <a:cs typeface="Times New Roman" panose="02020603050405020304" pitchFamily="18" charset="0"/>
              </a:rPr>
              <a:t>的纸张并测量纸张的</a:t>
            </a:r>
            <a:r>
              <a:rPr lang="zh-CN" altLang="en-US" sz="1600" b="1" i="0" u="none" strike="noStrike" dirty="0">
                <a:solidFill>
                  <a:srgbClr val="FF0000"/>
                </a:solidFill>
                <a:effectLst/>
                <a:latin typeface="+mn-ea"/>
                <a:cs typeface="Times New Roman" panose="02020603050405020304" pitchFamily="18" charset="0"/>
              </a:rPr>
              <a:t>抗张、耐破、撕裂度</a:t>
            </a:r>
            <a:r>
              <a:rPr lang="en-US" altLang="zh-CN" sz="1600" b="1" i="0" u="none" strike="noStrike" dirty="0">
                <a:solidFill>
                  <a:schemeClr val="tx1"/>
                </a:solidFill>
                <a:effectLst/>
                <a:latin typeface="+mn-ea"/>
                <a:cs typeface="Times New Roman" panose="02020603050405020304" pitchFamily="18" charset="0"/>
              </a:rPr>
              <a:t> </a:t>
            </a:r>
            <a:r>
              <a:rPr lang="zh-CN" altLang="en-US" sz="1600" b="1" i="0" u="none" strike="noStrike" dirty="0">
                <a:solidFill>
                  <a:schemeClr val="tx1"/>
                </a:solidFill>
                <a:effectLst/>
                <a:latin typeface="+mn-ea"/>
                <a:cs typeface="Times New Roman" panose="02020603050405020304" pitchFamily="18" charset="0"/>
              </a:rPr>
              <a:t>；</a:t>
            </a:r>
            <a:endParaRPr lang="zh-CN" altLang="en-US" sz="1600" b="1" i="0" u="none" strike="noStrike" dirty="0">
              <a:effectLst/>
              <a:latin typeface="+mn-ea"/>
              <a:cs typeface="Times New Roman" panose="02020603050405020304" pitchFamily="18" charset="0"/>
            </a:endParaRPr>
          </a:p>
          <a:p>
            <a:pPr>
              <a:lnSpc>
                <a:spcPct val="150000"/>
              </a:lnSpc>
            </a:pPr>
            <a:r>
              <a:rPr lang="en-US" altLang="zh-CN" sz="1600" b="1" i="0" u="none" strike="noStrike" dirty="0">
                <a:effectLst/>
                <a:latin typeface="+mn-ea"/>
                <a:cs typeface="Times New Roman" panose="02020603050405020304" pitchFamily="18" charset="0"/>
              </a:rPr>
              <a:t>d.</a:t>
            </a:r>
            <a:r>
              <a:rPr lang="zh-CN" altLang="en-US" sz="1600" b="1" i="0" u="none" strike="noStrike" dirty="0">
                <a:effectLst/>
                <a:latin typeface="+mn-ea"/>
                <a:cs typeface="Times New Roman" panose="02020603050405020304" pitchFamily="18" charset="0"/>
              </a:rPr>
              <a:t>对纸张进行人工老化处理增加实验数据的</a:t>
            </a:r>
            <a:r>
              <a:rPr lang="zh-CN" altLang="en-US" sz="1600" b="1" i="0" u="none" strike="noStrike" dirty="0">
                <a:effectLst/>
                <a:latin typeface="+mn-ea"/>
                <a:cs typeface="Times New Roman" panose="02020603050405020304" pitchFamily="18" charset="0"/>
              </a:rPr>
              <a:t>多样性。</a:t>
            </a:r>
            <a:endParaRPr lang="zh-CN" altLang="en-US" sz="1600" b="1" i="0" u="none" strike="noStrike" dirty="0">
              <a:effectLst/>
              <a:latin typeface="+mn-ea"/>
              <a:cs typeface="Times New Roman" panose="02020603050405020304" pitchFamily="18" charset="0"/>
            </a:endParaRPr>
          </a:p>
          <a:p>
            <a:pPr>
              <a:lnSpc>
                <a:spcPct val="150000"/>
              </a:lnSpc>
            </a:pPr>
            <a:endParaRPr lang="zh-CN" altLang="en-US" sz="1600" b="1" i="0" u="none" strike="noStrike" dirty="0">
              <a:effectLst/>
              <a:latin typeface="+mn-ea"/>
              <a:cs typeface="Times New Roman" panose="02020603050405020304" pitchFamily="18" charset="0"/>
            </a:endParaRPr>
          </a:p>
          <a:p>
            <a:pPr marL="285750" indent="-285750" algn="l">
              <a:buFont typeface="Wingdings" panose="05000000000000000000" pitchFamily="2" charset="2"/>
              <a:buChar char="p"/>
            </a:pPr>
            <a:r>
              <a:rPr lang="zh-CN" altLang="en-US" sz="1600" b="1" dirty="0">
                <a:solidFill>
                  <a:srgbClr val="C55A11"/>
                </a:solidFill>
                <a:latin typeface="+mn-ea"/>
                <a:cs typeface="Times New Roman" panose="02020603050405020304" pitchFamily="18" charset="0"/>
              </a:rPr>
              <a:t>所得参数：</a:t>
            </a:r>
            <a:endParaRPr lang="zh-CN" altLang="en-US" sz="1600" b="1" dirty="0">
              <a:solidFill>
                <a:srgbClr val="C55A11"/>
              </a:solidFill>
              <a:latin typeface="+mn-ea"/>
              <a:cs typeface="Times New Roman" panose="02020603050405020304" pitchFamily="18" charset="0"/>
            </a:endParaRPr>
          </a:p>
          <a:p>
            <a:pPr indent="0" algn="l">
              <a:buFont typeface="Wingdings" panose="05000000000000000000" pitchFamily="2" charset="2"/>
              <a:buNone/>
            </a:pPr>
            <a:r>
              <a:rPr lang="en-US" altLang="zh-CN" sz="1600" b="1" dirty="0">
                <a:solidFill>
                  <a:schemeClr val="tx1"/>
                </a:solidFill>
                <a:latin typeface="+mn-ea"/>
                <a:cs typeface="Times New Roman" panose="02020603050405020304" pitchFamily="18" charset="0"/>
              </a:rPr>
              <a:t>a.</a:t>
            </a:r>
            <a:r>
              <a:rPr lang="zh-CN" altLang="en-US" sz="1600" b="1" dirty="0">
                <a:solidFill>
                  <a:schemeClr val="tx1"/>
                </a:solidFill>
                <a:latin typeface="+mn-ea"/>
                <a:cs typeface="Times New Roman" panose="02020603050405020304" pitchFamily="18" charset="0"/>
              </a:rPr>
              <a:t>纤维分析仪结果：</a:t>
            </a:r>
            <a:r>
              <a:rPr lang="en-US" altLang="zh-CN" sz="1600" b="1" dirty="0">
                <a:solidFill>
                  <a:schemeClr val="tx1"/>
                </a:solidFill>
                <a:latin typeface="+mn-ea"/>
                <a:cs typeface="Times New Roman" panose="02020603050405020304" pitchFamily="18" charset="0"/>
              </a:rPr>
              <a:t>22</a:t>
            </a:r>
            <a:r>
              <a:rPr lang="zh-CN" altLang="en-US" sz="1600" b="1" dirty="0">
                <a:solidFill>
                  <a:schemeClr val="tx1"/>
                </a:solidFill>
                <a:latin typeface="+mn-ea"/>
                <a:cs typeface="Times New Roman" panose="02020603050405020304" pitchFamily="18" charset="0"/>
              </a:rPr>
              <a:t>个纤维形态参数</a:t>
            </a:r>
            <a:endParaRPr lang="zh-CN" altLang="en-US" sz="1600" b="1" dirty="0">
              <a:solidFill>
                <a:schemeClr val="tx1"/>
              </a:solidFill>
              <a:latin typeface="+mn-ea"/>
              <a:cs typeface="Times New Roman" panose="02020603050405020304" pitchFamily="18" charset="0"/>
            </a:endParaRPr>
          </a:p>
          <a:p>
            <a:pPr indent="0" algn="l">
              <a:buFont typeface="Wingdings" panose="05000000000000000000" pitchFamily="2" charset="2"/>
              <a:buNone/>
            </a:pPr>
            <a:endParaRPr lang="zh-CN" altLang="en-US" sz="1600" b="1" dirty="0">
              <a:solidFill>
                <a:schemeClr val="tx1"/>
              </a:solidFill>
              <a:latin typeface="+mn-ea"/>
              <a:cs typeface="Times New Roman" panose="02020603050405020304" pitchFamily="18" charset="0"/>
            </a:endParaRPr>
          </a:p>
          <a:p>
            <a:pPr indent="0" algn="l">
              <a:buFont typeface="Wingdings" panose="05000000000000000000" pitchFamily="2" charset="2"/>
              <a:buNone/>
            </a:pPr>
            <a:r>
              <a:rPr lang="en-US" altLang="zh-CN" sz="1600" b="1" dirty="0">
                <a:solidFill>
                  <a:schemeClr val="tx1"/>
                </a:solidFill>
                <a:latin typeface="+mn-ea"/>
                <a:cs typeface="Times New Roman" panose="02020603050405020304" pitchFamily="18" charset="0"/>
              </a:rPr>
              <a:t>b.</a:t>
            </a:r>
            <a:r>
              <a:rPr lang="zh-CN" altLang="en-US" sz="1600" b="1" dirty="0">
                <a:solidFill>
                  <a:schemeClr val="tx1"/>
                </a:solidFill>
                <a:latin typeface="+mn-ea"/>
                <a:cs typeface="Times New Roman" panose="02020603050405020304" pitchFamily="18" charset="0"/>
              </a:rPr>
              <a:t>纸张物理强度</a:t>
            </a:r>
            <a:r>
              <a:rPr lang="zh-CN" altLang="en-US" sz="1600" b="1" dirty="0">
                <a:solidFill>
                  <a:schemeClr val="tx1"/>
                </a:solidFill>
                <a:latin typeface="+mn-ea"/>
                <a:cs typeface="Times New Roman" panose="02020603050405020304" pitchFamily="18" charset="0"/>
              </a:rPr>
              <a:t>参数</a:t>
            </a:r>
            <a:endParaRPr lang="zh-CN" altLang="en-US" sz="1600" b="1" dirty="0">
              <a:solidFill>
                <a:schemeClr val="tx1"/>
              </a:solidFill>
              <a:latin typeface="+mn-ea"/>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defRPr/>
            </a:pPr>
            <a:endParaRPr lang="en-US" altLang="zh-CN" sz="1600" b="1" dirty="0">
              <a:solidFill>
                <a:schemeClr val="tx1"/>
              </a:solidFill>
              <a:latin typeface="+mn-ea"/>
              <a:cs typeface="Times New Roman" panose="02020603050405020304" pitchFamily="18" charset="0"/>
            </a:endParaRPr>
          </a:p>
        </p:txBody>
      </p:sp>
      <p:sp>
        <p:nvSpPr>
          <p:cNvPr id="9" name="矩形 8"/>
          <p:cNvSpPr/>
          <p:nvPr/>
        </p:nvSpPr>
        <p:spPr>
          <a:xfrm>
            <a:off x="6309995" y="1584960"/>
            <a:ext cx="5803900" cy="4152265"/>
          </a:xfrm>
          <a:prstGeom prst="rect">
            <a:avLst/>
          </a:prstGeom>
          <a:noFill/>
          <a:ln w="28575">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2.2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实验设计</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200660" y="809625"/>
            <a:ext cx="5973445" cy="5618480"/>
            <a:chOff x="421106" y="1946313"/>
            <a:chExt cx="8731066" cy="4639309"/>
          </a:xfrm>
        </p:grpSpPr>
        <p:sp>
          <p:nvSpPr>
            <p:cNvPr id="8" name="矩形: 圆角 5"/>
            <p:cNvSpPr/>
            <p:nvPr/>
          </p:nvSpPr>
          <p:spPr>
            <a:xfrm>
              <a:off x="421106" y="2220015"/>
              <a:ext cx="8731066" cy="4365607"/>
            </a:xfrm>
            <a:prstGeom prst="roundRect">
              <a:avLst>
                <a:gd name="adj" fmla="val 6264"/>
              </a:avLst>
            </a:prstGeom>
            <a:noFill/>
            <a:ln w="38100">
              <a:solidFill>
                <a:srgbClr val="FBE1A3"/>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圆角 4"/>
            <p:cNvSpPr/>
            <p:nvPr/>
          </p:nvSpPr>
          <p:spPr>
            <a:xfrm>
              <a:off x="2450960" y="1946313"/>
              <a:ext cx="4742824" cy="383288"/>
            </a:xfrm>
            <a:prstGeom prst="roundRect">
              <a:avLst/>
            </a:prstGeom>
            <a:solidFill>
              <a:srgbClr val="FBE1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000" b="1" dirty="0">
                  <a:solidFill>
                    <a:schemeClr val="tx1"/>
                  </a:solidFill>
                  <a:ea typeface="微软雅黑" panose="020B0503020204020204" pitchFamily="34" charset="-122"/>
                </a:rPr>
                <a:t>再生纸浆循环回用</a:t>
              </a:r>
              <a:r>
                <a:rPr lang="zh-CN" altLang="en-US" sz="2000" b="1" dirty="0">
                  <a:solidFill>
                    <a:schemeClr val="tx1"/>
                  </a:solidFill>
                  <a:ea typeface="微软雅黑" panose="020B0503020204020204" pitchFamily="34" charset="-122"/>
                </a:rPr>
                <a:t>实验</a:t>
              </a:r>
              <a:endParaRPr lang="zh-CN" altLang="en-US" sz="2000" b="1" dirty="0">
                <a:solidFill>
                  <a:schemeClr val="tx1"/>
                </a:solidFill>
                <a:ea typeface="微软雅黑" panose="020B0503020204020204" pitchFamily="34" charset="-122"/>
              </a:endParaRPr>
            </a:p>
          </p:txBody>
        </p:sp>
      </p:grpSp>
      <p:sp>
        <p:nvSpPr>
          <p:cNvPr id="18" name="圆角矩形 17"/>
          <p:cNvSpPr/>
          <p:nvPr>
            <p:custDataLst>
              <p:tags r:id="rId1"/>
            </p:custDataLst>
          </p:nvPr>
        </p:nvSpPr>
        <p:spPr>
          <a:xfrm>
            <a:off x="853440" y="2939415"/>
            <a:ext cx="1538605" cy="421005"/>
          </a:xfrm>
          <a:prstGeom prst="roundRect">
            <a:avLst>
              <a:gd name="adj" fmla="val 50000"/>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1600" b="1" dirty="0">
                <a:solidFill>
                  <a:srgbClr val="FFFFFF"/>
                </a:solidFill>
                <a:latin typeface="+mn-ea"/>
                <a:cs typeface="+mn-ea"/>
                <a:sym typeface="+mn-ea"/>
              </a:rPr>
              <a:t>再生纸浆</a:t>
            </a:r>
            <a:endParaRPr lang="zh-CN" altLang="en-US" sz="1600" b="1" dirty="0">
              <a:solidFill>
                <a:srgbClr val="FFFFFF"/>
              </a:solidFill>
              <a:latin typeface="+mn-ea"/>
              <a:cs typeface="+mn-ea"/>
              <a:sym typeface="+mn-ea"/>
            </a:endParaRPr>
          </a:p>
        </p:txBody>
      </p:sp>
      <p:pic>
        <p:nvPicPr>
          <p:cNvPr id="97" name="图片 96" descr="E:/11AA研究生学习/中期/浆.png浆"/>
          <p:cNvPicPr>
            <a:picLocks noChangeAspect="1"/>
          </p:cNvPicPr>
          <p:nvPr>
            <p:custDataLst>
              <p:tags r:id="rId2"/>
            </p:custDataLst>
          </p:nvPr>
        </p:nvPicPr>
        <p:blipFill rotWithShape="1">
          <a:blip r:embed="rId3"/>
          <a:srcRect l="3109" r="3109"/>
          <a:stretch>
            <a:fillRect/>
          </a:stretch>
        </p:blipFill>
        <p:spPr>
          <a:xfrm>
            <a:off x="773430" y="1296035"/>
            <a:ext cx="1618615" cy="1621155"/>
          </a:xfrm>
          <a:prstGeom prst="ellipse">
            <a:avLst/>
          </a:prstGeom>
          <a:ln w="3175" cap="flat" cmpd="sng" algn="ctr">
            <a:solidFill>
              <a:schemeClr val="tx1">
                <a:lumMod val="40000"/>
                <a:lumOff val="60000"/>
                <a:alpha val="20000"/>
              </a:schemeClr>
            </a:solidFill>
            <a:prstDash val="solid"/>
            <a:round/>
            <a:headEnd type="none" w="med" len="med"/>
            <a:tailEnd type="none" w="med" len="med"/>
          </a:ln>
        </p:spPr>
      </p:pic>
      <p:sp>
        <p:nvSpPr>
          <p:cNvPr id="29" name="圆角矩形 28"/>
          <p:cNvSpPr/>
          <p:nvPr>
            <p:custDataLst>
              <p:tags r:id="rId4"/>
            </p:custDataLst>
          </p:nvPr>
        </p:nvSpPr>
        <p:spPr>
          <a:xfrm>
            <a:off x="4092575" y="5737225"/>
            <a:ext cx="1306830" cy="419100"/>
          </a:xfrm>
          <a:prstGeom prst="roundRect">
            <a:avLst>
              <a:gd name="adj" fmla="val 50000"/>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1600" b="1" dirty="0">
                <a:solidFill>
                  <a:srgbClr val="FFFFFF"/>
                </a:solidFill>
                <a:latin typeface="+mn-ea"/>
                <a:cs typeface="+mn-ea"/>
                <a:sym typeface="+mn-ea"/>
              </a:rPr>
              <a:t>纤维分析</a:t>
            </a:r>
            <a:endParaRPr lang="zh-CN" altLang="en-US" sz="1600" b="1" dirty="0">
              <a:solidFill>
                <a:srgbClr val="FFFFFF"/>
              </a:solidFill>
              <a:latin typeface="+mn-ea"/>
              <a:cs typeface="+mn-ea"/>
              <a:sym typeface="+mn-ea"/>
            </a:endParaRPr>
          </a:p>
        </p:txBody>
      </p:sp>
      <p:sp>
        <p:nvSpPr>
          <p:cNvPr id="19" name="圆角矩形 18"/>
          <p:cNvSpPr/>
          <p:nvPr>
            <p:custDataLst>
              <p:tags r:id="rId5"/>
            </p:custDataLst>
          </p:nvPr>
        </p:nvSpPr>
        <p:spPr>
          <a:xfrm>
            <a:off x="551180" y="5782945"/>
            <a:ext cx="2063115" cy="421005"/>
          </a:xfrm>
          <a:prstGeom prst="roundRect">
            <a:avLst>
              <a:gd name="adj" fmla="val 50000"/>
            </a:avLst>
          </a:prstGeom>
          <a:solidFill>
            <a:srgbClr val="4F80BD"/>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1600" b="1" dirty="0">
                <a:solidFill>
                  <a:srgbClr val="FFFFFF"/>
                </a:solidFill>
                <a:latin typeface="+mn-ea"/>
                <a:cs typeface="+mn-ea"/>
                <a:sym typeface="+mn-ea"/>
              </a:rPr>
              <a:t>抄纸、</a:t>
            </a:r>
            <a:r>
              <a:rPr lang="zh-CN" altLang="en-US" sz="1600" b="1" dirty="0">
                <a:solidFill>
                  <a:srgbClr val="FFFFFF"/>
                </a:solidFill>
                <a:latin typeface="+mn-ea"/>
                <a:cs typeface="+mn-ea"/>
                <a:sym typeface="+mn-ea"/>
              </a:rPr>
              <a:t>测量物理强度</a:t>
            </a:r>
            <a:endParaRPr lang="zh-CN" altLang="en-US" sz="1600" b="1" dirty="0">
              <a:solidFill>
                <a:srgbClr val="FFFFFF"/>
              </a:solidFill>
              <a:latin typeface="+mn-ea"/>
              <a:cs typeface="+mn-ea"/>
              <a:sym typeface="+mn-ea"/>
            </a:endParaRPr>
          </a:p>
        </p:txBody>
      </p:sp>
      <p:pic>
        <p:nvPicPr>
          <p:cNvPr id="162" name="图片 161" descr="E:/11AA研究生学习/中期/抄纸.jpg抄纸"/>
          <p:cNvPicPr>
            <a:picLocks noChangeAspect="1"/>
          </p:cNvPicPr>
          <p:nvPr>
            <p:custDataLst>
              <p:tags r:id="rId6"/>
            </p:custDataLst>
          </p:nvPr>
        </p:nvPicPr>
        <p:blipFill rotWithShape="1">
          <a:blip r:embed="rId7"/>
          <a:srcRect l="21921" r="21921"/>
          <a:stretch>
            <a:fillRect/>
          </a:stretch>
        </p:blipFill>
        <p:spPr>
          <a:xfrm>
            <a:off x="836295" y="4117340"/>
            <a:ext cx="1619250" cy="1619885"/>
          </a:xfrm>
          <a:prstGeom prst="ellipse">
            <a:avLst/>
          </a:prstGeom>
          <a:ln w="3175" cap="flat" cmpd="sng" algn="ctr">
            <a:solidFill>
              <a:schemeClr val="tx1">
                <a:lumMod val="40000"/>
                <a:lumOff val="60000"/>
                <a:alpha val="20000"/>
              </a:schemeClr>
            </a:solidFill>
            <a:prstDash val="solid"/>
            <a:round/>
            <a:headEnd type="none" w="med" len="med"/>
            <a:tailEnd type="none" w="med" len="med"/>
          </a:ln>
        </p:spPr>
      </p:pic>
      <p:pic>
        <p:nvPicPr>
          <p:cNvPr id="26" name="图片 25" descr="E:/11AA研究生学习/中期/纤维分析.png纤维分析"/>
          <p:cNvPicPr/>
          <p:nvPr>
            <p:custDataLst>
              <p:tags r:id="rId8"/>
            </p:custDataLst>
          </p:nvPr>
        </p:nvPicPr>
        <p:blipFill rotWithShape="1">
          <a:blip r:embed="rId9"/>
          <a:srcRect l="10571" r="10571"/>
          <a:stretch>
            <a:fillRect/>
          </a:stretch>
        </p:blipFill>
        <p:spPr>
          <a:xfrm>
            <a:off x="3922395" y="4098290"/>
            <a:ext cx="1620520" cy="1539875"/>
          </a:xfrm>
          <a:prstGeom prst="ellipse">
            <a:avLst/>
          </a:prstGeom>
          <a:ln w="3175" cap="flat" cmpd="sng" algn="ctr">
            <a:solidFill>
              <a:schemeClr val="tx1">
                <a:lumMod val="40000"/>
                <a:lumOff val="60000"/>
                <a:alpha val="20000"/>
              </a:schemeClr>
            </a:solidFill>
            <a:prstDash val="solid"/>
            <a:round/>
            <a:headEnd type="none" w="med" len="med"/>
            <a:tailEnd type="none" w="med" len="med"/>
          </a:ln>
        </p:spPr>
      </p:pic>
      <p:cxnSp>
        <p:nvCxnSpPr>
          <p:cNvPr id="22" name="直接箭头连接符 21"/>
          <p:cNvCxnSpPr/>
          <p:nvPr/>
        </p:nvCxnSpPr>
        <p:spPr>
          <a:xfrm>
            <a:off x="2455545" y="2234565"/>
            <a:ext cx="1406525" cy="8255"/>
          </a:xfrm>
          <a:prstGeom prst="straightConnector1">
            <a:avLst/>
          </a:prstGeom>
          <a:ln w="3810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0" name="直接箭头连接符 19"/>
          <p:cNvCxnSpPr>
            <a:endCxn id="162" idx="6"/>
          </p:cNvCxnSpPr>
          <p:nvPr/>
        </p:nvCxnSpPr>
        <p:spPr>
          <a:xfrm flipH="1" flipV="1">
            <a:off x="2455545" y="4927600"/>
            <a:ext cx="1456690" cy="9525"/>
          </a:xfrm>
          <a:prstGeom prst="straightConnector1">
            <a:avLst/>
          </a:prstGeom>
          <a:ln w="3810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1" name="直接箭头连接符 20"/>
          <p:cNvCxnSpPr/>
          <p:nvPr/>
        </p:nvCxnSpPr>
        <p:spPr>
          <a:xfrm flipV="1">
            <a:off x="1541780" y="3382010"/>
            <a:ext cx="19050" cy="741680"/>
          </a:xfrm>
          <a:prstGeom prst="straightConnector1">
            <a:avLst/>
          </a:prstGeom>
          <a:ln w="28575"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24" name="文本框 23"/>
          <p:cNvSpPr txBox="1"/>
          <p:nvPr/>
        </p:nvSpPr>
        <p:spPr>
          <a:xfrm>
            <a:off x="2517775" y="3198495"/>
            <a:ext cx="1800225" cy="556895"/>
          </a:xfrm>
          <a:prstGeom prst="rect">
            <a:avLst/>
          </a:prstGeom>
          <a:noFill/>
        </p:spPr>
        <p:txBody>
          <a:bodyPr wrap="square" rtlCol="0" anchor="t">
            <a:noAutofit/>
          </a:bodyPr>
          <a:p>
            <a:pPr algn="l">
              <a:lnSpc>
                <a:spcPct val="150000"/>
              </a:lnSpc>
              <a:spcBef>
                <a:spcPct val="0"/>
              </a:spcBef>
              <a:spcAft>
                <a:spcPct val="0"/>
              </a:spcAft>
            </a:pPr>
            <a:endParaRPr lang="zh-CN" altLang="en-US"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3" name="圆角矩形 12"/>
          <p:cNvSpPr/>
          <p:nvPr>
            <p:custDataLst>
              <p:tags r:id="rId10"/>
            </p:custDataLst>
          </p:nvPr>
        </p:nvSpPr>
        <p:spPr>
          <a:xfrm>
            <a:off x="4008120" y="2895600"/>
            <a:ext cx="1306830" cy="419100"/>
          </a:xfrm>
          <a:prstGeom prst="roundRect">
            <a:avLst>
              <a:gd name="adj" fmla="val 50000"/>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1600" b="1" dirty="0">
                <a:solidFill>
                  <a:srgbClr val="FFFFFF"/>
                </a:solidFill>
                <a:latin typeface="+mn-ea"/>
                <a:cs typeface="+mn-ea"/>
                <a:sym typeface="+mn-ea"/>
              </a:rPr>
              <a:t>显微观察</a:t>
            </a:r>
            <a:endParaRPr lang="zh-CN" altLang="en-US" sz="1600" b="1" dirty="0">
              <a:solidFill>
                <a:srgbClr val="FFFFFF"/>
              </a:solidFill>
              <a:latin typeface="+mn-ea"/>
              <a:cs typeface="+mn-ea"/>
              <a:sym typeface="+mn-ea"/>
            </a:endParaRPr>
          </a:p>
        </p:txBody>
      </p:sp>
      <p:pic>
        <p:nvPicPr>
          <p:cNvPr id="15" name="图片 14" descr="F:/桌面/纤维形态、显微观察/12号打浆后/2.3.jpg2.3"/>
          <p:cNvPicPr/>
          <p:nvPr>
            <p:custDataLst>
              <p:tags r:id="rId11"/>
            </p:custDataLst>
          </p:nvPr>
        </p:nvPicPr>
        <p:blipFill rotWithShape="1">
          <a:blip r:embed="rId12"/>
          <a:srcRect l="12357" r="12357"/>
          <a:stretch>
            <a:fillRect/>
          </a:stretch>
        </p:blipFill>
        <p:spPr>
          <a:xfrm>
            <a:off x="3896995" y="1296035"/>
            <a:ext cx="1620520" cy="1539875"/>
          </a:xfrm>
          <a:prstGeom prst="ellipse">
            <a:avLst/>
          </a:prstGeom>
          <a:ln w="3175" cap="flat" cmpd="sng" algn="ctr">
            <a:solidFill>
              <a:schemeClr val="tx1">
                <a:lumMod val="40000"/>
                <a:lumOff val="60000"/>
                <a:alpha val="20000"/>
              </a:schemeClr>
            </a:solidFill>
            <a:prstDash val="solid"/>
            <a:round/>
            <a:headEnd type="none" w="med" len="med"/>
            <a:tailEnd type="none" w="med" len="med"/>
          </a:ln>
        </p:spPr>
      </p:pic>
      <p:sp>
        <p:nvSpPr>
          <p:cNvPr id="17" name="文本框 16"/>
          <p:cNvSpPr txBox="1"/>
          <p:nvPr/>
        </p:nvSpPr>
        <p:spPr>
          <a:xfrm>
            <a:off x="1103630" y="3384550"/>
            <a:ext cx="303530" cy="709295"/>
          </a:xfrm>
          <a:prstGeom prst="rect">
            <a:avLst/>
          </a:prstGeom>
          <a:noFill/>
        </p:spPr>
        <p:txBody>
          <a:bodyPr wrap="square" rtlCol="0">
            <a:noAutofit/>
          </a:bodyPr>
          <a:p>
            <a:r>
              <a:rPr lang="zh-CN" altLang="en-US" dirty="0">
                <a:latin typeface="微软雅黑" panose="020B0503020204020204" pitchFamily="34" charset="-122"/>
                <a:ea typeface="微软雅黑" panose="020B0503020204020204" pitchFamily="34" charset="-122"/>
              </a:rPr>
              <a:t>循环</a:t>
            </a:r>
            <a:endParaRPr lang="zh-CN" altLang="en-US" dirty="0">
              <a:latin typeface="微软雅黑" panose="020B0503020204020204" pitchFamily="34" charset="-122"/>
              <a:ea typeface="微软雅黑" panose="020B0503020204020204" pitchFamily="34" charset="-122"/>
            </a:endParaRPr>
          </a:p>
        </p:txBody>
      </p:sp>
      <p:cxnSp>
        <p:nvCxnSpPr>
          <p:cNvPr id="25" name="直接箭头连接符 24"/>
          <p:cNvCxnSpPr>
            <a:stCxn id="13" idx="2"/>
          </p:cNvCxnSpPr>
          <p:nvPr/>
        </p:nvCxnSpPr>
        <p:spPr>
          <a:xfrm flipH="1">
            <a:off x="4660265" y="3314700"/>
            <a:ext cx="1270" cy="823595"/>
          </a:xfrm>
          <a:prstGeom prst="straightConnector1">
            <a:avLst/>
          </a:prstGeom>
          <a:ln w="3810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14" name="文本框 13"/>
          <p:cNvSpPr txBox="1"/>
          <p:nvPr/>
        </p:nvSpPr>
        <p:spPr>
          <a:xfrm>
            <a:off x="1589405" y="3383915"/>
            <a:ext cx="303530" cy="709295"/>
          </a:xfrm>
          <a:prstGeom prst="rect">
            <a:avLst/>
          </a:prstGeom>
          <a:noFill/>
        </p:spPr>
        <p:txBody>
          <a:bodyPr wrap="square" rtlCol="0">
            <a:noAutofit/>
          </a:bodyPr>
          <a:p>
            <a:r>
              <a:rPr lang="zh-CN" altLang="en-US" dirty="0">
                <a:latin typeface="微软雅黑" panose="020B0503020204020204" pitchFamily="34" charset="-122"/>
                <a:ea typeface="微软雅黑" panose="020B0503020204020204" pitchFamily="34" charset="-122"/>
              </a:rPr>
              <a:t>老化</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实验数据</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4949190" y="1030605"/>
            <a:ext cx="5737225" cy="1568450"/>
          </a:xfrm>
          <a:prstGeom prst="rect">
            <a:avLst/>
          </a:prstGeom>
          <a:noFill/>
        </p:spPr>
        <p:txBody>
          <a:bodyPr wrap="square" rtlCol="0">
            <a:spAutoFit/>
          </a:bodyPr>
          <a:lstStyle/>
          <a:p>
            <a:pPr marL="285750" indent="-285750">
              <a:lnSpc>
                <a:spcPct val="150000"/>
              </a:lnSpc>
              <a:buFont typeface="Wingdings" panose="05000000000000000000" pitchFamily="2" charset="2"/>
              <a:buChar char="u"/>
            </a:pPr>
            <a:r>
              <a:rPr lang="zh-CN" altLang="en-US" sz="1600" b="1" dirty="0">
                <a:latin typeface="+mn-ea"/>
              </a:rPr>
              <a:t>在本节分析中，把纤维分析及物理测试获得的数据分为纤维长度分布、纤维形态特征</a:t>
            </a:r>
            <a:r>
              <a:rPr lang="en-US" altLang="zh-CN" sz="1600" b="1" dirty="0">
                <a:latin typeface="+mn-ea"/>
              </a:rPr>
              <a:t> </a:t>
            </a:r>
            <a:r>
              <a:rPr lang="zh-CN" altLang="en-US" sz="1600" b="1" dirty="0">
                <a:latin typeface="+mn-ea"/>
              </a:rPr>
              <a:t>、纸张物理强度的动态演变规律进行分析。分项讨论可规避混杂干扰，强化因果逻辑。</a:t>
            </a:r>
            <a:endParaRPr lang="zh-CN" altLang="en-US" sz="1600" b="1" dirty="0">
              <a:latin typeface="+mn-ea"/>
            </a:endParaRPr>
          </a:p>
          <a:p>
            <a:pPr marL="285750" indent="-285750">
              <a:lnSpc>
                <a:spcPct val="150000"/>
              </a:lnSpc>
              <a:buFont typeface="Wingdings" panose="05000000000000000000" pitchFamily="2" charset="2"/>
              <a:buChar char="u"/>
            </a:pPr>
            <a:endParaRPr lang="zh-CN" altLang="en-US" sz="1600" b="1" dirty="0">
              <a:solidFill>
                <a:srgbClr val="FF0000"/>
              </a:solidFill>
              <a:latin typeface="+mn-ea"/>
            </a:endParaRPr>
          </a:p>
        </p:txBody>
      </p:sp>
      <p:pic>
        <p:nvPicPr>
          <p:cNvPr id="5" name="C9F754DE-2CAD-44b6-B708-469DEB6407EB-1" descr="C:/Users/11030/AppData/Local/Temp/wpp.urDQXuwpp"/>
          <p:cNvPicPr>
            <a:picLocks noChangeAspect="1"/>
          </p:cNvPicPr>
          <p:nvPr/>
        </p:nvPicPr>
        <p:blipFill>
          <a:blip r:embed="rId1"/>
          <a:srcRect r="8037"/>
          <a:stretch>
            <a:fillRect/>
          </a:stretch>
        </p:blipFill>
        <p:spPr>
          <a:xfrm>
            <a:off x="449898" y="2374265"/>
            <a:ext cx="4323080" cy="3338830"/>
          </a:xfrm>
          <a:prstGeom prst="rect">
            <a:avLst/>
          </a:prstGeom>
        </p:spPr>
      </p:pic>
      <p:sp>
        <p:nvSpPr>
          <p:cNvPr id="7" name="文本框 6"/>
          <p:cNvSpPr txBox="1"/>
          <p:nvPr/>
        </p:nvSpPr>
        <p:spPr>
          <a:xfrm>
            <a:off x="5224145" y="2599055"/>
            <a:ext cx="5407660" cy="829945"/>
          </a:xfrm>
          <a:prstGeom prst="rect">
            <a:avLst/>
          </a:prstGeom>
          <a:noFill/>
        </p:spPr>
        <p:txBody>
          <a:bodyPr wrap="square" rtlCol="0">
            <a:spAutoFit/>
          </a:bodyPr>
          <a:p>
            <a:pPr indent="0">
              <a:lnSpc>
                <a:spcPct val="150000"/>
              </a:lnSpc>
              <a:buFont typeface="Wingdings" panose="05000000000000000000" pitchFamily="2" charset="2"/>
              <a:buNone/>
            </a:pPr>
            <a:r>
              <a:rPr lang="zh-CN" altLang="en-US" sz="1600" b="1" dirty="0">
                <a:solidFill>
                  <a:schemeClr val="tx1"/>
                </a:solidFill>
                <a:latin typeface="+mn-ea"/>
              </a:rPr>
              <a:t>纤维长度分布属于群体统计量，需通过分布偏移量化纤维断裂重组规律</a:t>
            </a:r>
            <a:endParaRPr lang="zh-CN" altLang="en-US" sz="1600" b="1" dirty="0">
              <a:solidFill>
                <a:schemeClr val="tx1"/>
              </a:solidFill>
              <a:latin typeface="+mn-ea"/>
            </a:endParaRPr>
          </a:p>
        </p:txBody>
      </p:sp>
      <p:sp>
        <p:nvSpPr>
          <p:cNvPr id="8" name="文本框 7"/>
          <p:cNvSpPr txBox="1"/>
          <p:nvPr/>
        </p:nvSpPr>
        <p:spPr>
          <a:xfrm>
            <a:off x="5224145" y="3806190"/>
            <a:ext cx="5407660" cy="460375"/>
          </a:xfrm>
          <a:prstGeom prst="rect">
            <a:avLst/>
          </a:prstGeom>
          <a:noFill/>
        </p:spPr>
        <p:txBody>
          <a:bodyPr wrap="square" rtlCol="0">
            <a:spAutoFit/>
          </a:bodyPr>
          <a:p>
            <a:pPr indent="0">
              <a:lnSpc>
                <a:spcPct val="150000"/>
              </a:lnSpc>
              <a:buFont typeface="Wingdings" panose="05000000000000000000" pitchFamily="2" charset="2"/>
              <a:buNone/>
            </a:pPr>
            <a:r>
              <a:rPr lang="zh-CN" altLang="en-US" sz="1600" b="1" dirty="0">
                <a:solidFill>
                  <a:schemeClr val="tx1"/>
                </a:solidFill>
                <a:latin typeface="+mn-ea"/>
              </a:rPr>
              <a:t>形态特征为个体特征，需结合参数波动分析累积损伤效应</a:t>
            </a:r>
            <a:endParaRPr lang="zh-CN" altLang="en-US" sz="1600" b="1" dirty="0">
              <a:solidFill>
                <a:schemeClr val="tx1"/>
              </a:solidFill>
              <a:latin typeface="+mn-ea"/>
            </a:endParaRPr>
          </a:p>
        </p:txBody>
      </p:sp>
      <p:sp>
        <p:nvSpPr>
          <p:cNvPr id="9" name="文本框 8"/>
          <p:cNvSpPr txBox="1"/>
          <p:nvPr/>
        </p:nvSpPr>
        <p:spPr>
          <a:xfrm>
            <a:off x="5224145" y="4846320"/>
            <a:ext cx="5407660" cy="460375"/>
          </a:xfrm>
          <a:prstGeom prst="rect">
            <a:avLst/>
          </a:prstGeom>
          <a:noFill/>
        </p:spPr>
        <p:txBody>
          <a:bodyPr wrap="square" rtlCol="0">
            <a:spAutoFit/>
          </a:bodyPr>
          <a:p>
            <a:pPr indent="0">
              <a:lnSpc>
                <a:spcPct val="150000"/>
              </a:lnSpc>
              <a:buFont typeface="Wingdings" panose="05000000000000000000" pitchFamily="2" charset="2"/>
              <a:buNone/>
            </a:pPr>
            <a:r>
              <a:rPr lang="zh-CN" altLang="en-US" sz="1600" b="1" dirty="0">
                <a:solidFill>
                  <a:schemeClr val="tx1"/>
                </a:solidFill>
                <a:latin typeface="+mn-ea"/>
              </a:rPr>
              <a:t>纸张物理强度是多因素耦合的宏观性能指标</a:t>
            </a:r>
            <a:endParaRPr lang="zh-CN" altLang="en-US" sz="1600" b="1" dirty="0">
              <a:solidFill>
                <a:schemeClr val="tx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10" name="文本框 9"/>
          <p:cNvSpPr txBox="1"/>
          <p:nvPr/>
        </p:nvSpPr>
        <p:spPr>
          <a:xfrm>
            <a:off x="339153" y="4639"/>
            <a:ext cx="5558308"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实验数据分析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b="1" dirty="0">
                <a:latin typeface="+mn-ea"/>
              </a:rPr>
              <a:t> </a:t>
            </a:r>
            <a:endParaRPr lang="en-US" altLang="zh-CN" sz="2400" b="1" dirty="0">
              <a:solidFill>
                <a:schemeClr val="tx1">
                  <a:lumMod val="65000"/>
                  <a:lumOff val="35000"/>
                </a:schemeClr>
              </a:solidFill>
              <a:latin typeface="+mn-ea"/>
            </a:endParaRPr>
          </a:p>
        </p:txBody>
      </p:sp>
      <p:sp>
        <p:nvSpPr>
          <p:cNvPr id="7" name="文本框 6"/>
          <p:cNvSpPr txBox="1"/>
          <p:nvPr/>
        </p:nvSpPr>
        <p:spPr>
          <a:xfrm>
            <a:off x="2584450" y="4568825"/>
            <a:ext cx="1864995" cy="306705"/>
          </a:xfrm>
          <a:prstGeom prst="rect">
            <a:avLst/>
          </a:prstGeom>
          <a:noFill/>
        </p:spPr>
        <p:txBody>
          <a:bodyPr wrap="square" rtlCol="0">
            <a:spAutoFit/>
          </a:bodyPr>
          <a:lstStyle/>
          <a:p>
            <a:r>
              <a:rPr lang="zh-CN" altLang="en-US" sz="1400" dirty="0">
                <a:latin typeface="+mn-ea"/>
              </a:rPr>
              <a:t>纤维长度区间</a:t>
            </a:r>
            <a:r>
              <a:rPr lang="en-US" altLang="zh-CN" sz="1400" dirty="0">
                <a:latin typeface="+mn-ea"/>
              </a:rPr>
              <a:t>/mm</a:t>
            </a:r>
            <a:endParaRPr lang="en-US" altLang="zh-CN" sz="1400" dirty="0">
              <a:latin typeface="+mn-ea"/>
            </a:endParaRPr>
          </a:p>
        </p:txBody>
      </p:sp>
      <p:sp>
        <p:nvSpPr>
          <p:cNvPr id="33" name="文本框 32"/>
          <p:cNvSpPr txBox="1"/>
          <p:nvPr/>
        </p:nvSpPr>
        <p:spPr>
          <a:xfrm>
            <a:off x="545899" y="5279812"/>
            <a:ext cx="10947802" cy="829945"/>
          </a:xfrm>
          <a:prstGeom prst="rect">
            <a:avLst/>
          </a:prstGeom>
          <a:noFill/>
        </p:spPr>
        <p:txBody>
          <a:bodyPr wrap="square">
            <a:spAutoFit/>
          </a:bodyPr>
          <a:lstStyle/>
          <a:p>
            <a:pPr marL="285750" indent="-285750">
              <a:lnSpc>
                <a:spcPct val="150000"/>
              </a:lnSpc>
              <a:buFont typeface="Wingdings" panose="05000000000000000000" pitchFamily="2" charset="2"/>
              <a:buChar char="u"/>
            </a:pPr>
            <a:r>
              <a:rPr lang="zh-CN" altLang="en-US" sz="1600" b="1" dirty="0">
                <a:latin typeface="+mn-ea"/>
              </a:rPr>
              <a:t>再生纸浆的纤维长度分布呈现</a:t>
            </a:r>
            <a:r>
              <a:rPr lang="zh-CN" altLang="en-US" sz="1600" b="1" dirty="0">
                <a:solidFill>
                  <a:srgbClr val="FF0000"/>
                </a:solidFill>
                <a:latin typeface="+mn-ea"/>
              </a:rPr>
              <a:t>中间高、两边低</a:t>
            </a:r>
            <a:r>
              <a:rPr lang="zh-CN" altLang="en-US" sz="1600" b="1" dirty="0">
                <a:latin typeface="+mn-ea"/>
              </a:rPr>
              <a:t>的特征，其平均占比在区间</a:t>
            </a:r>
            <a:r>
              <a:rPr lang="en-US" altLang="zh-CN" sz="1600" b="1" dirty="0">
                <a:latin typeface="+mn-ea"/>
              </a:rPr>
              <a:t>[0.67-1.0 mm]</a:t>
            </a:r>
            <a:r>
              <a:rPr lang="zh-CN" altLang="en-US" sz="1600" b="1" dirty="0">
                <a:latin typeface="+mn-ea"/>
              </a:rPr>
              <a:t>达到峰值，具有显著集中趋势，随着纤维长度偏离该核心分布区间，其分布占比呈现双侧单调递减趋势，在其左侧该趋势尤为明显。</a:t>
            </a:r>
            <a:endParaRPr lang="zh-CN" altLang="en-US" sz="1600" b="1" dirty="0">
              <a:latin typeface="+mn-ea"/>
            </a:endParaRPr>
          </a:p>
        </p:txBody>
      </p:sp>
      <p:sp>
        <p:nvSpPr>
          <p:cNvPr id="34" name="文本框 33"/>
          <p:cNvSpPr txBox="1"/>
          <p:nvPr/>
        </p:nvSpPr>
        <p:spPr>
          <a:xfrm>
            <a:off x="0" y="6263054"/>
            <a:ext cx="10496550" cy="460375"/>
          </a:xfrm>
          <a:prstGeom prst="rect">
            <a:avLst/>
          </a:prstGeom>
          <a:noFill/>
        </p:spPr>
        <p:txBody>
          <a:bodyPr wrap="square">
            <a:spAutoFit/>
          </a:bodyPr>
          <a:lstStyle/>
          <a:p>
            <a:r>
              <a:rPr lang="en-US" altLang="zh-CN" sz="1200" dirty="0">
                <a:latin typeface="+mn-ea"/>
                <a:cs typeface="Times New Roman" panose="02020603050405020304" pitchFamily="18" charset="0"/>
              </a:rPr>
              <a:t>[1] </a:t>
            </a:r>
            <a:r>
              <a:rPr lang="zh-CN" altLang="en-US" sz="1200" dirty="0">
                <a:latin typeface="+mn-ea"/>
                <a:cs typeface="Times New Roman" panose="02020603050405020304" pitchFamily="18" charset="0"/>
              </a:rPr>
              <a:t>梁乃忠</a:t>
            </a:r>
            <a:r>
              <a:rPr lang="en-US" altLang="zh-CN" sz="1200" dirty="0">
                <a:latin typeface="+mn-ea"/>
                <a:cs typeface="Times New Roman" panose="02020603050405020304" pitchFamily="18" charset="0"/>
              </a:rPr>
              <a:t>,</a:t>
            </a:r>
            <a:r>
              <a:rPr lang="zh-CN" altLang="en-US" sz="1200" dirty="0">
                <a:latin typeface="+mn-ea"/>
                <a:cs typeface="Times New Roman" panose="02020603050405020304" pitchFamily="18" charset="0"/>
              </a:rPr>
              <a:t>陈港</a:t>
            </a:r>
            <a:r>
              <a:rPr lang="en-US" altLang="zh-CN" sz="1200" dirty="0">
                <a:latin typeface="+mn-ea"/>
                <a:cs typeface="Times New Roman" panose="02020603050405020304" pitchFamily="18" charset="0"/>
              </a:rPr>
              <a:t>.</a:t>
            </a:r>
            <a:r>
              <a:rPr lang="zh-CN" altLang="en-US" sz="1200" dirty="0">
                <a:latin typeface="+mn-ea"/>
                <a:cs typeface="Times New Roman" panose="02020603050405020304" pitchFamily="18" charset="0"/>
              </a:rPr>
              <a:t>电声技术</a:t>
            </a:r>
            <a:r>
              <a:rPr lang="en-US" altLang="zh-CN" sz="1200" dirty="0">
                <a:latin typeface="+mn-ea"/>
                <a:cs typeface="Times New Roman" panose="02020603050405020304" pitchFamily="18" charset="0"/>
              </a:rPr>
              <a:t>,2015</a:t>
            </a:r>
            <a:endParaRPr lang="en-US" altLang="zh-CN" sz="1200" dirty="0">
              <a:latin typeface="+mn-ea"/>
              <a:cs typeface="Times New Roman" panose="02020603050405020304" pitchFamily="18" charset="0"/>
            </a:endParaRPr>
          </a:p>
          <a:p>
            <a:endParaRPr lang="zh-CN" altLang="en-US" sz="1200" dirty="0">
              <a:latin typeface="+mn-ea"/>
              <a:cs typeface="Times New Roman" panose="02020603050405020304" pitchFamily="18" charset="0"/>
            </a:endParaRPr>
          </a:p>
        </p:txBody>
      </p:sp>
      <p:pic>
        <p:nvPicPr>
          <p:cNvPr id="3" name="图片 1" descr="纤维占比"/>
          <p:cNvPicPr>
            <a:picLocks noChangeAspect="1"/>
          </p:cNvPicPr>
          <p:nvPr/>
        </p:nvPicPr>
        <p:blipFill>
          <a:blip r:embed="rId1"/>
          <a:srcRect l="3015" t="4310" b="4641"/>
          <a:stretch>
            <a:fillRect/>
          </a:stretch>
        </p:blipFill>
        <p:spPr>
          <a:xfrm>
            <a:off x="812800" y="705485"/>
            <a:ext cx="5408930" cy="3893185"/>
          </a:xfrm>
          <a:prstGeom prst="rect">
            <a:avLst/>
          </a:prstGeom>
        </p:spPr>
      </p:pic>
      <p:sp>
        <p:nvSpPr>
          <p:cNvPr id="8" name="文本框 7"/>
          <p:cNvSpPr txBox="1"/>
          <p:nvPr/>
        </p:nvSpPr>
        <p:spPr>
          <a:xfrm>
            <a:off x="414655" y="1870075"/>
            <a:ext cx="398145" cy="1977390"/>
          </a:xfrm>
          <a:prstGeom prst="rect">
            <a:avLst/>
          </a:prstGeom>
          <a:noFill/>
        </p:spPr>
        <p:txBody>
          <a:bodyPr vert="eaVert" wrap="square" rtlCol="0">
            <a:spAutoFit/>
          </a:bodyPr>
          <a:p>
            <a:r>
              <a:rPr lang="zh-CN" altLang="en-US" sz="1400" dirty="0">
                <a:latin typeface="+mn-ea"/>
              </a:rPr>
              <a:t>平均占比%</a:t>
            </a:r>
            <a:endParaRPr lang="zh-CN" altLang="en-US" sz="1400" dirty="0">
              <a:latin typeface="+mn-ea"/>
            </a:endParaRPr>
          </a:p>
        </p:txBody>
      </p:sp>
      <p:pic>
        <p:nvPicPr>
          <p:cNvPr id="9" name="图片 8" descr="针叶木长度分布"/>
          <p:cNvPicPr>
            <a:picLocks noChangeAspect="1"/>
          </p:cNvPicPr>
          <p:nvPr/>
        </p:nvPicPr>
        <p:blipFill>
          <a:blip r:embed="rId2"/>
          <a:srcRect b="1310"/>
          <a:stretch>
            <a:fillRect/>
          </a:stretch>
        </p:blipFill>
        <p:spPr>
          <a:xfrm>
            <a:off x="6755765" y="1205230"/>
            <a:ext cx="4679950" cy="2487295"/>
          </a:xfrm>
          <a:prstGeom prst="rect">
            <a:avLst/>
          </a:prstGeom>
        </p:spPr>
      </p:pic>
      <p:sp>
        <p:nvSpPr>
          <p:cNvPr id="11" name="文本框 10"/>
          <p:cNvSpPr txBox="1"/>
          <p:nvPr/>
        </p:nvSpPr>
        <p:spPr>
          <a:xfrm>
            <a:off x="8225790" y="3692525"/>
            <a:ext cx="2656840" cy="306705"/>
          </a:xfrm>
          <a:prstGeom prst="rect">
            <a:avLst/>
          </a:prstGeom>
          <a:noFill/>
        </p:spPr>
        <p:txBody>
          <a:bodyPr wrap="square" rtlCol="0">
            <a:spAutoFit/>
          </a:bodyPr>
          <a:p>
            <a:r>
              <a:rPr lang="zh-CN" altLang="en-US" sz="1400" dirty="0">
                <a:latin typeface="+mn-ea"/>
              </a:rPr>
              <a:t>针叶木纤维长度分布情况</a:t>
            </a:r>
            <a:r>
              <a:rPr lang="en-US" altLang="zh-CN" sz="1400" baseline="30000" dirty="0">
                <a:latin typeface="+mn-ea"/>
              </a:rPr>
              <a:t>[1]</a:t>
            </a:r>
            <a:endParaRPr lang="en-US" altLang="zh-CN" sz="1400" baseline="30000" dirty="0">
              <a:latin typeface="+mn-ea"/>
            </a:endParaRPr>
          </a:p>
        </p:txBody>
      </p:sp>
      <p:sp>
        <p:nvSpPr>
          <p:cNvPr id="12" name="文本框 11"/>
          <p:cNvSpPr txBox="1"/>
          <p:nvPr/>
        </p:nvSpPr>
        <p:spPr>
          <a:xfrm>
            <a:off x="2265045" y="4847590"/>
            <a:ext cx="2656840" cy="306705"/>
          </a:xfrm>
          <a:prstGeom prst="rect">
            <a:avLst/>
          </a:prstGeom>
          <a:noFill/>
        </p:spPr>
        <p:txBody>
          <a:bodyPr wrap="square" rtlCol="0">
            <a:spAutoFit/>
          </a:bodyPr>
          <a:p>
            <a:r>
              <a:rPr lang="zh-CN" altLang="en-US" sz="1400" dirty="0">
                <a:latin typeface="+mn-ea"/>
              </a:rPr>
              <a:t>再生纸浆纤维长度</a:t>
            </a:r>
            <a:r>
              <a:rPr lang="zh-CN" altLang="en-US" sz="1400" dirty="0">
                <a:latin typeface="+mn-ea"/>
              </a:rPr>
              <a:t>分布情况</a:t>
            </a:r>
            <a:endParaRPr lang="zh-CN" altLang="en-US" sz="14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339153" y="4639"/>
            <a:ext cx="5558308"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实验数据分析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6824980" y="1428750"/>
            <a:ext cx="5195570" cy="4267200"/>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6940550" y="1517015"/>
            <a:ext cx="4984750" cy="2530475"/>
          </a:xfrm>
          <a:prstGeom prst="rect">
            <a:avLst/>
          </a:prstGeom>
          <a:noFill/>
        </p:spPr>
        <p:txBody>
          <a:bodyPr wrap="square" rtlCol="0">
            <a:noAutofit/>
          </a:bodyPr>
          <a:lstStyle/>
          <a:p>
            <a:pPr>
              <a:lnSpc>
                <a:spcPct val="150000"/>
              </a:lnSpc>
            </a:pPr>
            <a:r>
              <a:rPr lang="zh-CN" altLang="en-US" sz="1400" b="1" dirty="0">
                <a:latin typeface="Times New Roman" panose="02020603050405020304" pitchFamily="18" charset="0"/>
                <a:cs typeface="Times New Roman" panose="02020603050405020304" pitchFamily="18" charset="0"/>
              </a:rPr>
              <a:t>对纤维长度占比变化率表分析可知：</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在区间</a:t>
            </a:r>
            <a:r>
              <a:rPr lang="en-US" altLang="zh-CN" sz="1400" b="1" dirty="0">
                <a:latin typeface="Times New Roman" panose="02020603050405020304" pitchFamily="18" charset="0"/>
                <a:cs typeface="Times New Roman" panose="02020603050405020304" pitchFamily="18" charset="0"/>
              </a:rPr>
              <a:t>[5.01-7.5 mm]</a:t>
            </a:r>
            <a:r>
              <a:rPr lang="zh-CN" altLang="en-US" sz="1400" b="1" dirty="0">
                <a:latin typeface="Times New Roman" panose="02020603050405020304" pitchFamily="18" charset="0"/>
                <a:cs typeface="Times New Roman" panose="02020603050405020304" pitchFamily="18" charset="0"/>
              </a:rPr>
              <a:t>的长纤维变化</a:t>
            </a:r>
            <a:r>
              <a:rPr lang="zh-CN" altLang="en-US" sz="1400" b="1" dirty="0">
                <a:latin typeface="Times New Roman" panose="02020603050405020304" pitchFamily="18" charset="0"/>
                <a:cs typeface="Times New Roman" panose="02020603050405020304" pitchFamily="18" charset="0"/>
              </a:rPr>
              <a:t>率下降最大</a:t>
            </a:r>
            <a:r>
              <a:rPr lang="en-US" altLang="zh-CN"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这意味着在每次回用过程中这一区间的</a:t>
            </a:r>
            <a:r>
              <a:rPr lang="zh-CN" altLang="en-US" sz="1400" b="1" dirty="0">
                <a:solidFill>
                  <a:srgbClr val="FF0000"/>
                </a:solidFill>
                <a:latin typeface="Times New Roman" panose="02020603050405020304" pitchFamily="18" charset="0"/>
                <a:cs typeface="Times New Roman" panose="02020603050405020304" pitchFamily="18" charset="0"/>
              </a:rPr>
              <a:t>长纤维有较高比例被折断成更短的纤维</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区间</a:t>
            </a:r>
            <a:r>
              <a:rPr lang="en-US" altLang="zh-CN" sz="1400" b="1" dirty="0">
                <a:latin typeface="Times New Roman" panose="02020603050405020304" pitchFamily="18" charset="0"/>
                <a:cs typeface="Times New Roman" panose="02020603050405020304" pitchFamily="18" charset="0"/>
              </a:rPr>
              <a:t>[2.24-5.01 mm]</a:t>
            </a:r>
            <a:r>
              <a:rPr lang="zh-CN" altLang="en-US" sz="1400" b="1" dirty="0">
                <a:latin typeface="Times New Roman" panose="02020603050405020304" pitchFamily="18" charset="0"/>
                <a:cs typeface="Times New Roman" panose="02020603050405020304" pitchFamily="18" charset="0"/>
              </a:rPr>
              <a:t>有明显增长</a:t>
            </a:r>
            <a:r>
              <a:rPr lang="en-US" altLang="zh-CN"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可推测在区间</a:t>
            </a:r>
            <a:r>
              <a:rPr lang="en-US" altLang="zh-CN" sz="1400" b="1" dirty="0">
                <a:latin typeface="Times New Roman" panose="02020603050405020304" pitchFamily="18" charset="0"/>
                <a:cs typeface="Times New Roman" panose="02020603050405020304" pitchFamily="18" charset="0"/>
              </a:rPr>
              <a:t>[5.01-7.5 mm]的</a:t>
            </a:r>
            <a:r>
              <a:rPr lang="en-US" altLang="zh-CN" sz="1400" b="1" dirty="0">
                <a:solidFill>
                  <a:srgbClr val="FF0000"/>
                </a:solidFill>
                <a:latin typeface="Times New Roman" panose="02020603050405020304" pitchFamily="18" charset="0"/>
                <a:cs typeface="Times New Roman" panose="02020603050405020304" pitchFamily="18" charset="0"/>
              </a:rPr>
              <a:t>长纤维断裂产物较多的补充到在这一区间中</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en-US" altLang="zh-CN" sz="1400" b="1" dirty="0"/>
              <a:t>[&lt;0.45 mm]</a:t>
            </a:r>
            <a:r>
              <a:rPr lang="zh-CN" altLang="en-US" sz="1400" b="1" dirty="0"/>
              <a:t>区间的纤维占比随着循环回用次数的增加而下降，其原因可能是</a:t>
            </a:r>
            <a:r>
              <a:rPr lang="zh-CN" altLang="en-US" sz="1400" b="1" dirty="0">
                <a:solidFill>
                  <a:srgbClr val="FF0000"/>
                </a:solidFill>
              </a:rPr>
              <a:t>短纤维在循环回用过程中，有较多部分被解离成长度小于</a:t>
            </a:r>
            <a:r>
              <a:rPr lang="en-US" altLang="zh-CN" sz="1400" b="1" dirty="0">
                <a:solidFill>
                  <a:srgbClr val="FF0000"/>
                </a:solidFill>
              </a:rPr>
              <a:t>0.2 mm</a:t>
            </a:r>
            <a:r>
              <a:rPr lang="zh-CN" altLang="en-US" sz="1400" b="1" dirty="0">
                <a:solidFill>
                  <a:srgbClr val="FF0000"/>
                </a:solidFill>
              </a:rPr>
              <a:t>的纤维碎片</a:t>
            </a:r>
            <a:r>
              <a:rPr lang="zh-CN" altLang="en-US" sz="1400" b="1" dirty="0"/>
              <a:t>；</a:t>
            </a:r>
            <a:endParaRPr lang="zh-CN" altLang="en-US" sz="1400" b="1" dirty="0"/>
          </a:p>
          <a:p>
            <a:pPr marL="285750" indent="-285750">
              <a:lnSpc>
                <a:spcPct val="150000"/>
              </a:lnSpc>
              <a:buFont typeface="Wingdings" panose="05000000000000000000" pitchFamily="2" charset="2"/>
              <a:buChar char="p"/>
            </a:pPr>
            <a:r>
              <a:rPr lang="zh-CN" altLang="en-US" sz="1400" b="1" dirty="0"/>
              <a:t>在纤维长度在区间</a:t>
            </a:r>
            <a:r>
              <a:rPr lang="en-US" altLang="zh-CN" sz="1400" b="1" dirty="0"/>
              <a:t>[0.45-2.24 mm]</a:t>
            </a:r>
            <a:r>
              <a:rPr lang="zh-CN" altLang="en-US" sz="1400" b="1" dirty="0"/>
              <a:t>的纤维占比较为稳定，其原因可能是</a:t>
            </a:r>
            <a:r>
              <a:rPr lang="zh-CN" altLang="en-US" sz="1400" b="1" dirty="0">
                <a:solidFill>
                  <a:srgbClr val="FF0000"/>
                </a:solidFill>
              </a:rPr>
              <a:t>纤维自身的断裂解离与长纤维断裂新增的数量达到平衡</a:t>
            </a:r>
            <a:r>
              <a:rPr lang="zh-CN" altLang="en-US" sz="1400" b="1" dirty="0"/>
              <a:t>。</a:t>
            </a:r>
            <a:endParaRPr lang="zh-CN" altLang="en-US" sz="1400" b="1" dirty="0"/>
          </a:p>
        </p:txBody>
      </p:sp>
      <p:sp>
        <p:nvSpPr>
          <p:cNvPr id="8" name="文本框 7"/>
          <p:cNvSpPr txBox="1"/>
          <p:nvPr/>
        </p:nvSpPr>
        <p:spPr>
          <a:xfrm>
            <a:off x="1016000" y="1044257"/>
            <a:ext cx="5080000" cy="414020"/>
          </a:xfrm>
          <a:prstGeom prst="rect">
            <a:avLst/>
          </a:prstGeom>
        </p:spPr>
        <p:txBody>
          <a:bodyPr>
            <a:sp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纤维长度占比变化率表</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9" name="表格 8"/>
          <p:cNvGraphicFramePr/>
          <p:nvPr>
            <p:custDataLst>
              <p:tags r:id="rId1"/>
            </p:custDataLst>
          </p:nvPr>
        </p:nvGraphicFramePr>
        <p:xfrm>
          <a:off x="289560" y="1457960"/>
          <a:ext cx="6261735" cy="4526280"/>
        </p:xfrm>
        <a:graphic>
          <a:graphicData uri="http://schemas.openxmlformats.org/drawingml/2006/table">
            <a:tbl>
              <a:tblPr/>
              <a:tblGrid>
                <a:gridCol w="1783080"/>
                <a:gridCol w="1486535"/>
                <a:gridCol w="1503680"/>
                <a:gridCol w="1488440"/>
              </a:tblGrid>
              <a:tr h="411480">
                <a:tc>
                  <a:txBody>
                    <a:bodyPr/>
                    <a:p>
                      <a:pPr marL="0" indent="0" algn="ctr">
                        <a:lnSpc>
                          <a:spcPct val="150000"/>
                        </a:lnSpc>
                        <a:spcBef>
                          <a:spcPct val="0"/>
                        </a:spcBef>
                        <a:spcAft>
                          <a:spcPct val="0"/>
                        </a:spcAft>
                      </a:pPr>
                      <a:r>
                        <a:rPr lang="zh-CN" sz="1600">
                          <a:solidFill>
                            <a:srgbClr val="000000"/>
                          </a:solidFill>
                          <a:latin typeface="宋体" panose="02010600030101010101" pitchFamily="2" charset="-122"/>
                          <a:ea typeface="宋体" panose="02010600030101010101" pitchFamily="2" charset="-122"/>
                        </a:rPr>
                        <a:t>纤维长度区间</a:t>
                      </a:r>
                      <a:endParaRPr lang="zh-CN" sz="16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1→2</a:t>
                      </a:r>
                      <a:r>
                        <a:rPr lang="zh-CN" sz="1600">
                          <a:solidFill>
                            <a:srgbClr val="000000"/>
                          </a:solidFill>
                          <a:latin typeface="宋体" panose="02010600030101010101" pitchFamily="2" charset="-122"/>
                          <a:ea typeface="宋体" panose="02010600030101010101" pitchFamily="2" charset="-122"/>
                        </a:rPr>
                        <a:t>变化率</a:t>
                      </a:r>
                      <a:endParaRPr lang="zh-CN" sz="16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2→3</a:t>
                      </a:r>
                      <a:r>
                        <a:rPr lang="zh-CN" sz="1600">
                          <a:solidFill>
                            <a:srgbClr val="000000"/>
                          </a:solidFill>
                          <a:latin typeface="宋体" panose="02010600030101010101" pitchFamily="2" charset="-122"/>
                          <a:ea typeface="宋体" panose="02010600030101010101" pitchFamily="2" charset="-122"/>
                        </a:rPr>
                        <a:t>变化率</a:t>
                      </a:r>
                      <a:endParaRPr lang="zh-CN" sz="16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1→3</a:t>
                      </a:r>
                      <a:r>
                        <a:rPr lang="zh-CN" sz="1600">
                          <a:solidFill>
                            <a:srgbClr val="000000"/>
                          </a:solidFill>
                          <a:latin typeface="宋体" panose="02010600030101010101" pitchFamily="2" charset="-122"/>
                          <a:ea typeface="宋体" panose="02010600030101010101" pitchFamily="2" charset="-122"/>
                        </a:rPr>
                        <a:t>总变化率</a:t>
                      </a:r>
                      <a:endParaRPr lang="zh-CN" sz="16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0.2-0.3</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-3.05%</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-30.35%</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-32.48%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0.3-0.45</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-1.08%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-15.67%</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-16.58%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0.45-0.67</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+3.94%</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-4.63%</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-0.88%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0.67-1.0</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+4.62%</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-1.96%</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+2.57%</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1.0-1.5</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-4.36%</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+11.82%</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+6.94%</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1.5-2.24</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-6.33%</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+8.77%</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+1.88%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2.24-3.35</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-0.28%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+10.39%</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+10.08%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3.35-5.01</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+11.61%</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+3.09%</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+15.06%</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5.01-7.5</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-40.28%</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-24.03%</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-54.63%</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11480">
                <a:tc>
                  <a:txBody>
                    <a:bodyPr/>
                    <a:p>
                      <a:pPr marL="0" indent="0" algn="ctr">
                        <a:lnSpc>
                          <a:spcPct val="150000"/>
                        </a:lnSpc>
                        <a:spcBef>
                          <a:spcPct val="0"/>
                        </a:spcBef>
                        <a:spcAft>
                          <a:spcPct val="0"/>
                        </a:spcAft>
                      </a:pPr>
                      <a:r>
                        <a:rPr lang="zh-CN" sz="1600">
                          <a:solidFill>
                            <a:srgbClr val="000000"/>
                          </a:solidFill>
                          <a:latin typeface="宋体" panose="02010600030101010101" pitchFamily="2" charset="-122"/>
                          <a:ea typeface="宋体" panose="02010600030101010101" pitchFamily="2" charset="-122"/>
                        </a:rPr>
                        <a:t>＞</a:t>
                      </a:r>
                      <a:r>
                        <a:rPr lang="en-US" altLang="zh-CN" sz="1600">
                          <a:solidFill>
                            <a:srgbClr val="000000"/>
                          </a:solidFill>
                          <a:latin typeface="Times New Roman" panose="02020603050405020304"/>
                          <a:ea typeface="宋体" panose="02010600030101010101" pitchFamily="2" charset="-122"/>
                        </a:rPr>
                        <a:t>7.5</a:t>
                      </a:r>
                      <a:r>
                        <a:rPr lang="en-US" altLang="zh-CN" sz="1600">
                          <a:solidFill>
                            <a:srgbClr val="000000"/>
                          </a:solidFill>
                          <a:latin typeface="Times New Roman" panose="02020603050405020304"/>
                          <a:ea typeface="Times New Roman" panose="02020603050405020304"/>
                        </a:rPr>
                        <a:t> </a:t>
                      </a:r>
                      <a:r>
                        <a:rPr lang="en-US" altLang="zh-CN" sz="1600">
                          <a:solidFill>
                            <a:srgbClr val="000000"/>
                          </a:solidFill>
                          <a:latin typeface="Times New Roman" panose="02020603050405020304"/>
                          <a:ea typeface="宋体" panose="02010600030101010101" pitchFamily="2" charset="-122"/>
                        </a:rPr>
                        <a:t>mm</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-71.43%</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+125.00%</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600">
                          <a:solidFill>
                            <a:srgbClr val="000000"/>
                          </a:solidFill>
                          <a:latin typeface="Times New Roman" panose="02020603050405020304"/>
                          <a:ea typeface="宋体" panose="02010600030101010101" pitchFamily="2" charset="-122"/>
                        </a:rPr>
                        <a:t>-35.71%</a:t>
                      </a:r>
                      <a:endParaRPr lang="en-US" altLang="zh-CN" sz="16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sp>
        <p:nvSpPr>
          <p:cNvPr id="24" name="文本框 23"/>
          <p:cNvSpPr txBox="1"/>
          <p:nvPr/>
        </p:nvSpPr>
        <p:spPr>
          <a:xfrm>
            <a:off x="6160770" y="3973195"/>
            <a:ext cx="428625" cy="369570"/>
          </a:xfrm>
          <a:prstGeom prst="rect">
            <a:avLst/>
          </a:prstGeom>
          <a:noFill/>
        </p:spPr>
        <p:txBody>
          <a:bodyPr wrap="square">
            <a:spAutoFit/>
          </a:bodyPr>
          <a:p>
            <a:r>
              <a:rPr lang="zh-CN" altLang="en-US" sz="1800" b="1" dirty="0">
                <a:solidFill>
                  <a:srgbClr val="ED7D31"/>
                </a:solidFill>
                <a:latin typeface="+mn-ea"/>
                <a:cs typeface="Times New Roman" panose="02020603050405020304" pitchFamily="18" charset="0"/>
              </a:rPr>
              <a:t>≈</a:t>
            </a:r>
            <a:endParaRPr lang="zh-CN" altLang="en-US" dirty="0">
              <a:latin typeface="+mn-ea"/>
            </a:endParaRPr>
          </a:p>
        </p:txBody>
      </p:sp>
      <p:cxnSp>
        <p:nvCxnSpPr>
          <p:cNvPr id="11" name="直接箭头连接符 10"/>
          <p:cNvCxnSpPr/>
          <p:nvPr/>
        </p:nvCxnSpPr>
        <p:spPr>
          <a:xfrm flipV="1">
            <a:off x="6327775" y="4465955"/>
            <a:ext cx="0" cy="225425"/>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直接箭头连接符 11"/>
          <p:cNvCxnSpPr/>
          <p:nvPr/>
        </p:nvCxnSpPr>
        <p:spPr>
          <a:xfrm>
            <a:off x="6327775" y="5284470"/>
            <a:ext cx="0" cy="225425"/>
          </a:xfrm>
          <a:prstGeom prst="straightConnector1">
            <a:avLst/>
          </a:prstGeom>
          <a:ln w="38100">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直接箭头连接符 12"/>
          <p:cNvCxnSpPr/>
          <p:nvPr/>
        </p:nvCxnSpPr>
        <p:spPr>
          <a:xfrm flipV="1">
            <a:off x="6327775" y="4859655"/>
            <a:ext cx="0" cy="225425"/>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p:cNvCxnSpPr/>
          <p:nvPr/>
        </p:nvCxnSpPr>
        <p:spPr>
          <a:xfrm>
            <a:off x="6327775" y="5696585"/>
            <a:ext cx="0" cy="225425"/>
          </a:xfrm>
          <a:prstGeom prst="straightConnector1">
            <a:avLst/>
          </a:prstGeom>
          <a:ln w="38100">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15" name="直接箭头连接符 14"/>
          <p:cNvCxnSpPr/>
          <p:nvPr/>
        </p:nvCxnSpPr>
        <p:spPr>
          <a:xfrm>
            <a:off x="6327775" y="2014220"/>
            <a:ext cx="0" cy="225425"/>
          </a:xfrm>
          <a:prstGeom prst="straightConnector1">
            <a:avLst/>
          </a:prstGeom>
          <a:ln w="38100">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直接箭头连接符 15"/>
          <p:cNvCxnSpPr/>
          <p:nvPr/>
        </p:nvCxnSpPr>
        <p:spPr>
          <a:xfrm>
            <a:off x="6327775" y="2439035"/>
            <a:ext cx="0" cy="225425"/>
          </a:xfrm>
          <a:prstGeom prst="straightConnector1">
            <a:avLst/>
          </a:prstGeom>
          <a:ln w="38100">
            <a:solidFill>
              <a:srgbClr val="00B050"/>
            </a:solidFill>
            <a:tailEnd type="triangle"/>
          </a:ln>
        </p:spPr>
        <p:style>
          <a:lnRef idx="1">
            <a:schemeClr val="accent2"/>
          </a:lnRef>
          <a:fillRef idx="0">
            <a:schemeClr val="accent2"/>
          </a:fillRef>
          <a:effectRef idx="0">
            <a:schemeClr val="accent2"/>
          </a:effectRef>
          <a:fontRef idx="minor">
            <a:schemeClr val="tx1"/>
          </a:fontRef>
        </p:style>
      </p:cxnSp>
      <p:sp>
        <p:nvSpPr>
          <p:cNvPr id="17" name="文本框 16"/>
          <p:cNvSpPr txBox="1"/>
          <p:nvPr/>
        </p:nvSpPr>
        <p:spPr>
          <a:xfrm>
            <a:off x="6160770" y="3577590"/>
            <a:ext cx="428625" cy="369570"/>
          </a:xfrm>
          <a:prstGeom prst="rect">
            <a:avLst/>
          </a:prstGeom>
          <a:noFill/>
        </p:spPr>
        <p:txBody>
          <a:bodyPr wrap="square">
            <a:spAutoFit/>
          </a:bodyPr>
          <a:p>
            <a:r>
              <a:rPr lang="zh-CN" altLang="en-US" sz="1800" b="1" dirty="0">
                <a:solidFill>
                  <a:srgbClr val="ED7D31"/>
                </a:solidFill>
                <a:latin typeface="+mn-ea"/>
                <a:cs typeface="Times New Roman" panose="02020603050405020304" pitchFamily="18" charset="0"/>
              </a:rPr>
              <a:t>≈</a:t>
            </a:r>
            <a:endParaRPr lang="zh-CN" altLang="en-US" dirty="0">
              <a:latin typeface="+mn-ea"/>
            </a:endParaRPr>
          </a:p>
        </p:txBody>
      </p:sp>
      <p:sp>
        <p:nvSpPr>
          <p:cNvPr id="18" name="文本框 17"/>
          <p:cNvSpPr txBox="1"/>
          <p:nvPr/>
        </p:nvSpPr>
        <p:spPr>
          <a:xfrm>
            <a:off x="6160770" y="3151505"/>
            <a:ext cx="428625" cy="369570"/>
          </a:xfrm>
          <a:prstGeom prst="rect">
            <a:avLst/>
          </a:prstGeom>
          <a:noFill/>
        </p:spPr>
        <p:txBody>
          <a:bodyPr wrap="square">
            <a:spAutoFit/>
          </a:bodyPr>
          <a:p>
            <a:r>
              <a:rPr lang="zh-CN" altLang="en-US" sz="1800" b="1" dirty="0">
                <a:solidFill>
                  <a:srgbClr val="ED7D31"/>
                </a:solidFill>
                <a:latin typeface="+mn-ea"/>
                <a:cs typeface="Times New Roman" panose="02020603050405020304" pitchFamily="18" charset="0"/>
              </a:rPr>
              <a:t>≈</a:t>
            </a:r>
            <a:endParaRPr lang="zh-CN" altLang="en-US" dirty="0">
              <a:latin typeface="+mn-ea"/>
            </a:endParaRPr>
          </a:p>
        </p:txBody>
      </p:sp>
      <p:sp>
        <p:nvSpPr>
          <p:cNvPr id="19" name="文本框 18"/>
          <p:cNvSpPr txBox="1"/>
          <p:nvPr/>
        </p:nvSpPr>
        <p:spPr>
          <a:xfrm>
            <a:off x="6160770" y="2766695"/>
            <a:ext cx="428625" cy="369570"/>
          </a:xfrm>
          <a:prstGeom prst="rect">
            <a:avLst/>
          </a:prstGeom>
          <a:noFill/>
        </p:spPr>
        <p:txBody>
          <a:bodyPr wrap="square">
            <a:spAutoFit/>
          </a:bodyPr>
          <a:p>
            <a:r>
              <a:rPr lang="zh-CN" altLang="en-US" sz="1800" b="1" dirty="0">
                <a:solidFill>
                  <a:srgbClr val="ED7D31"/>
                </a:solidFill>
                <a:latin typeface="+mn-ea"/>
                <a:cs typeface="Times New Roman" panose="02020603050405020304" pitchFamily="18" charset="0"/>
              </a:rPr>
              <a:t>≈</a:t>
            </a:r>
            <a:endParaRPr lang="zh-CN" altLang="en-US"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0" name="文本框 9"/>
          <p:cNvSpPr txBox="1"/>
          <p:nvPr/>
        </p:nvSpPr>
        <p:spPr>
          <a:xfrm>
            <a:off x="339153" y="4639"/>
            <a:ext cx="5558308"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实验数据分析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b="1" dirty="0">
                <a:latin typeface="+mn-ea"/>
              </a:rPr>
              <a:t> </a:t>
            </a:r>
            <a:endParaRPr lang="en-US" altLang="zh-CN" sz="2400" b="1" dirty="0">
              <a:solidFill>
                <a:schemeClr val="tx1">
                  <a:lumMod val="65000"/>
                  <a:lumOff val="35000"/>
                </a:schemeClr>
              </a:solidFill>
              <a:latin typeface="+mn-ea"/>
            </a:endParaRPr>
          </a:p>
        </p:txBody>
      </p:sp>
      <p:sp>
        <p:nvSpPr>
          <p:cNvPr id="11" name="文本框 10"/>
          <p:cNvSpPr txBox="1"/>
          <p:nvPr/>
        </p:nvSpPr>
        <p:spPr>
          <a:xfrm>
            <a:off x="462280" y="4345940"/>
            <a:ext cx="5579745" cy="1568450"/>
          </a:xfrm>
          <a:prstGeom prst="rect">
            <a:avLst/>
          </a:prstGeom>
          <a:noFill/>
        </p:spPr>
        <p:txBody>
          <a:bodyPr wrap="square" rtlCol="0">
            <a:spAutoFit/>
          </a:bodyPr>
          <a:lstStyle/>
          <a:p>
            <a:pPr>
              <a:lnSpc>
                <a:spcPct val="150000"/>
              </a:lnSpc>
            </a:pPr>
            <a:r>
              <a:rPr lang="zh-CN" altLang="en-US" sz="1600" b="1" dirty="0">
                <a:latin typeface="+mn-ea"/>
                <a:cs typeface="Times New Roman" panose="02020603050405020304" pitchFamily="18" charset="0"/>
              </a:rPr>
              <a:t>本文研究的</a:t>
            </a:r>
            <a:r>
              <a:rPr lang="zh-CN" altLang="en-US" sz="1600" b="1" dirty="0">
                <a:solidFill>
                  <a:srgbClr val="FF0000"/>
                </a:solidFill>
                <a:latin typeface="+mn-ea"/>
                <a:cs typeface="Times New Roman" panose="02020603050405020304" pitchFamily="18" charset="0"/>
              </a:rPr>
              <a:t>纤维形态特征</a:t>
            </a:r>
            <a:r>
              <a:rPr lang="zh-CN" altLang="en-US" sz="1600" b="1" dirty="0">
                <a:latin typeface="+mn-ea"/>
                <a:cs typeface="Times New Roman" panose="02020603050405020304" pitchFamily="18" charset="0"/>
              </a:rPr>
              <a:t>包括：</a:t>
            </a:r>
            <a:endParaRPr lang="zh-CN" altLang="en-US" sz="1600" b="1" dirty="0">
              <a:latin typeface="+mn-ea"/>
              <a:cs typeface="Times New Roman" panose="02020603050405020304" pitchFamily="18" charset="0"/>
            </a:endParaRPr>
          </a:p>
          <a:p>
            <a:pPr>
              <a:lnSpc>
                <a:spcPct val="150000"/>
              </a:lnSpc>
            </a:pPr>
            <a:r>
              <a:rPr lang="zh-CN" altLang="en-US" sz="1600" b="1" dirty="0">
                <a:latin typeface="+mn-ea"/>
                <a:cs typeface="Times New Roman" panose="02020603050405020304" pitchFamily="18" charset="0"/>
              </a:rPr>
              <a:t>纤维算术平均长和长度加权长，纤维粗度、宽度、弯曲率、分丝帚化长度比、扭结角度、扭结纤维占比、折断纤维比，细小纤维的长度比、长度加权比、面积比和细小纤维总数。</a:t>
            </a:r>
            <a:endParaRPr lang="zh-CN" altLang="en-US" sz="1600" b="1" dirty="0">
              <a:latin typeface="+mn-ea"/>
              <a:cs typeface="Times New Roman" panose="02020603050405020304" pitchFamily="18" charset="0"/>
            </a:endParaRPr>
          </a:p>
        </p:txBody>
      </p:sp>
      <p:pic>
        <p:nvPicPr>
          <p:cNvPr id="7" name="图片 24" descr="E:/11AA研究生学习/海关数据/SVM少数据/test/数据分析图/细小纤维终.png细小纤维终"/>
          <p:cNvPicPr>
            <a:picLocks noChangeAspect="1"/>
          </p:cNvPicPr>
          <p:nvPr/>
        </p:nvPicPr>
        <p:blipFill>
          <a:blip r:embed="rId1"/>
          <a:srcRect l="3528" t="5115" r="360"/>
          <a:stretch>
            <a:fillRect/>
          </a:stretch>
        </p:blipFill>
        <p:spPr>
          <a:xfrm>
            <a:off x="6569075" y="3680460"/>
            <a:ext cx="4845685" cy="2959735"/>
          </a:xfrm>
          <a:prstGeom prst="rect">
            <a:avLst/>
          </a:prstGeom>
        </p:spPr>
      </p:pic>
      <p:pic>
        <p:nvPicPr>
          <p:cNvPr id="13" name="图片 2" descr="纤维形态1"/>
          <p:cNvPicPr>
            <a:picLocks noChangeAspect="1"/>
          </p:cNvPicPr>
          <p:nvPr/>
        </p:nvPicPr>
        <p:blipFill>
          <a:blip r:embed="rId2"/>
          <a:srcRect t="4303" b="4267"/>
          <a:stretch>
            <a:fillRect/>
          </a:stretch>
        </p:blipFill>
        <p:spPr>
          <a:xfrm>
            <a:off x="383540" y="501650"/>
            <a:ext cx="4812665" cy="3527425"/>
          </a:xfrm>
          <a:prstGeom prst="rect">
            <a:avLst/>
          </a:prstGeom>
        </p:spPr>
      </p:pic>
      <p:pic>
        <p:nvPicPr>
          <p:cNvPr id="23" name="图片 23" descr="纤维形态2"/>
          <p:cNvPicPr>
            <a:picLocks noChangeAspect="1"/>
          </p:cNvPicPr>
          <p:nvPr/>
        </p:nvPicPr>
        <p:blipFill>
          <a:blip r:embed="rId3"/>
          <a:srcRect t="4273" b="4180"/>
          <a:stretch>
            <a:fillRect/>
          </a:stretch>
        </p:blipFill>
        <p:spPr>
          <a:xfrm>
            <a:off x="6421755" y="161925"/>
            <a:ext cx="4935855" cy="35185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10" name="文本框 9"/>
          <p:cNvSpPr txBox="1"/>
          <p:nvPr/>
        </p:nvSpPr>
        <p:spPr>
          <a:xfrm>
            <a:off x="339153" y="4639"/>
            <a:ext cx="5558308"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实验数据分析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b="1" dirty="0">
                <a:latin typeface="+mn-ea"/>
              </a:rPr>
              <a:t> </a:t>
            </a:r>
            <a:endParaRPr lang="en-US" altLang="zh-CN" sz="2400" b="1" dirty="0">
              <a:solidFill>
                <a:schemeClr val="tx1">
                  <a:lumMod val="65000"/>
                  <a:lumOff val="35000"/>
                </a:schemeClr>
              </a:solidFill>
              <a:latin typeface="+mn-ea"/>
            </a:endParaRPr>
          </a:p>
        </p:txBody>
      </p:sp>
      <p:sp>
        <p:nvSpPr>
          <p:cNvPr id="22" name="矩形 21"/>
          <p:cNvSpPr/>
          <p:nvPr/>
        </p:nvSpPr>
        <p:spPr>
          <a:xfrm>
            <a:off x="6824980" y="1567815"/>
            <a:ext cx="5195570" cy="4147820"/>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940550" y="1656080"/>
            <a:ext cx="5080000" cy="2530475"/>
          </a:xfrm>
          <a:prstGeom prst="rect">
            <a:avLst/>
          </a:prstGeom>
          <a:noFill/>
        </p:spPr>
        <p:txBody>
          <a:bodyPr wrap="square" rtlCol="0">
            <a:noAutofit/>
          </a:bodyPr>
          <a:p>
            <a:pPr>
              <a:lnSpc>
                <a:spcPct val="150000"/>
              </a:lnSpc>
            </a:pPr>
            <a:r>
              <a:rPr lang="zh-CN" altLang="en-US" sz="1400" b="1" dirty="0">
                <a:latin typeface="Times New Roman" panose="02020603050405020304" pitchFamily="18" charset="0"/>
                <a:cs typeface="Times New Roman" panose="02020603050405020304" pitchFamily="18" charset="0"/>
              </a:rPr>
              <a:t>对纤维形态特征变化率表分析可知：</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纤维的算术平均长和长度加权长的总变化率为正，</a:t>
            </a:r>
            <a:r>
              <a:rPr lang="zh-CN" altLang="en-US" sz="1400" b="1" dirty="0">
                <a:solidFill>
                  <a:srgbClr val="FF0000"/>
                </a:solidFill>
                <a:latin typeface="Times New Roman" panose="02020603050405020304" pitchFamily="18" charset="0"/>
                <a:cs typeface="Times New Roman" panose="02020603050405020304" pitchFamily="18" charset="0"/>
              </a:rPr>
              <a:t>短纤维的占比下降导致纤维的平均长度上升</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纤维的粗度、分丝帚化长度比下降，这两者均有不同程度的下降导致</a:t>
            </a:r>
            <a:r>
              <a:rPr lang="zh-CN" altLang="en-US" sz="1400" b="1" dirty="0">
                <a:solidFill>
                  <a:srgbClr val="FF0000"/>
                </a:solidFill>
                <a:latin typeface="Times New Roman" panose="02020603050405020304" pitchFamily="18" charset="0"/>
                <a:cs typeface="Times New Roman" panose="02020603050405020304" pitchFamily="18" charset="0"/>
              </a:rPr>
              <a:t>薄壁纤维更容易发生帚化断裂，可能会导致纤维网络结构的松散化</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t>细小纤维长度比下降且细小纤维长度加权比下降，这可能是</a:t>
            </a:r>
            <a:r>
              <a:rPr lang="zh-CN" altLang="en-US" sz="1400" b="1" dirty="0">
                <a:solidFill>
                  <a:srgbClr val="FF0000"/>
                </a:solidFill>
              </a:rPr>
              <a:t>长纤维的断裂产生的细小纤维较长同时也产生了大量的短细小纤维</a:t>
            </a:r>
            <a:r>
              <a:rPr lang="zh-CN" altLang="en-US" sz="1400" b="1" dirty="0"/>
              <a:t>；</a:t>
            </a:r>
            <a:endParaRPr lang="zh-CN" altLang="en-US" sz="1400" b="1" dirty="0"/>
          </a:p>
          <a:p>
            <a:pPr marL="285750" indent="-285750">
              <a:lnSpc>
                <a:spcPct val="150000"/>
              </a:lnSpc>
              <a:buFont typeface="Wingdings" panose="05000000000000000000" pitchFamily="2" charset="2"/>
              <a:buChar char="p"/>
            </a:pPr>
            <a:r>
              <a:rPr lang="zh-CN" altLang="en-US" sz="1400" b="1" dirty="0"/>
              <a:t>部分参数在循环回用过程中实际变化率＜</a:t>
            </a:r>
            <a:r>
              <a:rPr lang="en-US" altLang="zh-CN" sz="1400" b="1" dirty="0"/>
              <a:t>5%</a:t>
            </a:r>
            <a:r>
              <a:rPr lang="zh-CN" altLang="en-US" sz="1400" b="1" dirty="0"/>
              <a:t>，说明</a:t>
            </a:r>
            <a:r>
              <a:rPr lang="zh-CN" altLang="en-US" sz="1400" b="1" dirty="0">
                <a:solidFill>
                  <a:srgbClr val="FF0000"/>
                </a:solidFill>
              </a:rPr>
              <a:t>一些纤维形态主要受到纤维原料种类本身的影响</a:t>
            </a:r>
            <a:r>
              <a:rPr lang="zh-CN" altLang="en-US" sz="1400" b="1" dirty="0"/>
              <a:t>，其性质较为稳定且不受回用实验的影响</a:t>
            </a:r>
            <a:endParaRPr lang="zh-CN" altLang="en-US" sz="1400" b="1" dirty="0"/>
          </a:p>
        </p:txBody>
      </p:sp>
      <p:sp>
        <p:nvSpPr>
          <p:cNvPr id="9" name="文本框 8"/>
          <p:cNvSpPr txBox="1"/>
          <p:nvPr/>
        </p:nvSpPr>
        <p:spPr>
          <a:xfrm>
            <a:off x="2092325" y="960120"/>
            <a:ext cx="3009265" cy="556895"/>
          </a:xfrm>
          <a:prstGeom prst="rect">
            <a:avLst/>
          </a:prstGeom>
        </p:spPr>
        <p:txBody>
          <a:bodyPr>
            <a:no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纤维形态</a:t>
            </a:r>
            <a:r>
              <a:rPr lang="zh-CN" altLang="en-US" sz="1400">
                <a:latin typeface="微软雅黑" panose="020B0503020204020204" pitchFamily="34" charset="-122"/>
                <a:ea typeface="微软雅黑" panose="020B0503020204020204" pitchFamily="34" charset="-122"/>
              </a:rPr>
              <a:t>特征变化率表</a:t>
            </a:r>
            <a:endParaRPr lang="zh-CN" altLang="en-US" sz="1400">
              <a:latin typeface="微软雅黑" panose="020B0503020204020204" pitchFamily="34" charset="-122"/>
              <a:ea typeface="微软雅黑" panose="020B0503020204020204" pitchFamily="34" charset="-122"/>
            </a:endParaRPr>
          </a:p>
        </p:txBody>
      </p:sp>
      <p:graphicFrame>
        <p:nvGraphicFramePr>
          <p:cNvPr id="11" name="表格 10"/>
          <p:cNvGraphicFramePr/>
          <p:nvPr>
            <p:custDataLst>
              <p:tags r:id="rId1"/>
            </p:custDataLst>
          </p:nvPr>
        </p:nvGraphicFramePr>
        <p:xfrm>
          <a:off x="412750" y="1428750"/>
          <a:ext cx="6190615" cy="4667250"/>
        </p:xfrm>
        <a:graphic>
          <a:graphicData uri="http://schemas.openxmlformats.org/drawingml/2006/table">
            <a:tbl>
              <a:tblPr/>
              <a:tblGrid>
                <a:gridCol w="2147570"/>
                <a:gridCol w="1328420"/>
                <a:gridCol w="1269365"/>
                <a:gridCol w="1445260"/>
              </a:tblGrid>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纤维形态指标</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1→2</a:t>
                      </a:r>
                      <a:r>
                        <a:rPr lang="zh-CN" sz="1400">
                          <a:solidFill>
                            <a:srgbClr val="000000"/>
                          </a:solidFill>
                          <a:latin typeface="宋体" panose="02010600030101010101" pitchFamily="2" charset="-122"/>
                          <a:ea typeface="宋体" panose="02010600030101010101" pitchFamily="2" charset="-122"/>
                        </a:rPr>
                        <a:t>变化率</a:t>
                      </a:r>
                      <a:r>
                        <a:rPr lang="en-US" altLang="zh-CN" sz="1400">
                          <a:solidFill>
                            <a:srgbClr val="000000"/>
                          </a:solidFill>
                          <a:latin typeface="Times New Roman" panose="02020603050405020304"/>
                          <a:ea typeface="Times New Roman" panose="02020603050405020304"/>
                        </a:rPr>
                        <a:t>(%)</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2→3</a:t>
                      </a:r>
                      <a:r>
                        <a:rPr lang="zh-CN" sz="1400">
                          <a:solidFill>
                            <a:srgbClr val="000000"/>
                          </a:solidFill>
                          <a:latin typeface="宋体" panose="02010600030101010101" pitchFamily="2" charset="-122"/>
                          <a:ea typeface="宋体" panose="02010600030101010101" pitchFamily="2" charset="-122"/>
                        </a:rPr>
                        <a:t>变化率</a:t>
                      </a:r>
                      <a:r>
                        <a:rPr lang="en-US" altLang="zh-CN" sz="1400">
                          <a:solidFill>
                            <a:srgbClr val="000000"/>
                          </a:solidFill>
                          <a:latin typeface="Times New Roman" panose="02020603050405020304"/>
                          <a:ea typeface="Times New Roman" panose="02020603050405020304"/>
                        </a:rPr>
                        <a:t>(%)</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1→3</a:t>
                      </a:r>
                      <a:r>
                        <a:rPr lang="zh-CN" sz="1400">
                          <a:solidFill>
                            <a:srgbClr val="000000"/>
                          </a:solidFill>
                          <a:latin typeface="宋体" panose="02010600030101010101" pitchFamily="2" charset="-122"/>
                          <a:ea typeface="宋体" panose="02010600030101010101" pitchFamily="2" charset="-122"/>
                        </a:rPr>
                        <a:t>总变化率</a:t>
                      </a:r>
                      <a:r>
                        <a:rPr lang="en-US" altLang="zh-CN" sz="1400">
                          <a:solidFill>
                            <a:srgbClr val="000000"/>
                          </a:solidFill>
                          <a:latin typeface="Times New Roman" panose="02020603050405020304"/>
                          <a:ea typeface="Times New Roman" panose="02020603050405020304"/>
                        </a:rPr>
                        <a:t>(%)</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算数平均长（</a:t>
                      </a:r>
                      <a:r>
                        <a:rPr lang="en-US" altLang="zh-CN" sz="1400">
                          <a:solidFill>
                            <a:srgbClr val="000000"/>
                          </a:solidFill>
                          <a:latin typeface="Times New Roman" panose="02020603050405020304"/>
                          <a:ea typeface="宋体" panose="02010600030101010101" pitchFamily="2" charset="-122"/>
                        </a:rPr>
                        <a:t>mm</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4.27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10.11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+14.81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长度加权长（</a:t>
                      </a:r>
                      <a:r>
                        <a:rPr lang="en-US" altLang="zh-CN" sz="1400">
                          <a:solidFill>
                            <a:srgbClr val="000000"/>
                          </a:solidFill>
                          <a:latin typeface="Times New Roman" panose="02020603050405020304"/>
                          <a:ea typeface="宋体" panose="02010600030101010101" pitchFamily="2" charset="-122"/>
                        </a:rPr>
                        <a:t>mm</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1.50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7.57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+9.18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宽度（微米）</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-3.04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1.10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-1.98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粗度（毫克</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米）</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-6.45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-7.24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-13.22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扭结角（度）</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0.31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-4.05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-3.75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扭结纤维占比（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-3.96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2.10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-1.95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弯曲</a:t>
                      </a:r>
                      <a:r>
                        <a:rPr lang="en-US" altLang="zh-CN" sz="1400">
                          <a:solidFill>
                            <a:srgbClr val="000000"/>
                          </a:solidFill>
                          <a:latin typeface="Times New Roman" panose="02020603050405020304"/>
                          <a:ea typeface="宋体" panose="02010600030101010101" pitchFamily="2" charset="-122"/>
                        </a:rPr>
                        <a:t>%</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-6.04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0.30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-5.76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分丝帚化长度比（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-9.99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-6.73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-16.05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折断纤维比（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-2.91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-1.62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-4.48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细小纤维长度比（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-21.92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-19.43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-37.09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细小纤维长度加权比（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-23.35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-14.21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-34.25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细小纤维面积比（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19.17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-48.84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-39.03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3337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总细小纤维数</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-38.75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-21.39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-51.85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cxnSp>
        <p:nvCxnSpPr>
          <p:cNvPr id="16" name="直接箭头连接符 15"/>
          <p:cNvCxnSpPr/>
          <p:nvPr/>
        </p:nvCxnSpPr>
        <p:spPr>
          <a:xfrm flipV="1">
            <a:off x="6327775" y="1828800"/>
            <a:ext cx="0" cy="225425"/>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7" name="直接箭头连接符 16"/>
          <p:cNvCxnSpPr/>
          <p:nvPr/>
        </p:nvCxnSpPr>
        <p:spPr>
          <a:xfrm flipV="1">
            <a:off x="6327775" y="2165350"/>
            <a:ext cx="0" cy="225425"/>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4" name="文本框 23"/>
          <p:cNvSpPr txBox="1"/>
          <p:nvPr/>
        </p:nvSpPr>
        <p:spPr>
          <a:xfrm>
            <a:off x="6160770" y="3726180"/>
            <a:ext cx="428625" cy="369570"/>
          </a:xfrm>
          <a:prstGeom prst="rect">
            <a:avLst/>
          </a:prstGeom>
          <a:noFill/>
        </p:spPr>
        <p:txBody>
          <a:bodyPr wrap="square">
            <a:spAutoFit/>
          </a:bodyPr>
          <a:p>
            <a:r>
              <a:rPr lang="zh-CN" altLang="en-US" sz="1800" b="1" dirty="0">
                <a:solidFill>
                  <a:srgbClr val="ED7D31"/>
                </a:solidFill>
                <a:latin typeface="+mn-ea"/>
                <a:cs typeface="Times New Roman" panose="02020603050405020304" pitchFamily="18" charset="0"/>
              </a:rPr>
              <a:t>≈</a:t>
            </a:r>
            <a:endParaRPr lang="zh-CN" altLang="en-US" dirty="0">
              <a:latin typeface="+mn-ea"/>
            </a:endParaRPr>
          </a:p>
        </p:txBody>
      </p:sp>
      <p:sp>
        <p:nvSpPr>
          <p:cNvPr id="3" name="文本框 2"/>
          <p:cNvSpPr txBox="1"/>
          <p:nvPr/>
        </p:nvSpPr>
        <p:spPr>
          <a:xfrm>
            <a:off x="6160770" y="3088005"/>
            <a:ext cx="428625" cy="369570"/>
          </a:xfrm>
          <a:prstGeom prst="rect">
            <a:avLst/>
          </a:prstGeom>
          <a:noFill/>
        </p:spPr>
        <p:txBody>
          <a:bodyPr wrap="square">
            <a:spAutoFit/>
          </a:bodyPr>
          <a:p>
            <a:r>
              <a:rPr lang="zh-CN" altLang="en-US" sz="1800" b="1" dirty="0">
                <a:solidFill>
                  <a:srgbClr val="ED7D31"/>
                </a:solidFill>
                <a:latin typeface="+mn-ea"/>
                <a:cs typeface="Times New Roman" panose="02020603050405020304" pitchFamily="18" charset="0"/>
              </a:rPr>
              <a:t>≈</a:t>
            </a:r>
            <a:endParaRPr lang="zh-CN" altLang="en-US"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5558308"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实验数据分析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46430" y="5394325"/>
            <a:ext cx="11047095" cy="1198880"/>
          </a:xfrm>
          <a:prstGeom prst="rect">
            <a:avLst/>
          </a:prstGeom>
          <a:noFill/>
        </p:spPr>
        <p:txBody>
          <a:bodyPr wrap="square">
            <a:spAutoFit/>
          </a:bodyPr>
          <a:lstStyle/>
          <a:p>
            <a:pPr>
              <a:lnSpc>
                <a:spcPct val="150000"/>
              </a:lnSpc>
            </a:pPr>
            <a:r>
              <a:rPr lang="en-US" altLang="en-US" sz="1600" b="1" dirty="0">
                <a:latin typeface="微软雅黑" panose="020B0503020204020204" pitchFamily="34" charset="-122"/>
                <a:ea typeface="微软雅黑" panose="020B0503020204020204" pitchFamily="34" charset="-122"/>
              </a:rPr>
              <a:t>在经历循环回用过程后，再生纤维抄造出的纸张的抗张、耐破和撕裂强度都有不同程度的劣化，，三个物理强度变化都呈现阶梯式下降，</a:t>
            </a:r>
            <a:r>
              <a:rPr lang="en-US" altLang="en-US" sz="1600" b="1" dirty="0">
                <a:solidFill>
                  <a:srgbClr val="FF0000"/>
                </a:solidFill>
                <a:latin typeface="微软雅黑" panose="020B0503020204020204" pitchFamily="34" charset="-122"/>
                <a:ea typeface="微软雅黑" panose="020B0503020204020204" pitchFamily="34" charset="-122"/>
              </a:rPr>
              <a:t>随着循环次数增加物理强度下降得越大</a:t>
            </a:r>
            <a:r>
              <a:rPr lang="zh-CN" altLang="en-US" sz="1600" b="1" dirty="0"/>
              <a:t>，这一现象</a:t>
            </a:r>
            <a:r>
              <a:rPr lang="zh-CN" altLang="en-US" sz="1600" b="1" dirty="0">
                <a:solidFill>
                  <a:srgbClr val="FF0000"/>
                </a:solidFill>
              </a:rPr>
              <a:t>与纤维在回用过程中的纤维断裂形态演变（长</a:t>
            </a:r>
            <a:r>
              <a:rPr lang="en-US" altLang="en-US" sz="1600" b="1" dirty="0">
                <a:solidFill>
                  <a:srgbClr val="FF0000"/>
                </a:solidFill>
              </a:rPr>
              <a:t>→</a:t>
            </a:r>
            <a:r>
              <a:rPr lang="zh-CN" altLang="en-US" sz="1600" b="1" dirty="0">
                <a:solidFill>
                  <a:srgbClr val="FF0000"/>
                </a:solidFill>
              </a:rPr>
              <a:t>中短</a:t>
            </a:r>
            <a:r>
              <a:rPr lang="en-US" altLang="en-US" sz="1600" b="1" dirty="0">
                <a:solidFill>
                  <a:srgbClr val="FF0000"/>
                </a:solidFill>
              </a:rPr>
              <a:t>→</a:t>
            </a:r>
            <a:r>
              <a:rPr lang="zh-CN" altLang="en-US" sz="1600" b="1" dirty="0">
                <a:solidFill>
                  <a:srgbClr val="FF0000"/>
                </a:solidFill>
              </a:rPr>
              <a:t>碎片）相呼应</a:t>
            </a:r>
            <a:r>
              <a:rPr lang="zh-CN" altLang="en-US" sz="1600" b="1" dirty="0"/>
              <a:t>。</a:t>
            </a:r>
            <a:endParaRPr lang="zh-CN" altLang="en-US" sz="1600" b="1" dirty="0"/>
          </a:p>
        </p:txBody>
      </p:sp>
      <p:pic>
        <p:nvPicPr>
          <p:cNvPr id="8" name="图片 7"/>
          <p:cNvPicPr>
            <a:picLocks noChangeAspect="1"/>
          </p:cNvPicPr>
          <p:nvPr/>
        </p:nvPicPr>
        <p:blipFill>
          <a:blip r:embed="rId1"/>
          <a:stretch>
            <a:fillRect/>
          </a:stretch>
        </p:blipFill>
        <p:spPr>
          <a:xfrm>
            <a:off x="1782445" y="466090"/>
            <a:ext cx="8627110" cy="480631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339153" y="4639"/>
            <a:ext cx="5558308"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2.3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实验数据分析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1181735" y="3046095"/>
            <a:ext cx="9719945" cy="2651760"/>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1386840" y="3134360"/>
            <a:ext cx="9504680" cy="1438275"/>
          </a:xfrm>
          <a:prstGeom prst="rect">
            <a:avLst/>
          </a:prstGeom>
          <a:noFill/>
        </p:spPr>
        <p:txBody>
          <a:bodyPr wrap="square" rtlCol="0">
            <a:noAutofit/>
          </a:bodyPr>
          <a:p>
            <a:pPr>
              <a:lnSpc>
                <a:spcPct val="150000"/>
              </a:lnSpc>
            </a:pPr>
            <a:r>
              <a:rPr lang="zh-CN" altLang="en-US" sz="1400" b="1" dirty="0">
                <a:latin typeface="Times New Roman" panose="02020603050405020304" pitchFamily="18" charset="0"/>
                <a:cs typeface="Times New Roman" panose="02020603050405020304" pitchFamily="18" charset="0"/>
              </a:rPr>
              <a:t>结合前两个表格</a:t>
            </a:r>
            <a:r>
              <a:rPr lang="zh-CN" altLang="en-US" sz="1400" b="1" dirty="0">
                <a:latin typeface="Times New Roman" panose="02020603050405020304" pitchFamily="18" charset="0"/>
                <a:cs typeface="Times New Roman" panose="02020603050405020304" pitchFamily="18" charset="0"/>
              </a:rPr>
              <a:t>和物理强度变化率表分析可知：</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抗张强度：抗张强度下降的主要原因是</a:t>
            </a:r>
            <a:r>
              <a:rPr lang="zh-CN" altLang="en-US" sz="1400" b="1" dirty="0">
                <a:solidFill>
                  <a:srgbClr val="FF0000"/>
                </a:solidFill>
                <a:latin typeface="Times New Roman" panose="02020603050405020304" pitchFamily="18" charset="0"/>
                <a:cs typeface="Times New Roman" panose="02020603050405020304" pitchFamily="18" charset="0"/>
              </a:rPr>
              <a:t>纤维结合力减弱</a:t>
            </a:r>
            <a:r>
              <a:rPr lang="zh-CN" altLang="en-US" sz="1400" b="1" dirty="0">
                <a:latin typeface="Times New Roman" panose="02020603050405020304" pitchFamily="18" charset="0"/>
                <a:cs typeface="Times New Roman" panose="02020603050405020304" pitchFamily="18" charset="0"/>
              </a:rPr>
              <a:t>，扭结纤维占比减少削弱纤维交织能力，纤维的帚化能力和粗度不足，难以形成有效结合点，</a:t>
            </a:r>
            <a:r>
              <a:rPr lang="zh-CN" altLang="en-US" sz="1400" b="1" dirty="0">
                <a:solidFill>
                  <a:srgbClr val="FF0000"/>
                </a:solidFill>
                <a:latin typeface="Times New Roman" panose="02020603050405020304" pitchFamily="18" charset="0"/>
                <a:cs typeface="Times New Roman" panose="02020603050405020304" pitchFamily="18" charset="0"/>
              </a:rPr>
              <a:t>短纤维减少导致纤维网络中</a:t>
            </a:r>
            <a:r>
              <a:rPr lang="en-US" altLang="zh-CN" sz="1400" b="1" dirty="0">
                <a:solidFill>
                  <a:srgbClr val="FF0000"/>
                </a:solidFill>
                <a:latin typeface="Times New Roman" panose="02020603050405020304" pitchFamily="18" charset="0"/>
                <a:cs typeface="Times New Roman" panose="02020603050405020304" pitchFamily="18" charset="0"/>
              </a:rPr>
              <a:t> “</a:t>
            </a:r>
            <a:r>
              <a:rPr lang="zh-CN" altLang="en-US" sz="1400" b="1" dirty="0">
                <a:solidFill>
                  <a:srgbClr val="FF0000"/>
                </a:solidFill>
                <a:latin typeface="Times New Roman" panose="02020603050405020304" pitchFamily="18" charset="0"/>
                <a:cs typeface="Times New Roman" panose="02020603050405020304" pitchFamily="18" charset="0"/>
              </a:rPr>
              <a:t>桥接</a:t>
            </a:r>
            <a:r>
              <a:rPr lang="en-US" altLang="zh-CN" sz="1400" b="1" dirty="0">
                <a:solidFill>
                  <a:srgbClr val="FF0000"/>
                </a:solidFill>
                <a:latin typeface="Times New Roman" panose="02020603050405020304" pitchFamily="18" charset="0"/>
                <a:cs typeface="Times New Roman" panose="02020603050405020304" pitchFamily="18" charset="0"/>
              </a:rPr>
              <a:t>” </a:t>
            </a:r>
            <a:r>
              <a:rPr lang="zh-CN" altLang="en-US" sz="1400" b="1" dirty="0">
                <a:solidFill>
                  <a:srgbClr val="FF0000"/>
                </a:solidFill>
                <a:latin typeface="Times New Roman" panose="02020603050405020304" pitchFamily="18" charset="0"/>
                <a:cs typeface="Times New Roman" panose="02020603050405020304" pitchFamily="18" charset="0"/>
              </a:rPr>
              <a:t>作用减弱</a:t>
            </a:r>
            <a:r>
              <a:rPr lang="zh-CN" altLang="en-US" sz="1400" b="1" dirty="0">
                <a:latin typeface="Times New Roman" panose="02020603050405020304" pitchFamily="18" charset="0"/>
                <a:cs typeface="Times New Roman" panose="02020603050405020304" pitchFamily="18" charset="0"/>
              </a:rPr>
              <a:t>，纤维间结合力下降</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耐破度：</a:t>
            </a:r>
            <a:r>
              <a:rPr lang="zh-CN" altLang="en-US" sz="1400" b="1" dirty="0">
                <a:solidFill>
                  <a:srgbClr val="FF0000"/>
                </a:solidFill>
                <a:latin typeface="Times New Roman" panose="02020603050405020304" pitchFamily="18" charset="0"/>
                <a:cs typeface="Times New Roman" panose="02020603050405020304" pitchFamily="18" charset="0"/>
              </a:rPr>
              <a:t>粗度下降会直接降低单根纤维抗压能力</a:t>
            </a:r>
            <a:r>
              <a:rPr lang="zh-CN" altLang="en-US" sz="1400" b="1" dirty="0">
                <a:latin typeface="Times New Roman" panose="02020603050405020304" pitchFamily="18" charset="0"/>
                <a:cs typeface="Times New Roman" panose="02020603050405020304" pitchFamily="18" charset="0"/>
              </a:rPr>
              <a:t>，而分丝帚化长度比降低导致纤维接触面积减少，二者协同作用使耐破强度下降；</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p"/>
            </a:pPr>
            <a:r>
              <a:rPr lang="zh-CN" altLang="en-US" sz="1400" b="1" dirty="0"/>
              <a:t>撕裂度：长纤维断裂使得撕裂度下降但中等纤维占比提升部分弥补了这部分损失，分丝帚化长度比降低和短纤维占比下降导致</a:t>
            </a:r>
            <a:r>
              <a:rPr lang="zh-CN" altLang="en-US" sz="1400" b="1" dirty="0">
                <a:solidFill>
                  <a:srgbClr val="FF0000"/>
                </a:solidFill>
              </a:rPr>
              <a:t>纤维接触面积减少</a:t>
            </a:r>
            <a:r>
              <a:rPr lang="zh-CN" altLang="en-US" sz="1400" b="1" dirty="0"/>
              <a:t>，细小纤维面积比下降使得纤维间的</a:t>
            </a:r>
            <a:r>
              <a:rPr lang="zh-CN" altLang="en-US" sz="1400" b="1" dirty="0">
                <a:solidFill>
                  <a:srgbClr val="FF0000"/>
                </a:solidFill>
              </a:rPr>
              <a:t>接触点减少进一步削弱了纸张的撕裂度</a:t>
            </a:r>
            <a:r>
              <a:rPr lang="zh-CN" altLang="en-US" sz="1400" b="1" dirty="0"/>
              <a:t>。</a:t>
            </a:r>
            <a:endParaRPr lang="zh-CN" altLang="en-US" sz="1400" b="1" dirty="0"/>
          </a:p>
          <a:p>
            <a:pPr marL="285750" indent="-285750">
              <a:lnSpc>
                <a:spcPct val="150000"/>
              </a:lnSpc>
              <a:buFont typeface="Wingdings" panose="05000000000000000000" pitchFamily="2" charset="2"/>
              <a:buChar char="p"/>
            </a:pPr>
            <a:endParaRPr lang="zh-CN" altLang="en-US" sz="1400" b="1" dirty="0"/>
          </a:p>
        </p:txBody>
      </p:sp>
      <p:sp>
        <p:nvSpPr>
          <p:cNvPr id="5" name="文本框 4"/>
          <p:cNvSpPr txBox="1"/>
          <p:nvPr/>
        </p:nvSpPr>
        <p:spPr>
          <a:xfrm>
            <a:off x="3677285" y="475932"/>
            <a:ext cx="5080000" cy="460375"/>
          </a:xfrm>
          <a:prstGeom prst="rect">
            <a:avLst/>
          </a:prstGeom>
        </p:spPr>
        <p:txBody>
          <a:bodyPr>
            <a:spAutoFit/>
          </a:bodyPr>
          <a:p>
            <a:pPr marL="0" indent="0" algn="ctr" defTabSz="266700">
              <a:lnSpc>
                <a:spcPct val="150000"/>
              </a:lnSpc>
              <a:spcBef>
                <a:spcPct val="0"/>
              </a:spcBef>
              <a:spcAft>
                <a:spcPct val="0"/>
              </a:spcAft>
            </a:pPr>
            <a:r>
              <a:rPr lang="en-US" altLang="zh-CN" sz="1600">
                <a:latin typeface="Times New Roman" panose="02020603050405020304"/>
                <a:ea typeface="宋体" panose="02010600030101010101" pitchFamily="2" charset="-122"/>
              </a:rPr>
              <a:t> </a:t>
            </a:r>
            <a:r>
              <a:rPr lang="zh-CN" altLang="en-US" sz="1400">
                <a:latin typeface="微软雅黑" panose="020B0503020204020204" pitchFamily="34" charset="-122"/>
                <a:ea typeface="微软雅黑" panose="020B0503020204020204" pitchFamily="34" charset="-122"/>
              </a:rPr>
              <a:t>物理强度变化率表</a:t>
            </a:r>
            <a:endParaRPr lang="zh-CN" altLang="en-US" sz="1400">
              <a:latin typeface="微软雅黑" panose="020B0503020204020204" pitchFamily="34" charset="-122"/>
              <a:ea typeface="微软雅黑" panose="020B0503020204020204" pitchFamily="34" charset="-122"/>
            </a:endParaRPr>
          </a:p>
        </p:txBody>
      </p:sp>
      <p:graphicFrame>
        <p:nvGraphicFramePr>
          <p:cNvPr id="11" name="表格 10"/>
          <p:cNvGraphicFramePr/>
          <p:nvPr>
            <p:custDataLst>
              <p:tags r:id="rId1"/>
            </p:custDataLst>
          </p:nvPr>
        </p:nvGraphicFramePr>
        <p:xfrm>
          <a:off x="1118870" y="935990"/>
          <a:ext cx="10060940" cy="1764030"/>
        </p:xfrm>
        <a:graphic>
          <a:graphicData uri="http://schemas.openxmlformats.org/drawingml/2006/table">
            <a:tbl>
              <a:tblPr/>
              <a:tblGrid>
                <a:gridCol w="1701165"/>
                <a:gridCol w="1231900"/>
                <a:gridCol w="1134110"/>
                <a:gridCol w="1143635"/>
                <a:gridCol w="1609090"/>
                <a:gridCol w="1533525"/>
                <a:gridCol w="1707515"/>
              </a:tblGrid>
              <a:tr h="69723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强度指标</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循环</a:t>
                      </a:r>
                      <a:r>
                        <a:rPr lang="en-US" altLang="zh-CN" sz="1400">
                          <a:solidFill>
                            <a:srgbClr val="000000"/>
                          </a:solidFill>
                          <a:latin typeface="Times New Roman" panose="02020603050405020304"/>
                          <a:ea typeface="宋体" panose="02010600030101010101" pitchFamily="2" charset="-122"/>
                        </a:rPr>
                        <a:t>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循环</a:t>
                      </a:r>
                      <a:r>
                        <a:rPr lang="en-US" altLang="zh-CN" sz="1400">
                          <a:solidFill>
                            <a:srgbClr val="000000"/>
                          </a:solidFill>
                          <a:latin typeface="Times New Roman" panose="02020603050405020304"/>
                          <a:ea typeface="宋体" panose="02010600030101010101" pitchFamily="2" charset="-122"/>
                        </a:rPr>
                        <a:t>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循环</a:t>
                      </a:r>
                      <a:r>
                        <a:rPr lang="en-US" altLang="zh-CN" sz="1400">
                          <a:solidFill>
                            <a:srgbClr val="000000"/>
                          </a:solidFill>
                          <a:latin typeface="Times New Roman" panose="02020603050405020304"/>
                          <a:ea typeface="宋体" panose="02010600030101010101" pitchFamily="2" charset="-122"/>
                        </a:rPr>
                        <a:t>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1→2</a:t>
                      </a:r>
                      <a:r>
                        <a:rPr lang="zh-CN" sz="1400">
                          <a:solidFill>
                            <a:srgbClr val="000000"/>
                          </a:solidFill>
                          <a:latin typeface="宋体" panose="02010600030101010101" pitchFamily="2" charset="-122"/>
                          <a:ea typeface="宋体" panose="02010600030101010101" pitchFamily="2" charset="-122"/>
                        </a:rPr>
                        <a:t>变化率</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2→3</a:t>
                      </a:r>
                      <a:r>
                        <a:rPr lang="zh-CN" sz="1400">
                          <a:solidFill>
                            <a:srgbClr val="000000"/>
                          </a:solidFill>
                          <a:latin typeface="宋体" panose="02010600030101010101" pitchFamily="2" charset="-122"/>
                          <a:ea typeface="宋体" panose="02010600030101010101" pitchFamily="2" charset="-122"/>
                        </a:rPr>
                        <a:t>变化率</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1→3</a:t>
                      </a:r>
                      <a:r>
                        <a:rPr lang="zh-CN" sz="1400">
                          <a:solidFill>
                            <a:srgbClr val="000000"/>
                          </a:solidFill>
                          <a:latin typeface="宋体" panose="02010600030101010101" pitchFamily="2" charset="-122"/>
                          <a:ea typeface="宋体" panose="02010600030101010101" pitchFamily="2" charset="-122"/>
                        </a:rPr>
                        <a:t>总变化率</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5560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抗张</a:t>
                      </a:r>
                      <a:r>
                        <a:rPr lang="en-US" altLang="zh-CN" sz="1400">
                          <a:solidFill>
                            <a:srgbClr val="000000"/>
                          </a:solidFill>
                          <a:latin typeface="Times New Roman" panose="02020603050405020304"/>
                          <a:ea typeface="Times New Roman" panose="02020603050405020304"/>
                        </a:rPr>
                        <a:t>(</a:t>
                      </a:r>
                      <a:r>
                        <a:rPr lang="en-US" altLang="zh-CN" sz="1400">
                          <a:solidFill>
                            <a:srgbClr val="000000"/>
                          </a:solidFill>
                          <a:latin typeface="Times New Roman" panose="02020603050405020304"/>
                          <a:ea typeface="宋体" panose="02010600030101010101" pitchFamily="2" charset="-122"/>
                        </a:rPr>
                        <a:t>kN/m</a:t>
                      </a:r>
                      <a:r>
                        <a:rPr lang="en-US" altLang="zh-CN" sz="1400">
                          <a:solidFill>
                            <a:srgbClr val="000000"/>
                          </a:solidFill>
                          <a:latin typeface="Times New Roman" panose="02020603050405020304"/>
                          <a:ea typeface="Times New Roman" panose="02020603050405020304"/>
                        </a:rPr>
                        <a:t>)</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1.53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1.46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1.07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-26.7%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-30.1%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5560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耐破</a:t>
                      </a:r>
                      <a:r>
                        <a:rPr lang="en-US" altLang="zh-CN" sz="1400">
                          <a:solidFill>
                            <a:srgbClr val="000000"/>
                          </a:solidFill>
                          <a:latin typeface="Times New Roman" panose="02020603050405020304"/>
                          <a:ea typeface="Times New Roman" panose="02020603050405020304"/>
                        </a:rPr>
                        <a:t>(</a:t>
                      </a:r>
                      <a:r>
                        <a:rPr lang="en-US" altLang="zh-CN" sz="1400">
                          <a:solidFill>
                            <a:srgbClr val="000000"/>
                          </a:solidFill>
                          <a:latin typeface="Times New Roman" panose="02020603050405020304"/>
                          <a:ea typeface="宋体" panose="02010600030101010101" pitchFamily="2" charset="-122"/>
                        </a:rPr>
                        <a:t>kPa</a:t>
                      </a:r>
                      <a:r>
                        <a:rPr lang="en-US" altLang="zh-CN" sz="1400">
                          <a:solidFill>
                            <a:srgbClr val="000000"/>
                          </a:solidFill>
                          <a:latin typeface="Times New Roman" panose="02020603050405020304"/>
                          <a:ea typeface="Times New Roman" panose="02020603050405020304"/>
                        </a:rPr>
                        <a:t>)</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82.5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73.2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57.8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-11.3%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-21.0%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-29.9%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5560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撕裂</a:t>
                      </a:r>
                      <a:r>
                        <a:rPr lang="en-US" altLang="zh-CN" sz="1400">
                          <a:solidFill>
                            <a:srgbClr val="000000"/>
                          </a:solidFill>
                          <a:latin typeface="Times New Roman" panose="02020603050405020304"/>
                          <a:ea typeface="Times New Roman" panose="02020603050405020304"/>
                        </a:rPr>
                        <a:t>(</a:t>
                      </a:r>
                      <a:r>
                        <a:rPr lang="en-US" altLang="zh-CN" sz="1400">
                          <a:solidFill>
                            <a:srgbClr val="000000"/>
                          </a:solidFill>
                          <a:latin typeface="Times New Roman" panose="02020603050405020304"/>
                          <a:ea typeface="宋体" panose="02010600030101010101" pitchFamily="2" charset="-122"/>
                        </a:rPr>
                        <a:t>mN</a:t>
                      </a:r>
                      <a:r>
                        <a:rPr lang="en-US" altLang="zh-CN" sz="1400">
                          <a:solidFill>
                            <a:srgbClr val="000000"/>
                          </a:solidFill>
                          <a:latin typeface="Times New Roman" panose="02020603050405020304"/>
                          <a:ea typeface="Times New Roman" panose="02020603050405020304"/>
                        </a:rPr>
                        <a:t>)</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564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552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412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-25.4%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-27.0%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0" y="0"/>
            <a:ext cx="4990011" cy="5918934"/>
          </a:xfrm>
          <a:prstGeom prst="triangle">
            <a:avLst>
              <a:gd name="adj" fmla="val 10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0" y="3657601"/>
            <a:ext cx="10972800" cy="3200400"/>
          </a:xfrm>
          <a:prstGeom prst="triangle">
            <a:avLst>
              <a:gd name="adj" fmla="val 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629871" y="1258976"/>
            <a:ext cx="6476275" cy="3685800"/>
            <a:chOff x="4603018" y="3207206"/>
            <a:chExt cx="4020218" cy="3685800"/>
          </a:xfrm>
        </p:grpSpPr>
        <p:sp>
          <p:nvSpPr>
            <p:cNvPr id="44" name="矩形 43"/>
            <p:cNvSpPr/>
            <p:nvPr/>
          </p:nvSpPr>
          <p:spPr>
            <a:xfrm>
              <a:off x="4603018" y="3207206"/>
              <a:ext cx="2985964" cy="707886"/>
            </a:xfrm>
            <a:prstGeom prst="rect">
              <a:avLst/>
            </a:prstGeom>
          </p:spPr>
          <p:txBody>
            <a:bodyPr wrap="square">
              <a:spAutoFit/>
            </a:bodyPr>
            <a:lstStyle/>
            <a:p>
              <a:pPr algn="ctr"/>
              <a:r>
                <a:rPr lang="zh-CN" altLang="en-US" sz="4000" b="1" dirty="0">
                  <a:solidFill>
                    <a:srgbClr val="024DA2"/>
                  </a:solidFill>
                  <a:latin typeface="微软雅黑" panose="020B0503020204020204" pitchFamily="34" charset="-122"/>
                  <a:ea typeface="微软雅黑" panose="020B0503020204020204" pitchFamily="34" charset="-122"/>
                </a:rPr>
                <a:t>目录</a:t>
              </a:r>
              <a:endParaRPr lang="zh-CN" altLang="en-US" sz="4000" b="1" dirty="0">
                <a:solidFill>
                  <a:srgbClr val="024DA2"/>
                </a:solidFill>
                <a:latin typeface="微软雅黑" panose="020B0503020204020204" pitchFamily="34" charset="-122"/>
                <a:ea typeface="微软雅黑" panose="020B0503020204020204" pitchFamily="34" charset="-122"/>
              </a:endParaRPr>
            </a:p>
          </p:txBody>
        </p:sp>
        <p:sp>
          <p:nvSpPr>
            <p:cNvPr id="45" name="矩形 44"/>
            <p:cNvSpPr/>
            <p:nvPr/>
          </p:nvSpPr>
          <p:spPr>
            <a:xfrm>
              <a:off x="5099241" y="4031696"/>
              <a:ext cx="3523995" cy="2861310"/>
            </a:xfrm>
            <a:prstGeom prst="rect">
              <a:avLst/>
            </a:prstGeom>
          </p:spPr>
          <p:txBody>
            <a:bodyPr wrap="square">
              <a:spAutoFit/>
            </a:bodyPr>
            <a:lstStyle/>
            <a:p>
              <a:pPr marL="514350" indent="-514350">
                <a:lnSpc>
                  <a:spcPct val="150000"/>
                </a:lnSpc>
                <a:buFont typeface="+mj-lt"/>
                <a:buAutoNum type="arabicPeriod"/>
              </a:pPr>
              <a:r>
                <a:rPr lang="zh-CN" altLang="en-US" sz="2000" b="1" dirty="0">
                  <a:solidFill>
                    <a:schemeClr val="tx1"/>
                  </a:solidFill>
                  <a:latin typeface="微软雅黑" panose="020B0503020204020204" pitchFamily="34" charset="-122"/>
                  <a:ea typeface="微软雅黑" panose="020B0503020204020204" pitchFamily="34" charset="-122"/>
                </a:rPr>
                <a:t>课题研究背景及意义</a:t>
              </a:r>
              <a:endParaRPr lang="en-US" altLang="zh-CN" sz="2000" b="1" dirty="0">
                <a:solidFill>
                  <a:schemeClr val="tx1"/>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再生纸浆循环回用纤维劣化研究</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solidFill>
                    <a:srgbClr val="FF0000"/>
                  </a:solidFill>
                  <a:latin typeface="微软雅黑" panose="020B0503020204020204" pitchFamily="34" charset="-122"/>
                  <a:ea typeface="微软雅黑" panose="020B0503020204020204" pitchFamily="34" charset="-122"/>
                </a:rPr>
                <a:t>再生纸张物理强度预测模型构建</a:t>
              </a:r>
              <a:endParaRPr lang="zh-CN" altLang="en-US" sz="2000" b="1" dirty="0">
                <a:solidFill>
                  <a:srgbClr val="FF0000"/>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再生纸浆再利用适用度评价体系构建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再生纸浆数据库构建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总结与展望</a:t>
              </a:r>
              <a:endParaRPr lang="en-US" altLang="zh-CN" sz="2000" b="1" dirty="0">
                <a:latin typeface="微软雅黑" panose="020B0503020204020204" pitchFamily="34" charset="-122"/>
                <a:ea typeface="微软雅黑" panose="020B0503020204020204" pitchFamily="34" charset="-122"/>
              </a:endParaRPr>
            </a:p>
          </p:txBody>
        </p:sp>
        <p:sp>
          <p:nvSpPr>
            <p:cNvPr id="47" name="等腰三角形 46"/>
            <p:cNvSpPr/>
            <p:nvPr/>
          </p:nvSpPr>
          <p:spPr>
            <a:xfrm flipV="1">
              <a:off x="6000750" y="3915093"/>
              <a:ext cx="190500" cy="16422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pic>
        <p:nvPicPr>
          <p:cNvPr id="11"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431" y="5355806"/>
            <a:ext cx="3042950" cy="12678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316"/>
    </mc:Choice>
    <mc:Fallback>
      <p:transition spd="slow" advTm="431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56895" y="1360805"/>
            <a:ext cx="5779770" cy="4399915"/>
          </a:xfrm>
          <a:prstGeom prst="rect">
            <a:avLst/>
          </a:prstGeom>
          <a:noFill/>
        </p:spPr>
        <p:txBody>
          <a:bodyPr wrap="square">
            <a:spAutoFit/>
          </a:bodyPr>
          <a:lstStyle/>
          <a:p>
            <a:pPr>
              <a:lnSpc>
                <a:spcPct val="200000"/>
              </a:lnSpc>
            </a:pPr>
            <a:r>
              <a:rPr lang="zh-CN" altLang="en-US" sz="1600" b="1" dirty="0">
                <a:solidFill>
                  <a:prstClr val="black"/>
                </a:solidFill>
                <a:latin typeface="+mn-ea"/>
                <a:cs typeface="Times New Roman" panose="02020603050405020304" pitchFamily="18" charset="0"/>
              </a:rPr>
              <a:t>以</a:t>
            </a:r>
            <a:r>
              <a:rPr lang="en-US" altLang="zh-CN" sz="1600" b="1" dirty="0">
                <a:solidFill>
                  <a:prstClr val="black"/>
                </a:solidFill>
                <a:latin typeface="+mn-ea"/>
                <a:cs typeface="Times New Roman" panose="02020603050405020304" pitchFamily="18" charset="0"/>
              </a:rPr>
              <a:t>再生纸浆循环回用实验数据</a:t>
            </a:r>
            <a:r>
              <a:rPr lang="zh-CN" altLang="en-US" sz="1600" b="1" dirty="0">
                <a:solidFill>
                  <a:prstClr val="black"/>
                </a:solidFill>
                <a:latin typeface="+mn-ea"/>
                <a:cs typeface="Times New Roman" panose="02020603050405020304" pitchFamily="18" charset="0"/>
              </a:rPr>
              <a:t>为基础</a:t>
            </a:r>
            <a:r>
              <a:rPr lang="en-US" altLang="zh-CN" sz="1600" b="1" dirty="0">
                <a:solidFill>
                  <a:srgbClr val="FF0000"/>
                </a:solidFill>
                <a:latin typeface="+mn-ea"/>
                <a:cs typeface="Times New Roman" panose="02020603050405020304" pitchFamily="18" charset="0"/>
              </a:rPr>
              <a:t>构建再生纸张物理强度预测模型</a:t>
            </a:r>
            <a:r>
              <a:rPr lang="zh-CN" altLang="en-US" sz="1600" b="1" dirty="0">
                <a:solidFill>
                  <a:prstClr val="black"/>
                </a:solidFill>
                <a:latin typeface="+mn-ea"/>
                <a:cs typeface="Times New Roman" panose="02020603050405020304" pitchFamily="18" charset="0"/>
              </a:rPr>
              <a:t>，旨在解决以下核心问题：</a:t>
            </a:r>
            <a:endParaRPr lang="zh-CN" altLang="en-US" sz="1600" b="1" dirty="0">
              <a:solidFill>
                <a:prstClr val="black"/>
              </a:solidFill>
              <a:latin typeface="+mn-ea"/>
              <a:cs typeface="Times New Roman" panose="02020603050405020304" pitchFamily="18" charset="0"/>
            </a:endParaRPr>
          </a:p>
          <a:p>
            <a:pPr>
              <a:lnSpc>
                <a:spcPct val="200000"/>
              </a:lnSpc>
            </a:pPr>
            <a:endParaRPr lang="zh-CN" altLang="en-US" sz="1600" b="1" dirty="0">
              <a:solidFill>
                <a:prstClr val="black"/>
              </a:solidFill>
              <a:latin typeface="+mn-ea"/>
              <a:cs typeface="Times New Roman" panose="02020603050405020304" pitchFamily="18" charset="0"/>
            </a:endParaRPr>
          </a:p>
          <a:p>
            <a:pPr>
              <a:lnSpc>
                <a:spcPct val="200000"/>
              </a:lnSpc>
            </a:pPr>
            <a:r>
              <a:rPr lang="en-US" altLang="zh-CN" sz="1600" b="1" dirty="0">
                <a:solidFill>
                  <a:prstClr val="black"/>
                </a:solidFill>
                <a:latin typeface="+mn-ea"/>
                <a:cs typeface="Times New Roman" panose="02020603050405020304" pitchFamily="18" charset="0"/>
              </a:rPr>
              <a:t>1. </a:t>
            </a:r>
            <a:r>
              <a:rPr lang="zh-CN" altLang="en-US" sz="1600" b="1" dirty="0">
                <a:solidFill>
                  <a:prstClr val="black"/>
                </a:solidFill>
                <a:latin typeface="+mn-ea"/>
                <a:cs typeface="Times New Roman" panose="02020603050405020304" pitchFamily="18" charset="0"/>
              </a:rPr>
              <a:t>再生纸张物理强度预测模型缺失：再生纸浆作为新兴事物，以往的纸张强度预测模型</a:t>
            </a:r>
            <a:r>
              <a:rPr lang="zh-CN" altLang="en-US" sz="1600" b="1" dirty="0">
                <a:solidFill>
                  <a:srgbClr val="FF0000"/>
                </a:solidFill>
                <a:latin typeface="+mn-ea"/>
                <a:cs typeface="Times New Roman" panose="02020603050405020304" pitchFamily="18" charset="0"/>
              </a:rPr>
              <a:t>难以适配其回用过程中纤维的特殊性</a:t>
            </a:r>
            <a:r>
              <a:rPr lang="zh-CN" altLang="en-US" sz="1600" b="1" dirty="0">
                <a:solidFill>
                  <a:prstClr val="black"/>
                </a:solidFill>
                <a:latin typeface="+mn-ea"/>
                <a:cs typeface="Times New Roman" panose="02020603050405020304" pitchFamily="18" charset="0"/>
              </a:rPr>
              <a:t>。</a:t>
            </a:r>
            <a:endParaRPr lang="zh-CN" altLang="en-US" sz="1600" b="1" dirty="0">
              <a:solidFill>
                <a:prstClr val="black"/>
              </a:solidFill>
              <a:latin typeface="+mn-ea"/>
              <a:cs typeface="Times New Roman" panose="02020603050405020304" pitchFamily="18" charset="0"/>
            </a:endParaRPr>
          </a:p>
          <a:p>
            <a:pPr>
              <a:lnSpc>
                <a:spcPct val="200000"/>
              </a:lnSpc>
            </a:pPr>
            <a:endParaRPr lang="zh-CN" altLang="en-US" sz="1600" b="1" dirty="0">
              <a:solidFill>
                <a:prstClr val="black"/>
              </a:solidFill>
              <a:latin typeface="+mn-ea"/>
              <a:cs typeface="Times New Roman" panose="02020603050405020304" pitchFamily="18" charset="0"/>
            </a:endParaRPr>
          </a:p>
          <a:p>
            <a:pPr>
              <a:lnSpc>
                <a:spcPct val="200000"/>
              </a:lnSpc>
            </a:pPr>
            <a:r>
              <a:rPr lang="en-US" altLang="zh-CN" sz="1600" b="1" dirty="0">
                <a:solidFill>
                  <a:prstClr val="black"/>
                </a:solidFill>
                <a:latin typeface="+mn-ea"/>
                <a:cs typeface="Times New Roman" panose="02020603050405020304" pitchFamily="18" charset="0"/>
              </a:rPr>
              <a:t>2. </a:t>
            </a:r>
            <a:r>
              <a:rPr lang="zh-CN" altLang="en-US" sz="1600" b="1" dirty="0">
                <a:solidFill>
                  <a:prstClr val="black"/>
                </a:solidFill>
                <a:latin typeface="+mn-ea"/>
                <a:cs typeface="Times New Roman" panose="02020603050405020304" pitchFamily="18" charset="0"/>
              </a:rPr>
              <a:t>特征冗余与共线性：纤维形态</a:t>
            </a:r>
            <a:r>
              <a:rPr lang="zh-CN" altLang="en-US" sz="1600" b="1" dirty="0">
                <a:solidFill>
                  <a:srgbClr val="FF0000"/>
                </a:solidFill>
                <a:latin typeface="+mn-ea"/>
                <a:cs typeface="Times New Roman" panose="02020603050405020304" pitchFamily="18" charset="0"/>
              </a:rPr>
              <a:t>参数间存在多重共线性，需通过特征筛选优化模型输入</a:t>
            </a:r>
            <a:r>
              <a:rPr lang="zh-CN" altLang="en-US" sz="1600" b="1" dirty="0">
                <a:solidFill>
                  <a:prstClr val="black"/>
                </a:solidFill>
                <a:latin typeface="+mn-ea"/>
                <a:cs typeface="Times New Roman" panose="02020603050405020304" pitchFamily="18" charset="0"/>
              </a:rPr>
              <a:t>。</a:t>
            </a:r>
            <a:endParaRPr lang="zh-CN" altLang="en-US" sz="1600" b="1" dirty="0">
              <a:solidFill>
                <a:prstClr val="black"/>
              </a:solidFill>
              <a:latin typeface="+mn-ea"/>
              <a:cs typeface="Times New Roman" panose="02020603050405020304" pitchFamily="18" charset="0"/>
            </a:endParaRPr>
          </a:p>
          <a:p>
            <a:pPr>
              <a:lnSpc>
                <a:spcPct val="150000"/>
              </a:lnSpc>
            </a:pPr>
            <a:endParaRPr lang="zh-CN" altLang="en-US" sz="1600" b="1" dirty="0">
              <a:solidFill>
                <a:prstClr val="black"/>
              </a:solidFill>
              <a:latin typeface="+mn-ea"/>
              <a:cs typeface="Times New Roman" panose="02020603050405020304" pitchFamily="18" charset="0"/>
            </a:endParaRPr>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3.1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研究路线</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25" name="图片 25" descr="E:/11AA研究生学习/毕设/0411修改/技术路线/第三章.png第三章"/>
          <p:cNvPicPr>
            <a:picLocks noChangeAspect="1"/>
          </p:cNvPicPr>
          <p:nvPr/>
        </p:nvPicPr>
        <p:blipFill>
          <a:blip r:embed="rId1"/>
          <a:srcRect t="7519" b="1344"/>
          <a:stretch>
            <a:fillRect/>
          </a:stretch>
        </p:blipFill>
        <p:spPr>
          <a:xfrm>
            <a:off x="6478270" y="140335"/>
            <a:ext cx="4712335" cy="657796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皮尔逊相关度分析</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27" name="图片 27" descr="纤维-物理"/>
          <p:cNvPicPr>
            <a:picLocks noChangeAspect="1"/>
          </p:cNvPicPr>
          <p:nvPr/>
        </p:nvPicPr>
        <p:blipFill>
          <a:blip r:embed="rId1"/>
          <a:srcRect l="2313" t="3938"/>
          <a:stretch>
            <a:fillRect/>
          </a:stretch>
        </p:blipFill>
        <p:spPr>
          <a:xfrm>
            <a:off x="389255" y="1299210"/>
            <a:ext cx="6120765" cy="4431665"/>
          </a:xfrm>
          <a:prstGeom prst="rect">
            <a:avLst/>
          </a:prstGeom>
        </p:spPr>
      </p:pic>
      <p:sp>
        <p:nvSpPr>
          <p:cNvPr id="22" name="矩形 21"/>
          <p:cNvSpPr/>
          <p:nvPr/>
        </p:nvSpPr>
        <p:spPr>
          <a:xfrm>
            <a:off x="6824980" y="1200785"/>
            <a:ext cx="5195570" cy="4457065"/>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940550" y="1289050"/>
            <a:ext cx="5080000" cy="2530475"/>
          </a:xfrm>
          <a:prstGeom prst="rect">
            <a:avLst/>
          </a:prstGeom>
          <a:noFill/>
        </p:spPr>
        <p:txBody>
          <a:bodyPr wrap="square" rtlCol="0">
            <a:noAutofit/>
          </a:bodyPr>
          <a:p>
            <a:pPr>
              <a:lnSpc>
                <a:spcPct val="200000"/>
              </a:lnSpc>
            </a:pPr>
            <a:r>
              <a:rPr lang="zh-CN" altLang="en-US" sz="1400" b="1" dirty="0">
                <a:latin typeface="Times New Roman" panose="02020603050405020304" pitchFamily="18" charset="0"/>
                <a:cs typeface="Times New Roman" panose="02020603050405020304" pitchFamily="18" charset="0"/>
              </a:rPr>
              <a:t>对纤维参数与物理强度皮尔逊相关系数表分析可知：</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抗张强度与分丝帚化长度比的皮尔逊相关系数为</a:t>
            </a:r>
            <a:r>
              <a:rPr lang="en-US" altLang="zh-CN" sz="1400" b="1" dirty="0">
                <a:latin typeface="Times New Roman" panose="02020603050405020304" pitchFamily="18" charset="0"/>
                <a:cs typeface="Times New Roman" panose="02020603050405020304" pitchFamily="18" charset="0"/>
              </a:rPr>
              <a:t>0.46</a:t>
            </a:r>
            <a:r>
              <a:rPr lang="zh-CN" altLang="en-US" sz="1400" b="1" dirty="0">
                <a:latin typeface="Times New Roman" panose="02020603050405020304" pitchFamily="18" charset="0"/>
                <a:cs typeface="Times New Roman" panose="02020603050405020304" pitchFamily="18" charset="0"/>
              </a:rPr>
              <a:t>，表明</a:t>
            </a:r>
            <a:r>
              <a:rPr lang="zh-CN" altLang="en-US" sz="1400" b="1" dirty="0">
                <a:solidFill>
                  <a:srgbClr val="FF0000"/>
                </a:solidFill>
                <a:latin typeface="Times New Roman" panose="02020603050405020304" pitchFamily="18" charset="0"/>
                <a:cs typeface="Times New Roman" panose="02020603050405020304" pitchFamily="18" charset="0"/>
              </a:rPr>
              <a:t>纤维表面的分丝帚化能力是影响抗张强度的核心因素</a:t>
            </a:r>
            <a:r>
              <a:rPr lang="zh-CN" altLang="en-US" sz="1400" b="1" dirty="0">
                <a:latin typeface="Times New Roman" panose="02020603050405020304" pitchFamily="18" charset="0"/>
                <a:cs typeface="Times New Roman" panose="02020603050405020304" pitchFamily="18" charset="0"/>
              </a:rPr>
              <a:t>，纤维表面分丝及帚化的强弱直接决定纤维间的结合力与网络结构稳定性</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t>扭结纤维占比与抗张强度和撕裂度的关系中呈现明显的负相关关系，这是因为</a:t>
            </a:r>
            <a:r>
              <a:rPr lang="zh-CN" altLang="en-US" sz="1400" b="1" dirty="0">
                <a:solidFill>
                  <a:srgbClr val="FF0000"/>
                </a:solidFill>
              </a:rPr>
              <a:t>适当的扭结纤维占比能增强纤维间的结合，有助于提高材料的强度、韧性等性能</a:t>
            </a:r>
            <a:r>
              <a:rPr lang="zh-CN" altLang="en-US" sz="1400" b="1" dirty="0"/>
              <a:t>，但是当纤维</a:t>
            </a:r>
            <a:r>
              <a:rPr lang="zh-CN" altLang="en-US" sz="1400" b="1" dirty="0">
                <a:solidFill>
                  <a:srgbClr val="FF0000"/>
                </a:solidFill>
              </a:rPr>
              <a:t>扭结过高会导致纤维间结合僵直</a:t>
            </a:r>
            <a:r>
              <a:rPr lang="zh-CN" altLang="en-US" sz="1400" b="1" dirty="0"/>
              <a:t>，失去应有的柔韧性和可变形性；</a:t>
            </a:r>
            <a:endParaRPr lang="zh-CN" altLang="en-US" sz="1400" b="1" dirty="0"/>
          </a:p>
          <a:p>
            <a:pPr marL="285750" indent="-285750">
              <a:lnSpc>
                <a:spcPct val="150000"/>
              </a:lnSpc>
              <a:buFont typeface="Wingdings" panose="05000000000000000000" pitchFamily="2" charset="2"/>
              <a:buChar char="p"/>
            </a:pPr>
            <a:endParaRPr lang="zh-CN" altLang="en-US" sz="1400" b="1" dirty="0"/>
          </a:p>
        </p:txBody>
      </p:sp>
      <p:sp>
        <p:nvSpPr>
          <p:cNvPr id="9" name="文本框 8"/>
          <p:cNvSpPr txBox="1"/>
          <p:nvPr/>
        </p:nvSpPr>
        <p:spPr>
          <a:xfrm>
            <a:off x="1737360" y="960120"/>
            <a:ext cx="3484880" cy="556895"/>
          </a:xfrm>
          <a:prstGeom prst="rect">
            <a:avLst/>
          </a:prstGeom>
        </p:spPr>
        <p:txBody>
          <a:bodyPr>
            <a:no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纤维参数与物理强度</a:t>
            </a:r>
            <a:r>
              <a:rPr lang="zh-CN" altLang="en-US" sz="1400">
                <a:latin typeface="微软雅黑" panose="020B0503020204020204" pitchFamily="34" charset="-122"/>
                <a:ea typeface="微软雅黑" panose="020B0503020204020204" pitchFamily="34" charset="-122"/>
              </a:rPr>
              <a:t>皮尔逊相关系数表</a:t>
            </a:r>
            <a:endParaRPr lang="zh-CN" altLang="en-US" sz="1400">
              <a:latin typeface="微软雅黑" panose="020B0503020204020204" pitchFamily="34" charset="-122"/>
              <a:ea typeface="微软雅黑" panose="020B0503020204020204" pitchFamily="34" charset="-122"/>
            </a:endParaRPr>
          </a:p>
        </p:txBody>
      </p:sp>
      <p:sp>
        <p:nvSpPr>
          <p:cNvPr id="2" name="矩形 1"/>
          <p:cNvSpPr/>
          <p:nvPr/>
        </p:nvSpPr>
        <p:spPr>
          <a:xfrm>
            <a:off x="629285" y="4530090"/>
            <a:ext cx="5133975" cy="21590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629285" y="4156075"/>
            <a:ext cx="5133975" cy="215900"/>
          </a:xfrm>
          <a:prstGeom prst="rect">
            <a:avLst/>
          </a:prstGeom>
          <a:noFill/>
          <a:ln w="28575">
            <a:solidFill>
              <a:schemeClr val="accent6">
                <a:lumMod val="5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皮尔逊相关度分析</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6824980" y="1229995"/>
            <a:ext cx="5195570" cy="4498340"/>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900545" y="1200785"/>
            <a:ext cx="5168900" cy="2542540"/>
          </a:xfrm>
          <a:prstGeom prst="rect">
            <a:avLst/>
          </a:prstGeom>
          <a:noFill/>
        </p:spPr>
        <p:txBody>
          <a:bodyPr wrap="square" rtlCol="0">
            <a:noAutofit/>
          </a:bodyPr>
          <a:p>
            <a:pPr>
              <a:lnSpc>
                <a:spcPct val="200000"/>
              </a:lnSpc>
            </a:pPr>
            <a:r>
              <a:rPr lang="zh-CN" altLang="en-US" sz="1400" b="1" dirty="0">
                <a:latin typeface="Times New Roman" panose="02020603050405020304" pitchFamily="18" charset="0"/>
                <a:cs typeface="Times New Roman" panose="02020603050405020304" pitchFamily="18" charset="0"/>
              </a:rPr>
              <a:t>使用皮尔逊相关系数分析纤维形态参数之间的线性相关性，</a:t>
            </a:r>
            <a:r>
              <a:rPr lang="zh-CN" altLang="en-US" sz="1400" b="1" dirty="0">
                <a:solidFill>
                  <a:srgbClr val="FF0000"/>
                </a:solidFill>
                <a:latin typeface="Times New Roman" panose="02020603050405020304" pitchFamily="18" charset="0"/>
                <a:cs typeface="Times New Roman" panose="02020603050405020304" pitchFamily="18" charset="0"/>
              </a:rPr>
              <a:t>筛选出强线性相关性</a:t>
            </a:r>
            <a:r>
              <a:rPr lang="zh-CN" altLang="en-US" sz="1400" b="1" dirty="0">
                <a:solidFill>
                  <a:srgbClr val="FF0000"/>
                </a:solidFill>
                <a:latin typeface="Times New Roman" panose="02020603050405020304" pitchFamily="18" charset="0"/>
                <a:cs typeface="Times New Roman" panose="02020603050405020304" pitchFamily="18" charset="0"/>
              </a:rPr>
              <a:t>参数对</a:t>
            </a:r>
            <a:r>
              <a:rPr lang="zh-CN" altLang="en-US" sz="1400" b="1" dirty="0">
                <a:latin typeface="Times New Roman" panose="02020603050405020304" pitchFamily="18" charset="0"/>
                <a:cs typeface="Times New Roman" panose="02020603050405020304" pitchFamily="18" charset="0"/>
              </a:rPr>
              <a:t>，</a:t>
            </a:r>
            <a:r>
              <a:rPr lang="zh-CN" altLang="en-US" sz="1400" b="1" dirty="0">
                <a:solidFill>
                  <a:srgbClr val="FF0000"/>
                </a:solidFill>
                <a:latin typeface="Times New Roman" panose="02020603050405020304" pitchFamily="18" charset="0"/>
                <a:cs typeface="Times New Roman" panose="02020603050405020304" pitchFamily="18" charset="0"/>
              </a:rPr>
              <a:t>实现剔除冗余特征降低模型复杂度的目的</a:t>
            </a:r>
            <a:r>
              <a:rPr lang="zh-CN" altLang="en-US"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同时对相关系数表分析可知：</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en-US" altLang="zh-CN" sz="1400" b="1" dirty="0">
                <a:latin typeface="Times New Roman" panose="02020603050405020304" pitchFamily="18" charset="0"/>
                <a:cs typeface="Times New Roman" panose="02020603050405020304" pitchFamily="18" charset="0"/>
              </a:rPr>
              <a:t>0.67-1.0 mm</a:t>
            </a:r>
            <a:r>
              <a:rPr lang="zh-CN" altLang="en-US" sz="1400" b="1" dirty="0">
                <a:latin typeface="Times New Roman" panose="02020603050405020304" pitchFamily="18" charset="0"/>
                <a:cs typeface="Times New Roman" panose="02020603050405020304" pitchFamily="18" charset="0"/>
              </a:rPr>
              <a:t>纤维长度占比与长度加权比</a:t>
            </a:r>
            <a:r>
              <a:rPr lang="zh-CN" altLang="en-US" sz="1400" b="1" dirty="0">
                <a:solidFill>
                  <a:srgbClr val="FF0000"/>
                </a:solidFill>
                <a:latin typeface="Times New Roman" panose="02020603050405020304" pitchFamily="18" charset="0"/>
                <a:cs typeface="Times New Roman" panose="02020603050405020304" pitchFamily="18" charset="0"/>
              </a:rPr>
              <a:t>有显著的线性关系</a:t>
            </a:r>
            <a:r>
              <a:rPr lang="zh-CN" altLang="en-US" sz="1400" b="1" dirty="0">
                <a:latin typeface="Times New Roman" panose="02020603050405020304" pitchFamily="18" charset="0"/>
                <a:cs typeface="Times New Roman" panose="02020603050405020304" pitchFamily="18" charset="0"/>
              </a:rPr>
              <a:t>。但长度加权比作为一个全局统计量</a:t>
            </a:r>
            <a:r>
              <a:rPr lang="zh-CN" altLang="en-US" sz="1400" b="1" dirty="0">
                <a:solidFill>
                  <a:srgbClr val="FF0000"/>
                </a:solidFill>
                <a:latin typeface="Times New Roman" panose="02020603050405020304" pitchFamily="18" charset="0"/>
                <a:cs typeface="Times New Roman" panose="02020603050405020304" pitchFamily="18" charset="0"/>
              </a:rPr>
              <a:t>无法反映出纤维长度在循环中发生的非对称变化</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en-US" altLang="zh-CN" sz="1400" b="1" dirty="0">
                <a:solidFill>
                  <a:srgbClr val="FF0000"/>
                </a:solidFill>
              </a:rPr>
              <a:t>扭结角度与其他纤维形态参数、物理强度都无显著的线性关系</a:t>
            </a:r>
            <a:r>
              <a:rPr lang="zh-CN" altLang="en-US" sz="1400" b="1" dirty="0"/>
              <a:t>，同时其本身在循环回用实验中的总变化率在</a:t>
            </a:r>
            <a:r>
              <a:rPr lang="en-US" altLang="zh-CN" sz="1400" b="1" dirty="0"/>
              <a:t>5%</a:t>
            </a:r>
            <a:r>
              <a:rPr lang="zh-CN" altLang="en-US" sz="1400" b="1" dirty="0"/>
              <a:t>以内说明其本身性质受原料种类影响，在实际工艺中也难以通过工艺调控，因此在后续建模过程中舍去。</a:t>
            </a:r>
            <a:endParaRPr lang="zh-CN" altLang="en-US" sz="1400" b="1" dirty="0"/>
          </a:p>
          <a:p>
            <a:pPr marL="285750" indent="-285750">
              <a:lnSpc>
                <a:spcPct val="150000"/>
              </a:lnSpc>
              <a:buFont typeface="Wingdings" panose="05000000000000000000" pitchFamily="2" charset="2"/>
              <a:buChar char="p"/>
            </a:pPr>
            <a:endParaRPr lang="zh-CN" altLang="en-US" sz="1400" b="1" dirty="0"/>
          </a:p>
        </p:txBody>
      </p:sp>
      <p:sp>
        <p:nvSpPr>
          <p:cNvPr id="9" name="文本框 8"/>
          <p:cNvSpPr txBox="1"/>
          <p:nvPr/>
        </p:nvSpPr>
        <p:spPr>
          <a:xfrm>
            <a:off x="1737360" y="732155"/>
            <a:ext cx="3484880" cy="556895"/>
          </a:xfrm>
          <a:prstGeom prst="rect">
            <a:avLst/>
          </a:prstGeom>
        </p:spPr>
        <p:txBody>
          <a:bodyPr>
            <a:no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纤维参数</a:t>
            </a:r>
            <a:r>
              <a:rPr lang="zh-CN" altLang="en-US" sz="1400">
                <a:latin typeface="微软雅黑" panose="020B0503020204020204" pitchFamily="34" charset="-122"/>
                <a:ea typeface="微软雅黑" panose="020B0503020204020204" pitchFamily="34" charset="-122"/>
              </a:rPr>
              <a:t>之间皮尔逊相关系数表</a:t>
            </a:r>
            <a:endParaRPr lang="zh-CN" altLang="en-US" sz="1400">
              <a:latin typeface="微软雅黑" panose="020B0503020204020204" pitchFamily="34" charset="-122"/>
              <a:ea typeface="微软雅黑" panose="020B0503020204020204" pitchFamily="34" charset="-122"/>
            </a:endParaRPr>
          </a:p>
        </p:txBody>
      </p:sp>
      <p:pic>
        <p:nvPicPr>
          <p:cNvPr id="28" name="图片 28" descr="E:/11AA研究生学习/海关数据/SVM少数据/test/皮尔逊/纤维之间.png纤维之间"/>
          <p:cNvPicPr>
            <a:picLocks noChangeAspect="1"/>
          </p:cNvPicPr>
          <p:nvPr/>
        </p:nvPicPr>
        <p:blipFill>
          <a:blip r:embed="rId1"/>
          <a:srcRect l="83" t="2262" r="128"/>
          <a:stretch>
            <a:fillRect/>
          </a:stretch>
        </p:blipFill>
        <p:spPr>
          <a:xfrm>
            <a:off x="283210" y="1177290"/>
            <a:ext cx="6393180" cy="5418455"/>
          </a:xfrm>
          <a:prstGeom prst="rect">
            <a:avLst/>
          </a:prstGeom>
        </p:spPr>
      </p:pic>
      <p:sp>
        <p:nvSpPr>
          <p:cNvPr id="2" name="矩形 1"/>
          <p:cNvSpPr/>
          <p:nvPr/>
        </p:nvSpPr>
        <p:spPr>
          <a:xfrm>
            <a:off x="2440940" y="3546475"/>
            <a:ext cx="469900" cy="196850"/>
          </a:xfrm>
          <a:prstGeom prst="rect">
            <a:avLst/>
          </a:prstGeom>
          <a:noFill/>
          <a:ln w="28575">
            <a:solidFill>
              <a:schemeClr val="accent6">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4349115" y="4624070"/>
            <a:ext cx="292735" cy="196850"/>
          </a:xfrm>
          <a:prstGeom prst="rect">
            <a:avLst/>
          </a:prstGeom>
          <a:noFill/>
          <a:ln w="28575">
            <a:solidFill>
              <a:schemeClr val="accent6">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5222240" y="5485765"/>
            <a:ext cx="244475" cy="196850"/>
          </a:xfrm>
          <a:prstGeom prst="rect">
            <a:avLst/>
          </a:prstGeom>
          <a:noFill/>
          <a:ln w="28575">
            <a:solidFill>
              <a:schemeClr val="accent6">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3.2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皮尔逊相关度分析</a:t>
            </a:r>
            <a:r>
              <a:rPr lang="zh-CN" altLang="en-US" b="1" dirty="0">
                <a:latin typeface="+mn-ea"/>
              </a:rPr>
              <a:t> </a:t>
            </a:r>
            <a:endParaRPr lang="en-US" altLang="zh-CN" sz="2400" b="1" dirty="0">
              <a:solidFill>
                <a:schemeClr val="tx1">
                  <a:lumMod val="65000"/>
                  <a:lumOff val="35000"/>
                </a:schemeClr>
              </a:solidFill>
              <a:latin typeface="+mn-ea"/>
            </a:endParaRPr>
          </a:p>
        </p:txBody>
      </p:sp>
      <p:graphicFrame>
        <p:nvGraphicFramePr>
          <p:cNvPr id="7" name="表格 6"/>
          <p:cNvGraphicFramePr/>
          <p:nvPr/>
        </p:nvGraphicFramePr>
        <p:xfrm>
          <a:off x="5143183" y="758698"/>
          <a:ext cx="11330305" cy="5269230"/>
        </p:xfrm>
        <a:graphic>
          <a:graphicData uri="http://schemas.openxmlformats.org/drawingml/2006/table">
            <a:tbl>
              <a:tblPr/>
              <a:tblGrid>
                <a:gridCol w="2487295"/>
              </a:tblGrid>
              <a:tr h="539115">
                <a:tc>
                  <a:txBody>
                    <a:bodyPr/>
                    <a:p>
                      <a:pPr marL="0" indent="0" algn="ctr">
                        <a:lnSpc>
                          <a:spcPct val="150000"/>
                        </a:lnSpc>
                        <a:spcBef>
                          <a:spcPct val="0"/>
                        </a:spcBef>
                        <a:spcAft>
                          <a:spcPct val="0"/>
                        </a:spcAft>
                      </a:pPr>
                      <a:r>
                        <a:rPr lang="en-US" altLang="zh-CN" sz="1400">
                          <a:solidFill>
                            <a:srgbClr val="000000"/>
                          </a:solidFill>
                          <a:latin typeface="+mn-ea"/>
                        </a:rPr>
                        <a:t>15</a:t>
                      </a:r>
                      <a:r>
                        <a:rPr lang="zh-CN" altLang="en-US" sz="1400">
                          <a:solidFill>
                            <a:srgbClr val="000000"/>
                          </a:solidFill>
                          <a:latin typeface="+mn-ea"/>
                        </a:rPr>
                        <a:t>个</a:t>
                      </a:r>
                      <a:r>
                        <a:rPr lang="zh-CN" sz="1400">
                          <a:solidFill>
                            <a:srgbClr val="000000"/>
                          </a:solidFill>
                          <a:latin typeface="+mn-ea"/>
                        </a:rPr>
                        <a:t>输入参数</a:t>
                      </a:r>
                      <a:endParaRPr lang="zh-CN" sz="1400">
                        <a:solidFill>
                          <a:srgbClr val="000000"/>
                        </a:solidFill>
                        <a:latin typeface="+mn-ea"/>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6065">
                <a:tc>
                  <a:txBody>
                    <a:bodyPr/>
                    <a:p>
                      <a:pPr marL="0" indent="0" algn="ctr">
                        <a:lnSpc>
                          <a:spcPct val="150000"/>
                        </a:lnSpc>
                        <a:spcBef>
                          <a:spcPct val="0"/>
                        </a:spcBef>
                        <a:spcAft>
                          <a:spcPct val="0"/>
                        </a:spcAft>
                      </a:pPr>
                      <a:r>
                        <a:rPr lang="en-US" altLang="zh-CN" sz="1400">
                          <a:solidFill>
                            <a:srgbClr val="000000"/>
                          </a:solidFill>
                          <a:latin typeface="+mn-ea"/>
                          <a:cs typeface="+mn-ea"/>
                        </a:rPr>
                        <a:t>0.2-0.3 mm</a:t>
                      </a:r>
                      <a:r>
                        <a:rPr lang="zh-CN" sz="1400">
                          <a:solidFill>
                            <a:srgbClr val="000000"/>
                          </a:solidFill>
                          <a:latin typeface="+mn-ea"/>
                          <a:cs typeface="+mn-ea"/>
                        </a:rPr>
                        <a:t>纤维</a:t>
                      </a:r>
                      <a:r>
                        <a:rPr lang="zh-CN" sz="1400">
                          <a:solidFill>
                            <a:srgbClr val="000000"/>
                          </a:solidFill>
                          <a:latin typeface="+mn-ea"/>
                          <a:cs typeface="+mn-ea"/>
                        </a:rPr>
                        <a:t>占比</a:t>
                      </a:r>
                      <a:endParaRPr lang="zh-CN" sz="1400">
                        <a:solidFill>
                          <a:srgbClr val="000000"/>
                        </a:solidFill>
                        <a:latin typeface="+mn-ea"/>
                        <a:cs typeface="+mn-ea"/>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260350">
                <a:tc>
                  <a:txBody>
                    <a:bodyPr/>
                    <a:p>
                      <a:pPr marL="0" indent="0" algn="ctr">
                        <a:lnSpc>
                          <a:spcPct val="150000"/>
                        </a:lnSpc>
                        <a:spcBef>
                          <a:spcPct val="0"/>
                        </a:spcBef>
                        <a:spcAft>
                          <a:spcPct val="0"/>
                        </a:spcAft>
                      </a:pPr>
                      <a:r>
                        <a:rPr lang="en-US" altLang="zh-CN" sz="1400">
                          <a:solidFill>
                            <a:srgbClr val="000000"/>
                          </a:solidFill>
                          <a:latin typeface="+mn-ea"/>
                          <a:cs typeface="+mn-ea"/>
                        </a:rPr>
                        <a:t>0.3-0.45 mm</a:t>
                      </a:r>
                      <a:r>
                        <a:rPr lang="zh-CN" sz="1400">
                          <a:solidFill>
                            <a:srgbClr val="000000"/>
                          </a:solidFill>
                          <a:latin typeface="+mn-ea"/>
                          <a:cs typeface="+mn-ea"/>
                        </a:rPr>
                        <a:t>纤维占比</a:t>
                      </a:r>
                      <a:endParaRPr lang="zh-CN" sz="1400">
                        <a:solidFill>
                          <a:srgbClr val="000000"/>
                        </a:solidFill>
                        <a:latin typeface="+mn-ea"/>
                        <a:cs typeface="+mn-ea"/>
                      </a:endParaRPr>
                    </a:p>
                  </a:txBody>
                  <a:tcPr marL="68580" marR="68580" marT="0" marB="0" anchor="ctr" anchorCtr="0">
                    <a:lnL>
                      <a:noFill/>
                    </a:lnL>
                    <a:lnR>
                      <a:noFill/>
                    </a:lnR>
                    <a:lnT>
                      <a:noFill/>
                    </a:lnT>
                    <a:lnB>
                      <a:noFill/>
                    </a:lnB>
                    <a:noFill/>
                  </a:tcPr>
                </a:tc>
              </a:tr>
              <a:tr h="266700">
                <a:tc>
                  <a:txBody>
                    <a:bodyPr/>
                    <a:p>
                      <a:pPr marL="0" indent="0" algn="ctr">
                        <a:lnSpc>
                          <a:spcPct val="150000"/>
                        </a:lnSpc>
                        <a:spcBef>
                          <a:spcPct val="0"/>
                        </a:spcBef>
                        <a:spcAft>
                          <a:spcPct val="0"/>
                        </a:spcAft>
                      </a:pPr>
                      <a:r>
                        <a:rPr lang="en-US" altLang="zh-CN" sz="1400">
                          <a:solidFill>
                            <a:srgbClr val="000000"/>
                          </a:solidFill>
                          <a:latin typeface="+mn-ea"/>
                          <a:cs typeface="+mn-ea"/>
                        </a:rPr>
                        <a:t>0.67-1.0 mm</a:t>
                      </a:r>
                      <a:r>
                        <a:rPr lang="zh-CN" sz="1400">
                          <a:solidFill>
                            <a:srgbClr val="000000"/>
                          </a:solidFill>
                          <a:latin typeface="+mn-ea"/>
                          <a:cs typeface="+mn-ea"/>
                        </a:rPr>
                        <a:t>纤维</a:t>
                      </a:r>
                      <a:r>
                        <a:rPr lang="zh-CN" sz="1400">
                          <a:solidFill>
                            <a:srgbClr val="000000"/>
                          </a:solidFill>
                          <a:latin typeface="+mn-ea"/>
                          <a:cs typeface="+mn-ea"/>
                        </a:rPr>
                        <a:t>占比</a:t>
                      </a:r>
                      <a:endParaRPr lang="zh-CN" sz="1400">
                        <a:solidFill>
                          <a:srgbClr val="000000"/>
                        </a:solidFill>
                        <a:latin typeface="+mn-ea"/>
                        <a:cs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en-US" altLang="zh-CN" sz="1400">
                          <a:solidFill>
                            <a:srgbClr val="000000"/>
                          </a:solidFill>
                          <a:latin typeface="+mn-ea"/>
                          <a:cs typeface="+mn-ea"/>
                        </a:rPr>
                        <a:t>1.0-1.5 mm</a:t>
                      </a:r>
                      <a:r>
                        <a:rPr lang="zh-CN" sz="1400">
                          <a:solidFill>
                            <a:srgbClr val="000000"/>
                          </a:solidFill>
                          <a:latin typeface="+mn-ea"/>
                          <a:cs typeface="+mn-ea"/>
                        </a:rPr>
                        <a:t>纤维</a:t>
                      </a:r>
                      <a:r>
                        <a:rPr lang="zh-CN" sz="1400">
                          <a:solidFill>
                            <a:srgbClr val="000000"/>
                          </a:solidFill>
                          <a:latin typeface="+mn-ea"/>
                          <a:cs typeface="+mn-ea"/>
                        </a:rPr>
                        <a:t>占比</a:t>
                      </a:r>
                      <a:endParaRPr lang="zh-CN" sz="1400">
                        <a:solidFill>
                          <a:srgbClr val="000000"/>
                        </a:solidFill>
                        <a:latin typeface="+mn-ea"/>
                        <a:cs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en-US" altLang="zh-CN" sz="1400">
                          <a:solidFill>
                            <a:srgbClr val="000000"/>
                          </a:solidFill>
                          <a:latin typeface="+mn-ea"/>
                          <a:cs typeface="+mn-ea"/>
                        </a:rPr>
                        <a:t>1.5-2.24 mm</a:t>
                      </a:r>
                      <a:r>
                        <a:rPr lang="zh-CN" sz="1400">
                          <a:solidFill>
                            <a:srgbClr val="000000"/>
                          </a:solidFill>
                          <a:latin typeface="+mn-ea"/>
                          <a:cs typeface="+mn-ea"/>
                        </a:rPr>
                        <a:t>纤维</a:t>
                      </a:r>
                      <a:r>
                        <a:rPr lang="zh-CN" sz="1400">
                          <a:solidFill>
                            <a:srgbClr val="000000"/>
                          </a:solidFill>
                          <a:latin typeface="+mn-ea"/>
                          <a:cs typeface="+mn-ea"/>
                        </a:rPr>
                        <a:t>中占比</a:t>
                      </a:r>
                      <a:endParaRPr lang="zh-CN" sz="1400">
                        <a:solidFill>
                          <a:srgbClr val="000000"/>
                        </a:solidFill>
                        <a:latin typeface="+mn-ea"/>
                        <a:cs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en-US" altLang="zh-CN" sz="1400">
                          <a:solidFill>
                            <a:srgbClr val="000000"/>
                          </a:solidFill>
                          <a:latin typeface="+mn-ea"/>
                          <a:cs typeface="+mn-ea"/>
                        </a:rPr>
                        <a:t>3.35-5.01 mm</a:t>
                      </a:r>
                      <a:r>
                        <a:rPr lang="zh-CN" sz="1400">
                          <a:solidFill>
                            <a:srgbClr val="000000"/>
                          </a:solidFill>
                          <a:latin typeface="+mn-ea"/>
                          <a:cs typeface="+mn-ea"/>
                        </a:rPr>
                        <a:t>纤维</a:t>
                      </a:r>
                      <a:r>
                        <a:rPr lang="zh-CN" sz="1400">
                          <a:solidFill>
                            <a:srgbClr val="000000"/>
                          </a:solidFill>
                          <a:latin typeface="+mn-ea"/>
                          <a:cs typeface="+mn-ea"/>
                        </a:rPr>
                        <a:t>占比</a:t>
                      </a:r>
                      <a:endParaRPr lang="zh-CN" sz="1400">
                        <a:solidFill>
                          <a:srgbClr val="000000"/>
                        </a:solidFill>
                        <a:latin typeface="+mn-ea"/>
                        <a:cs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cs typeface="+mn-ea"/>
                        </a:rPr>
                        <a:t>＞</a:t>
                      </a:r>
                      <a:r>
                        <a:rPr lang="en-US" altLang="zh-CN" sz="1400">
                          <a:solidFill>
                            <a:srgbClr val="000000"/>
                          </a:solidFill>
                          <a:latin typeface="+mn-ea"/>
                          <a:cs typeface="+mn-ea"/>
                        </a:rPr>
                        <a:t>7.5 mm</a:t>
                      </a:r>
                      <a:r>
                        <a:rPr lang="zh-CN" sz="1400">
                          <a:solidFill>
                            <a:srgbClr val="000000"/>
                          </a:solidFill>
                          <a:latin typeface="+mn-ea"/>
                          <a:cs typeface="+mn-ea"/>
                        </a:rPr>
                        <a:t>纤维</a:t>
                      </a:r>
                      <a:r>
                        <a:rPr lang="zh-CN" sz="1400">
                          <a:solidFill>
                            <a:srgbClr val="000000"/>
                          </a:solidFill>
                          <a:latin typeface="+mn-ea"/>
                          <a:cs typeface="+mn-ea"/>
                        </a:rPr>
                        <a:t>占比</a:t>
                      </a:r>
                      <a:endParaRPr lang="zh-CN" sz="1400">
                        <a:solidFill>
                          <a:srgbClr val="000000"/>
                        </a:solidFill>
                        <a:latin typeface="+mn-ea"/>
                        <a:cs typeface="+mn-ea"/>
                      </a:endParaRPr>
                    </a:p>
                  </a:txBody>
                  <a:tcPr marL="68580" marR="68580" marT="0" marB="0" anchor="ctr" anchorCtr="0">
                    <a:lnL>
                      <a:noFill/>
                    </a:lnL>
                    <a:lnR>
                      <a:noFill/>
                    </a:lnR>
                    <a:lnT>
                      <a:noFill/>
                    </a:lnT>
                    <a:lnB>
                      <a:noFill/>
                    </a:lnB>
                    <a:noFill/>
                  </a:tcPr>
                </a:tc>
              </a:tr>
              <a:tr h="266700">
                <a:tc>
                  <a:txBody>
                    <a:bodyPr/>
                    <a:p>
                      <a:pPr marL="0" indent="0" algn="ctr">
                        <a:lnSpc>
                          <a:spcPct val="150000"/>
                        </a:lnSpc>
                        <a:spcBef>
                          <a:spcPct val="0"/>
                        </a:spcBef>
                        <a:spcAft>
                          <a:spcPct val="0"/>
                        </a:spcAft>
                      </a:pPr>
                      <a:r>
                        <a:rPr lang="zh-CN" sz="1400">
                          <a:solidFill>
                            <a:srgbClr val="000000"/>
                          </a:solidFill>
                          <a:latin typeface="+mn-ea"/>
                        </a:rPr>
                        <a:t>算数平均长</a:t>
                      </a:r>
                      <a:endParaRPr lang="zh-CN" sz="1400">
                        <a:solidFill>
                          <a:srgbClr val="000000"/>
                        </a:solidFill>
                        <a:latin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rPr>
                        <a:t>宽度</a:t>
                      </a:r>
                      <a:endParaRPr lang="zh-CN" sz="1400">
                        <a:solidFill>
                          <a:srgbClr val="000000"/>
                        </a:solidFill>
                        <a:latin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rPr>
                        <a:t>粗度</a:t>
                      </a:r>
                      <a:endParaRPr lang="zh-CN" sz="1400">
                        <a:solidFill>
                          <a:srgbClr val="000000"/>
                        </a:solidFill>
                        <a:latin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rPr>
                        <a:t>扭结纤维占比</a:t>
                      </a:r>
                      <a:endParaRPr lang="zh-CN" sz="1400">
                        <a:solidFill>
                          <a:srgbClr val="000000"/>
                        </a:solidFill>
                        <a:latin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rPr>
                        <a:t>分丝帚化长度比</a:t>
                      </a:r>
                      <a:endParaRPr lang="zh-CN" sz="1400">
                        <a:solidFill>
                          <a:srgbClr val="000000"/>
                        </a:solidFill>
                        <a:latin typeface="+mn-ea"/>
                      </a:endParaRPr>
                    </a:p>
                  </a:txBody>
                  <a:tcPr marL="68580" marR="68580" marT="0" marB="0" anchor="ctr" anchorCtr="0">
                    <a:lnL>
                      <a:noFill/>
                    </a:lnL>
                    <a:lnR>
                      <a:noFill/>
                    </a:lnR>
                    <a:lnT>
                      <a:noFill/>
                    </a:lnT>
                    <a:lnB>
                      <a:noFill/>
                    </a:lnB>
                    <a:noFill/>
                  </a:tcPr>
                </a:tc>
              </a:tr>
              <a:tr h="266700">
                <a:tc>
                  <a:txBody>
                    <a:bodyPr/>
                    <a:p>
                      <a:pPr marL="0" indent="0" algn="ctr">
                        <a:lnSpc>
                          <a:spcPct val="150000"/>
                        </a:lnSpc>
                        <a:spcBef>
                          <a:spcPct val="0"/>
                        </a:spcBef>
                        <a:spcAft>
                          <a:spcPct val="0"/>
                        </a:spcAft>
                      </a:pPr>
                      <a:r>
                        <a:rPr lang="zh-CN" sz="1400">
                          <a:solidFill>
                            <a:srgbClr val="000000"/>
                          </a:solidFill>
                          <a:latin typeface="+mn-ea"/>
                        </a:rPr>
                        <a:t>折断纤维比</a:t>
                      </a:r>
                      <a:endParaRPr lang="zh-CN" sz="1400">
                        <a:solidFill>
                          <a:srgbClr val="000000"/>
                        </a:solidFill>
                        <a:latin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rPr>
                        <a:t>细小纤维长度比</a:t>
                      </a:r>
                      <a:endParaRPr lang="zh-CN" sz="1400">
                        <a:solidFill>
                          <a:srgbClr val="000000"/>
                        </a:solidFill>
                        <a:latin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sz="1400">
                          <a:solidFill>
                            <a:srgbClr val="000000"/>
                          </a:solidFill>
                          <a:latin typeface="+mn-ea"/>
                        </a:rPr>
                        <a:t>细小纤维面积比</a:t>
                      </a:r>
                      <a:endParaRPr lang="zh-CN" sz="1400">
                        <a:solidFill>
                          <a:srgbClr val="000000"/>
                        </a:solidFill>
                        <a:latin typeface="+mn-ea"/>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graphicFrame>
        <p:nvGraphicFramePr>
          <p:cNvPr id="9" name="表格 8"/>
          <p:cNvGraphicFramePr/>
          <p:nvPr/>
        </p:nvGraphicFramePr>
        <p:xfrm>
          <a:off x="9216073" y="2435098"/>
          <a:ext cx="2487295" cy="1499235"/>
        </p:xfrm>
        <a:graphic>
          <a:graphicData uri="http://schemas.openxmlformats.org/drawingml/2006/table">
            <a:tbl>
              <a:tblPr/>
              <a:tblGrid>
                <a:gridCol w="2487295"/>
              </a:tblGrid>
              <a:tr h="539115">
                <a:tc>
                  <a:txBody>
                    <a:bodyPr/>
                    <a:p>
                      <a:pPr marL="0" indent="0" algn="ctr">
                        <a:lnSpc>
                          <a:spcPct val="150000"/>
                        </a:lnSpc>
                        <a:spcBef>
                          <a:spcPct val="0"/>
                        </a:spcBef>
                        <a:spcAft>
                          <a:spcPct val="0"/>
                        </a:spcAft>
                      </a:pPr>
                      <a:r>
                        <a:rPr lang="en-US" sz="1400">
                          <a:solidFill>
                            <a:srgbClr val="000000"/>
                          </a:solidFill>
                          <a:latin typeface="+mn-ea"/>
                        </a:rPr>
                        <a:t>3</a:t>
                      </a:r>
                      <a:r>
                        <a:rPr lang="zh-CN" altLang="en-US" sz="1400">
                          <a:solidFill>
                            <a:srgbClr val="000000"/>
                          </a:solidFill>
                          <a:latin typeface="+mn-ea"/>
                        </a:rPr>
                        <a:t>个</a:t>
                      </a:r>
                      <a:r>
                        <a:rPr lang="zh-CN" altLang="en-US" sz="1400">
                          <a:solidFill>
                            <a:srgbClr val="000000"/>
                          </a:solidFill>
                          <a:latin typeface="+mn-ea"/>
                        </a:rPr>
                        <a:t>输出参数</a:t>
                      </a:r>
                      <a:endParaRPr lang="zh-CN" altLang="en-US" sz="1400">
                        <a:solidFill>
                          <a:srgbClr val="000000"/>
                        </a:solidFill>
                        <a:latin typeface="+mn-ea"/>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6065">
                <a:tc>
                  <a:txBody>
                    <a:bodyPr/>
                    <a:p>
                      <a:pPr marL="0" indent="0" algn="ctr">
                        <a:lnSpc>
                          <a:spcPct val="150000"/>
                        </a:lnSpc>
                        <a:spcBef>
                          <a:spcPct val="0"/>
                        </a:spcBef>
                        <a:spcAft>
                          <a:spcPct val="0"/>
                        </a:spcAft>
                      </a:pPr>
                      <a:r>
                        <a:rPr lang="zh-CN" altLang="en-US" sz="1400">
                          <a:solidFill>
                            <a:srgbClr val="000000"/>
                          </a:solidFill>
                          <a:latin typeface="+mn-ea"/>
                          <a:cs typeface="+mn-ea"/>
                        </a:rPr>
                        <a:t>抗张强度</a:t>
                      </a:r>
                      <a:endParaRPr lang="zh-CN" altLang="en-US" sz="1400">
                        <a:solidFill>
                          <a:srgbClr val="000000"/>
                        </a:solidFill>
                        <a:latin typeface="+mn-ea"/>
                        <a:cs typeface="+mn-ea"/>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260350">
                <a:tc>
                  <a:txBody>
                    <a:bodyPr/>
                    <a:p>
                      <a:pPr marL="0" indent="0" algn="ctr">
                        <a:lnSpc>
                          <a:spcPct val="150000"/>
                        </a:lnSpc>
                        <a:spcBef>
                          <a:spcPct val="0"/>
                        </a:spcBef>
                        <a:spcAft>
                          <a:spcPct val="0"/>
                        </a:spcAft>
                      </a:pPr>
                      <a:r>
                        <a:rPr lang="zh-CN" altLang="en-US" sz="1400">
                          <a:solidFill>
                            <a:srgbClr val="000000"/>
                          </a:solidFill>
                          <a:latin typeface="+mn-ea"/>
                          <a:cs typeface="+mn-ea"/>
                        </a:rPr>
                        <a:t>耐破度</a:t>
                      </a:r>
                      <a:endParaRPr lang="zh-CN" altLang="en-US" sz="1400">
                        <a:solidFill>
                          <a:srgbClr val="000000"/>
                        </a:solidFill>
                        <a:latin typeface="+mn-ea"/>
                        <a:cs typeface="+mn-ea"/>
                      </a:endParaRPr>
                    </a:p>
                  </a:txBody>
                  <a:tcPr marL="68580" marR="68580" marT="0" marB="0" anchor="ctr" anchorCtr="0">
                    <a:lnL>
                      <a:noFill/>
                    </a:lnL>
                    <a:lnR>
                      <a:noFill/>
                    </a:lnR>
                    <a:lnT>
                      <a:noFill/>
                    </a:lnT>
                    <a:lnB>
                      <a:noFill/>
                    </a:lnB>
                    <a:noFill/>
                  </a:tcPr>
                </a:tc>
              </a:tr>
              <a:tr h="266065">
                <a:tc>
                  <a:txBody>
                    <a:bodyPr/>
                    <a:p>
                      <a:pPr marL="0" indent="0" algn="ctr">
                        <a:lnSpc>
                          <a:spcPct val="150000"/>
                        </a:lnSpc>
                        <a:spcBef>
                          <a:spcPct val="0"/>
                        </a:spcBef>
                        <a:spcAft>
                          <a:spcPct val="0"/>
                        </a:spcAft>
                      </a:pPr>
                      <a:r>
                        <a:rPr lang="zh-CN" altLang="en-US" sz="1400">
                          <a:solidFill>
                            <a:srgbClr val="000000"/>
                          </a:solidFill>
                          <a:latin typeface="+mn-ea"/>
                          <a:cs typeface="+mn-ea"/>
                          <a:sym typeface="+mn-ea"/>
                        </a:rPr>
                        <a:t>撕裂度</a:t>
                      </a:r>
                      <a:endParaRPr lang="zh-CN" sz="1400">
                        <a:solidFill>
                          <a:srgbClr val="000000"/>
                        </a:solidFill>
                        <a:latin typeface="+mn-ea"/>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sp>
        <p:nvSpPr>
          <p:cNvPr id="23" name="文本框 22"/>
          <p:cNvSpPr txBox="1"/>
          <p:nvPr/>
        </p:nvSpPr>
        <p:spPr>
          <a:xfrm>
            <a:off x="494649" y="2275048"/>
            <a:ext cx="4191642" cy="2245360"/>
          </a:xfrm>
          <a:prstGeom prst="rect">
            <a:avLst/>
          </a:prstGeom>
          <a:noFill/>
        </p:spPr>
        <p:txBody>
          <a:bodyPr wrap="square" rtlCol="0">
            <a:spAutoFit/>
          </a:bodyPr>
          <a:p>
            <a:pPr marL="285750" indent="-285750">
              <a:lnSpc>
                <a:spcPct val="200000"/>
              </a:lnSpc>
              <a:spcBef>
                <a:spcPts val="600"/>
              </a:spcBef>
              <a:buFont typeface="Wingdings" panose="05000000000000000000" pitchFamily="2" charset="2"/>
              <a:buChar char="p"/>
            </a:pPr>
            <a:r>
              <a:rPr lang="zh-CN" altLang="en-US" sz="1400" b="1" dirty="0">
                <a:solidFill>
                  <a:schemeClr val="tx1"/>
                </a:solidFill>
                <a:latin typeface="+mn-ea"/>
                <a:cs typeface="Times New Roman" panose="02020603050405020304" pitchFamily="18" charset="0"/>
              </a:rPr>
              <a:t>结合皮尔逊相关性分析结果和再生纸浆循环回用数据变化情况分析，最终</a:t>
            </a:r>
            <a:r>
              <a:rPr lang="zh-CN" altLang="en-US" sz="1400" b="1" dirty="0">
                <a:solidFill>
                  <a:srgbClr val="FF0000"/>
                </a:solidFill>
                <a:latin typeface="+mn-ea"/>
                <a:cs typeface="Times New Roman" panose="02020603050405020304" pitchFamily="18" charset="0"/>
              </a:rPr>
              <a:t>保留了</a:t>
            </a:r>
            <a:r>
              <a:rPr lang="en-US" altLang="zh-CN" sz="1400" b="1" dirty="0">
                <a:solidFill>
                  <a:srgbClr val="FF0000"/>
                </a:solidFill>
                <a:latin typeface="+mn-ea"/>
                <a:cs typeface="Times New Roman" panose="02020603050405020304" pitchFamily="18" charset="0"/>
              </a:rPr>
              <a:t>15</a:t>
            </a:r>
            <a:r>
              <a:rPr lang="zh-CN" altLang="en-US" sz="1400" b="1" dirty="0">
                <a:solidFill>
                  <a:srgbClr val="FF0000"/>
                </a:solidFill>
                <a:latin typeface="+mn-ea"/>
                <a:cs typeface="Times New Roman" panose="02020603050405020304" pitchFamily="18" charset="0"/>
              </a:rPr>
              <a:t>项关键特征</a:t>
            </a:r>
            <a:r>
              <a:rPr lang="zh-CN" altLang="en-US" sz="1400" b="1" dirty="0">
                <a:solidFill>
                  <a:schemeClr val="tx1"/>
                </a:solidFill>
                <a:latin typeface="+mn-ea"/>
                <a:cs typeface="Times New Roman" panose="02020603050405020304" pitchFamily="18" charset="0"/>
              </a:rPr>
              <a:t>，此筛选</a:t>
            </a:r>
            <a:r>
              <a:rPr lang="zh-CN" altLang="en-US" sz="1400" b="1" dirty="0">
                <a:solidFill>
                  <a:srgbClr val="FF0000"/>
                </a:solidFill>
                <a:latin typeface="+mn-ea"/>
                <a:cs typeface="Times New Roman" panose="02020603050405020304" pitchFamily="18" charset="0"/>
              </a:rPr>
              <a:t>规避了多重共线性干扰</a:t>
            </a:r>
            <a:r>
              <a:rPr lang="zh-CN" altLang="en-US" sz="1400" b="1" dirty="0">
                <a:solidFill>
                  <a:schemeClr val="tx1"/>
                </a:solidFill>
                <a:latin typeface="+mn-ea"/>
                <a:cs typeface="Times New Roman" panose="02020603050405020304" pitchFamily="18" charset="0"/>
              </a:rPr>
              <a:t>，在简化模型输入参数的同时增强了模型输入的物理可解释性。</a:t>
            </a:r>
            <a:endParaRPr lang="zh-CN" altLang="en-US" sz="1400" b="1" dirty="0">
              <a:solidFill>
                <a:schemeClr val="tx1"/>
              </a:solidFill>
              <a:latin typeface="+mn-ea"/>
              <a:cs typeface="Times New Roman" panose="02020603050405020304" pitchFamily="18" charset="0"/>
            </a:endParaRPr>
          </a:p>
        </p:txBody>
      </p:sp>
      <p:cxnSp>
        <p:nvCxnSpPr>
          <p:cNvPr id="11" name="直接箭头连接符 10"/>
          <p:cNvCxnSpPr/>
          <p:nvPr/>
        </p:nvCxnSpPr>
        <p:spPr>
          <a:xfrm flipV="1">
            <a:off x="7563485" y="3394710"/>
            <a:ext cx="1577975" cy="6350"/>
          </a:xfrm>
          <a:prstGeom prst="straightConnector1">
            <a:avLst/>
          </a:prstGeom>
          <a:ln w="38100">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3.3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数据平滑、增强处理</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6207125" y="1247140"/>
            <a:ext cx="5663565" cy="4117975"/>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206490" y="1217930"/>
            <a:ext cx="5720080" cy="2542540"/>
          </a:xfrm>
          <a:prstGeom prst="rect">
            <a:avLst/>
          </a:prstGeom>
          <a:noFill/>
        </p:spPr>
        <p:txBody>
          <a:bodyPr wrap="square" rtlCol="0">
            <a:noAutofit/>
          </a:bodyPr>
          <a:p>
            <a:pPr>
              <a:lnSpc>
                <a:spcPct val="200000"/>
              </a:lnSpc>
            </a:pPr>
            <a:r>
              <a:rPr lang="zh-CN" altLang="en-US" sz="1400" b="1" dirty="0">
                <a:latin typeface="Times New Roman" panose="02020603050405020304" pitchFamily="18" charset="0"/>
                <a:cs typeface="Times New Roman" panose="02020603050405020304" pitchFamily="18" charset="0"/>
              </a:rPr>
              <a:t>为提升模型对纤维形态参数动态变化的捕捉能力，对输入参数</a:t>
            </a:r>
            <a:r>
              <a:rPr lang="zh-CN" altLang="en-US" sz="1400" b="1" dirty="0">
                <a:latin typeface="Times New Roman" panose="02020603050405020304" pitchFamily="18" charset="0"/>
                <a:cs typeface="Times New Roman" panose="02020603050405020304" pitchFamily="18" charset="0"/>
              </a:rPr>
              <a:t>进行平滑及增强处理。</a:t>
            </a:r>
            <a:endParaRPr lang="zh-CN" altLang="en-US"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针对再生纸浆循环回用实验数据，采用算法对筛选结果的纤维形态参数进行</a:t>
            </a:r>
            <a:r>
              <a:rPr lang="zh-CN" altLang="en-US" sz="1400" b="1" dirty="0">
                <a:solidFill>
                  <a:srgbClr val="FF0000"/>
                </a:solidFill>
                <a:latin typeface="Times New Roman" panose="02020603050405020304" pitchFamily="18" charset="0"/>
                <a:cs typeface="Times New Roman" panose="02020603050405020304" pitchFamily="18" charset="0"/>
              </a:rPr>
              <a:t>平滑处理，抑制由仪器误差或操作波动引起的短时噪声</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通过添加的高斯噪声，模拟实际生产中纤维疏解不均匀性及原料批次波动，</a:t>
            </a:r>
            <a:r>
              <a:rPr lang="zh-CN" altLang="en-US" sz="1400" b="1" dirty="0">
                <a:solidFill>
                  <a:srgbClr val="FF0000"/>
                </a:solidFill>
                <a:latin typeface="Times New Roman" panose="02020603050405020304" pitchFamily="18" charset="0"/>
                <a:cs typeface="Times New Roman" panose="02020603050405020304" pitchFamily="18" charset="0"/>
              </a:rPr>
              <a:t>扩展数据集输入的多样性</a:t>
            </a:r>
            <a:r>
              <a:rPr lang="zh-CN" altLang="en-US" sz="1400" b="1" dirty="0">
                <a:latin typeface="Times New Roman" panose="02020603050405020304" pitchFamily="18" charset="0"/>
                <a:cs typeface="Times New Roman" panose="02020603050405020304" pitchFamily="18" charset="0"/>
              </a:rPr>
              <a:t>，在保留纤维劣化主趋势的前提下，</a:t>
            </a:r>
            <a:r>
              <a:rPr lang="zh-CN" altLang="en-US" sz="1400" b="1" dirty="0">
                <a:solidFill>
                  <a:srgbClr val="FF0000"/>
                </a:solidFill>
                <a:latin typeface="Times New Roman" panose="02020603050405020304" pitchFamily="18" charset="0"/>
                <a:cs typeface="Times New Roman" panose="02020603050405020304" pitchFamily="18" charset="0"/>
              </a:rPr>
              <a:t>增强模型对噪声干扰的鲁棒性</a:t>
            </a:r>
            <a:r>
              <a:rPr lang="zh-CN" altLang="en-US" sz="1400" b="1" dirty="0">
                <a:latin typeface="Times New Roman" panose="02020603050405020304" pitchFamily="18" charset="0"/>
                <a:cs typeface="Times New Roman" panose="02020603050405020304" pitchFamily="18" charset="0"/>
              </a:rPr>
              <a:t>，使其更贴合工艺生产情况；</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t>二者协同作用下，</a:t>
            </a:r>
            <a:r>
              <a:rPr lang="zh-CN" altLang="en-US" sz="1400" b="1" dirty="0">
                <a:solidFill>
                  <a:srgbClr val="FF0000"/>
                </a:solidFill>
              </a:rPr>
              <a:t>降低了预测模型的过拟合风险，提高了输入数据的多样性，并保留了数据原有的特点</a:t>
            </a:r>
            <a:r>
              <a:rPr lang="zh-CN" altLang="en-US" sz="1400" b="1" dirty="0"/>
              <a:t>。</a:t>
            </a:r>
            <a:endParaRPr lang="zh-CN" altLang="en-US" sz="1400" b="1" dirty="0"/>
          </a:p>
        </p:txBody>
      </p:sp>
      <p:sp>
        <p:nvSpPr>
          <p:cNvPr id="9" name="文本框 8"/>
          <p:cNvSpPr txBox="1"/>
          <p:nvPr/>
        </p:nvSpPr>
        <p:spPr>
          <a:xfrm>
            <a:off x="1535430" y="5036820"/>
            <a:ext cx="3864610" cy="556895"/>
          </a:xfrm>
          <a:prstGeom prst="rect">
            <a:avLst/>
          </a:prstGeom>
        </p:spPr>
        <p:txBody>
          <a:bodyPr>
            <a:no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某一组数据分丝帚化长度比平滑前后对比图</a:t>
            </a:r>
            <a:endParaRPr lang="zh-CN" altLang="en-US" sz="1400">
              <a:latin typeface="微软雅黑" panose="020B0503020204020204" pitchFamily="34" charset="-122"/>
              <a:ea typeface="微软雅黑" panose="020B0503020204020204" pitchFamily="34" charset="-122"/>
            </a:endParaRPr>
          </a:p>
        </p:txBody>
      </p:sp>
      <p:pic>
        <p:nvPicPr>
          <p:cNvPr id="29" name="图片 29" descr="smooth 结果对比图"/>
          <p:cNvPicPr>
            <a:picLocks noChangeAspect="1"/>
          </p:cNvPicPr>
          <p:nvPr/>
        </p:nvPicPr>
        <p:blipFill>
          <a:blip r:embed="rId1"/>
          <a:srcRect t="6109"/>
          <a:stretch>
            <a:fillRect/>
          </a:stretch>
        </p:blipFill>
        <p:spPr>
          <a:xfrm>
            <a:off x="880745" y="1522095"/>
            <a:ext cx="4708525" cy="353504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10" name="文本框 9"/>
          <p:cNvSpPr txBox="1"/>
          <p:nvPr/>
        </p:nvSpPr>
        <p:spPr>
          <a:xfrm>
            <a:off x="339090" y="4445"/>
            <a:ext cx="5509260"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3.4</a:t>
            </a:r>
            <a:r>
              <a:rPr lang="zh-CN" altLang="en-US" b="1" dirty="0">
                <a:latin typeface="+mn-ea"/>
              </a:rPr>
              <a:t> </a:t>
            </a:r>
            <a:r>
              <a:rPr lang="zh-CN" altLang="en-US" sz="2400" b="1" dirty="0">
                <a:solidFill>
                  <a:schemeClr val="tx1">
                    <a:lumMod val="65000"/>
                    <a:lumOff val="35000"/>
                  </a:schemeClr>
                </a:solidFill>
                <a:latin typeface="+mn-ea"/>
              </a:rPr>
              <a:t>建立再生纸张物理强度预测模型</a:t>
            </a:r>
            <a:endParaRPr lang="zh-CN" altLang="en-US" sz="2400" b="1" dirty="0">
              <a:solidFill>
                <a:schemeClr val="tx1">
                  <a:lumMod val="65000"/>
                  <a:lumOff val="35000"/>
                </a:schemeClr>
              </a:solidFill>
              <a:latin typeface="+mn-ea"/>
            </a:endParaRPr>
          </a:p>
        </p:txBody>
      </p:sp>
      <p:graphicFrame>
        <p:nvGraphicFramePr>
          <p:cNvPr id="20" name="对象 19">
            <a:hlinkClick r:id="" action="ppaction://ole?verb="/>
          </p:cNvPr>
          <p:cNvGraphicFramePr>
            <a:graphicFrameLocks noChangeAspect="1"/>
          </p:cNvGraphicFramePr>
          <p:nvPr/>
        </p:nvGraphicFramePr>
        <p:xfrm>
          <a:off x="5629910" y="87630"/>
          <a:ext cx="4481830" cy="507365"/>
        </p:xfrm>
        <a:graphic>
          <a:graphicData uri="http://schemas.openxmlformats.org/presentationml/2006/ole">
            <mc:AlternateContent xmlns:mc="http://schemas.openxmlformats.org/markup-compatibility/2006">
              <mc:Choice xmlns:v="urn:schemas-microsoft-com:vml" Requires="v">
                <p:oleObj spid="_x0000_s24" name="" r:id="rId1" imgW="2019300" imgH="228600" progId="Equation.KSEE3">
                  <p:embed/>
                </p:oleObj>
              </mc:Choice>
              <mc:Fallback>
                <p:oleObj name="" r:id="rId1" imgW="2019300" imgH="228600" progId="Equation.KSEE3">
                  <p:embed/>
                  <p:pic>
                    <p:nvPicPr>
                      <p:cNvPr id="0" name="图片 1024"/>
                      <p:cNvPicPr/>
                      <p:nvPr/>
                    </p:nvPicPr>
                    <p:blipFill>
                      <a:blip r:embed="rId2"/>
                      <a:stretch>
                        <a:fillRect/>
                      </a:stretch>
                    </p:blipFill>
                    <p:spPr>
                      <a:xfrm>
                        <a:off x="5629910" y="87630"/>
                        <a:ext cx="4481830" cy="507365"/>
                      </a:xfrm>
                      <a:prstGeom prst="rect">
                        <a:avLst/>
                      </a:prstGeom>
                    </p:spPr>
                  </p:pic>
                </p:oleObj>
              </mc:Fallback>
            </mc:AlternateContent>
          </a:graphicData>
        </a:graphic>
      </p:graphicFrame>
      <p:sp>
        <p:nvSpPr>
          <p:cNvPr id="25" name="文本框 24"/>
          <p:cNvSpPr txBox="1"/>
          <p:nvPr/>
        </p:nvSpPr>
        <p:spPr>
          <a:xfrm>
            <a:off x="463550" y="886460"/>
            <a:ext cx="11133455" cy="2542540"/>
          </a:xfrm>
          <a:prstGeom prst="rect">
            <a:avLst/>
          </a:prstGeom>
          <a:noFill/>
        </p:spPr>
        <p:txBody>
          <a:bodyPr wrap="square" rtlCol="0">
            <a:noAutofit/>
          </a:bodyPr>
          <a:p>
            <a:pPr>
              <a:lnSpc>
                <a:spcPct val="150000"/>
              </a:lnSpc>
            </a:pPr>
            <a:r>
              <a:rPr lang="zh-CN" altLang="en-US" sz="1400" dirty="0">
                <a:latin typeface="Times New Roman" panose="02020603050405020304" pitchFamily="18" charset="0"/>
                <a:cs typeface="Times New Roman" panose="02020603050405020304" pitchFamily="18" charset="0"/>
              </a:rPr>
              <a:t>随机森林（</a:t>
            </a:r>
            <a:r>
              <a:rPr lang="en-US" altLang="zh-CN" sz="1400" dirty="0">
                <a:latin typeface="Times New Roman" panose="02020603050405020304" pitchFamily="18" charset="0"/>
                <a:cs typeface="Times New Roman" panose="02020603050405020304" pitchFamily="18" charset="0"/>
              </a:rPr>
              <a:t>Random Forest</a:t>
            </a:r>
            <a:r>
              <a:rPr lang="zh-CN" altLang="en-US" sz="1400" dirty="0">
                <a:latin typeface="Times New Roman" panose="02020603050405020304" pitchFamily="18" charset="0"/>
                <a:cs typeface="Times New Roman" panose="02020603050405020304" pitchFamily="18" charset="0"/>
              </a:rPr>
              <a:t>）是一种基于集成学习的非线性回归方法，它通过构建多棵决策树并集成预测结果，实现高鲁棒性和抗过拟合能力。此算法的核心原理包括：</a:t>
            </a:r>
            <a:r>
              <a:rPr lang="zh-CN" altLang="en-US" sz="1400" dirty="0">
                <a:latin typeface="Times New Roman" panose="02020603050405020304" pitchFamily="18" charset="0"/>
                <a:cs typeface="Times New Roman" panose="02020603050405020304" pitchFamily="18" charset="0"/>
                <a:sym typeface="+mn-ea"/>
              </a:rPr>
              <a:t>决策树基模型、随机特征选择、自主抽样。</a:t>
            </a:r>
            <a:endParaRPr lang="zh-CN" altLang="en-US" sz="1400" dirty="0">
              <a:latin typeface="Times New Roman" panose="02020603050405020304" pitchFamily="18" charset="0"/>
              <a:cs typeface="Times New Roman" panose="02020603050405020304" pitchFamily="18" charset="0"/>
            </a:endParaRPr>
          </a:p>
          <a:p>
            <a:pPr indent="0">
              <a:lnSpc>
                <a:spcPct val="150000"/>
              </a:lnSpc>
              <a:buFont typeface="Wingdings" panose="05000000000000000000" pitchFamily="2" charset="2"/>
              <a:buNone/>
            </a:pPr>
            <a:endParaRPr lang="zh-CN" altLang="en-US" sz="1400" dirty="0"/>
          </a:p>
          <a:p>
            <a:pPr indent="0">
              <a:lnSpc>
                <a:spcPct val="150000"/>
              </a:lnSpc>
              <a:buFont typeface="Wingdings" panose="05000000000000000000" pitchFamily="2" charset="2"/>
              <a:buNone/>
            </a:pPr>
            <a:r>
              <a:rPr lang="zh-CN" altLang="en-US" sz="1400" dirty="0"/>
              <a:t>方差最小化分裂准则：对于节点，特征分裂的方差下降计算量为：</a:t>
            </a:r>
            <a:endParaRPr lang="zh-CN" altLang="en-US" sz="1400" dirty="0"/>
          </a:p>
          <a:p>
            <a:pPr indent="0">
              <a:lnSpc>
                <a:spcPct val="150000"/>
              </a:lnSpc>
              <a:buFont typeface="Wingdings" panose="05000000000000000000" pitchFamily="2" charset="2"/>
              <a:buNone/>
            </a:pPr>
            <a:endParaRPr lang="en-US" altLang="zh-CN" sz="1400" dirty="0"/>
          </a:p>
          <a:p>
            <a:pPr indent="0">
              <a:lnSpc>
                <a:spcPct val="150000"/>
              </a:lnSpc>
              <a:buFont typeface="Wingdings" panose="05000000000000000000" pitchFamily="2" charset="2"/>
              <a:buNone/>
            </a:pPr>
            <a:r>
              <a:rPr lang="en-US" altLang="zh-CN" sz="1400" dirty="0"/>
              <a:t>Bagging</a:t>
            </a:r>
            <a:r>
              <a:rPr lang="zh-CN" altLang="en-US" sz="1400" dirty="0"/>
              <a:t>集成预测</a:t>
            </a:r>
            <a:r>
              <a:rPr lang="en-US" altLang="zh-CN" sz="1400" dirty="0"/>
              <a:t>:</a:t>
            </a:r>
            <a:r>
              <a:rPr lang="zh-CN" altLang="en-US" sz="1400" dirty="0"/>
              <a:t>集成</a:t>
            </a:r>
            <a:r>
              <a:rPr lang="en-US" altLang="zh-CN" sz="1400" dirty="0"/>
              <a:t>K</a:t>
            </a:r>
            <a:r>
              <a:rPr lang="zh-CN" altLang="en-US" sz="1400" dirty="0"/>
              <a:t>棵决策树的预测结果：</a:t>
            </a:r>
            <a:endParaRPr lang="zh-CN" altLang="en-US" sz="1400" dirty="0"/>
          </a:p>
        </p:txBody>
      </p:sp>
      <p:graphicFrame>
        <p:nvGraphicFramePr>
          <p:cNvPr id="3" name="对象 -2147482596"/>
          <p:cNvGraphicFramePr>
            <a:graphicFrameLocks noChangeAspect="1"/>
          </p:cNvGraphicFramePr>
          <p:nvPr/>
        </p:nvGraphicFramePr>
        <p:xfrm>
          <a:off x="5848350" y="1730375"/>
          <a:ext cx="4650740" cy="708660"/>
        </p:xfrm>
        <a:graphic>
          <a:graphicData uri="http://schemas.openxmlformats.org/presentationml/2006/ole">
            <mc:AlternateContent xmlns:mc="http://schemas.openxmlformats.org/markup-compatibility/2006">
              <mc:Choice xmlns:v="urn:schemas-microsoft-com:vml" Requires="v">
                <p:oleObj spid="_x0000_s3076" name="" r:id="rId3" imgW="3009900" imgH="457200" progId="Equation.KSEE3">
                  <p:embed/>
                </p:oleObj>
              </mc:Choice>
              <mc:Fallback>
                <p:oleObj name="" r:id="rId3" imgW="3009900" imgH="457200" progId="Equation.KSEE3">
                  <p:embed/>
                  <p:pic>
                    <p:nvPicPr>
                      <p:cNvPr id="0" name="图片 3075"/>
                      <p:cNvPicPr/>
                      <p:nvPr/>
                    </p:nvPicPr>
                    <p:blipFill>
                      <a:blip r:embed="rId4"/>
                      <a:stretch>
                        <a:fillRect/>
                      </a:stretch>
                    </p:blipFill>
                    <p:spPr>
                      <a:xfrm>
                        <a:off x="5848350" y="1730375"/>
                        <a:ext cx="4650740" cy="708660"/>
                      </a:xfrm>
                      <a:prstGeom prst="rect">
                        <a:avLst/>
                      </a:prstGeom>
                      <a:noFill/>
                      <a:ln w="38100">
                        <a:noFill/>
                        <a:miter/>
                      </a:ln>
                    </p:spPr>
                  </p:pic>
                </p:oleObj>
              </mc:Fallback>
            </mc:AlternateContent>
          </a:graphicData>
        </a:graphic>
      </p:graphicFrame>
      <p:graphicFrame>
        <p:nvGraphicFramePr>
          <p:cNvPr id="5" name="对象 -2147482590"/>
          <p:cNvGraphicFramePr>
            <a:graphicFrameLocks noChangeAspect="1"/>
          </p:cNvGraphicFramePr>
          <p:nvPr/>
        </p:nvGraphicFramePr>
        <p:xfrm>
          <a:off x="4133850" y="2377440"/>
          <a:ext cx="1714500" cy="727710"/>
        </p:xfrm>
        <a:graphic>
          <a:graphicData uri="http://schemas.openxmlformats.org/presentationml/2006/ole">
            <mc:AlternateContent xmlns:mc="http://schemas.openxmlformats.org/markup-compatibility/2006">
              <mc:Choice xmlns:v="urn:schemas-microsoft-com:vml" Requires="v">
                <p:oleObj spid="_x0000_s26" name="" r:id="rId5" imgW="1016000" imgH="431800" progId="Equation.KSEE3">
                  <p:embed/>
                </p:oleObj>
              </mc:Choice>
              <mc:Fallback>
                <p:oleObj name="" r:id="rId5" imgW="1016000" imgH="431800" progId="Equation.KSEE3">
                  <p:embed/>
                  <p:pic>
                    <p:nvPicPr>
                      <p:cNvPr id="0" name="图片 25"/>
                      <p:cNvPicPr/>
                      <p:nvPr/>
                    </p:nvPicPr>
                    <p:blipFill>
                      <a:blip r:embed="rId6"/>
                      <a:stretch>
                        <a:fillRect/>
                      </a:stretch>
                    </p:blipFill>
                    <p:spPr>
                      <a:xfrm>
                        <a:off x="4133850" y="2377440"/>
                        <a:ext cx="1714500" cy="727710"/>
                      </a:xfrm>
                      <a:prstGeom prst="rect">
                        <a:avLst/>
                      </a:prstGeom>
                      <a:noFill/>
                      <a:ln w="38100">
                        <a:noFill/>
                        <a:miter/>
                      </a:ln>
                    </p:spPr>
                  </p:pic>
                </p:oleObj>
              </mc:Fallback>
            </mc:AlternateContent>
          </a:graphicData>
        </a:graphic>
      </p:graphicFrame>
      <p:sp>
        <p:nvSpPr>
          <p:cNvPr id="8" name="文本框 7"/>
          <p:cNvSpPr txBox="1"/>
          <p:nvPr/>
        </p:nvSpPr>
        <p:spPr>
          <a:xfrm>
            <a:off x="381000" y="3244850"/>
            <a:ext cx="3251200" cy="368300"/>
          </a:xfrm>
          <a:prstGeom prst="rect">
            <a:avLst/>
          </a:prstGeom>
          <a:noFill/>
        </p:spPr>
        <p:txBody>
          <a:bodyPr wrap="square" rtlCol="0">
            <a:spAutoFit/>
          </a:bodyPr>
          <a:p>
            <a:r>
              <a:rPr lang="zh-CN" altLang="en-US" b="1"/>
              <a:t>数据预处理</a:t>
            </a:r>
            <a:endParaRPr lang="zh-CN" altLang="en-US" b="1"/>
          </a:p>
        </p:txBody>
      </p:sp>
      <p:sp>
        <p:nvSpPr>
          <p:cNvPr id="7" name="文本框 6"/>
          <p:cNvSpPr txBox="1"/>
          <p:nvPr/>
        </p:nvSpPr>
        <p:spPr>
          <a:xfrm>
            <a:off x="463550" y="3850640"/>
            <a:ext cx="6096000" cy="306705"/>
          </a:xfrm>
          <a:prstGeom prst="rect">
            <a:avLst/>
          </a:prstGeom>
          <a:noFill/>
        </p:spPr>
        <p:txBody>
          <a:bodyPr wrap="square" rtlCol="0" anchor="t">
            <a:spAutoFit/>
          </a:bodyPr>
          <a:p>
            <a:r>
              <a:rPr lang="zh-CN" altLang="en-US" sz="1400" dirty="0">
                <a:latin typeface="Times New Roman" panose="02020603050405020304" pitchFamily="18" charset="0"/>
                <a:cs typeface="Times New Roman" panose="02020603050405020304" pitchFamily="18" charset="0"/>
                <a:sym typeface="+mn-ea"/>
              </a:rPr>
              <a:t>在使用随机森林算法建立预测模型前先对数据进行数据标准化：</a:t>
            </a:r>
            <a:endParaRPr lang="zh-CN" altLang="en-US" sz="1400" dirty="0">
              <a:latin typeface="Times New Roman" panose="02020603050405020304" pitchFamily="18" charset="0"/>
              <a:cs typeface="Times New Roman" panose="02020603050405020304" pitchFamily="18" charset="0"/>
              <a:sym typeface="+mn-ea"/>
            </a:endParaRPr>
          </a:p>
        </p:txBody>
      </p:sp>
      <p:graphicFrame>
        <p:nvGraphicFramePr>
          <p:cNvPr id="9" name="对象 -2147482586"/>
          <p:cNvGraphicFramePr>
            <a:graphicFrameLocks noChangeAspect="1"/>
          </p:cNvGraphicFramePr>
          <p:nvPr/>
        </p:nvGraphicFramePr>
        <p:xfrm>
          <a:off x="6049010" y="3574415"/>
          <a:ext cx="2081530" cy="765810"/>
        </p:xfrm>
        <a:graphic>
          <a:graphicData uri="http://schemas.openxmlformats.org/presentationml/2006/ole">
            <mc:AlternateContent xmlns:mc="http://schemas.openxmlformats.org/markup-compatibility/2006">
              <mc:Choice xmlns:v="urn:schemas-microsoft-com:vml" Requires="v">
                <p:oleObj spid="_x0000_s11" name="" r:id="rId7" imgW="1066800" imgH="393700" progId="Equation.KSEE3">
                  <p:embed/>
                </p:oleObj>
              </mc:Choice>
              <mc:Fallback>
                <p:oleObj name="" r:id="rId7" imgW="1066800" imgH="393700" progId="Equation.KSEE3">
                  <p:embed/>
                  <p:pic>
                    <p:nvPicPr>
                      <p:cNvPr id="0" name="图片 6"/>
                      <p:cNvPicPr/>
                      <p:nvPr/>
                    </p:nvPicPr>
                    <p:blipFill>
                      <a:blip r:embed="rId8"/>
                      <a:stretch>
                        <a:fillRect/>
                      </a:stretch>
                    </p:blipFill>
                    <p:spPr>
                      <a:xfrm>
                        <a:off x="6049010" y="3574415"/>
                        <a:ext cx="2081530" cy="765810"/>
                      </a:xfrm>
                      <a:prstGeom prst="rect">
                        <a:avLst/>
                      </a:prstGeom>
                      <a:noFill/>
                      <a:ln w="38100">
                        <a:noFill/>
                        <a:miter/>
                      </a:ln>
                    </p:spPr>
                  </p:pic>
                </p:oleObj>
              </mc:Fallback>
            </mc:AlternateContent>
          </a:graphicData>
        </a:graphic>
      </p:graphicFrame>
      <p:sp>
        <p:nvSpPr>
          <p:cNvPr id="12" name="文本框 11"/>
          <p:cNvSpPr txBox="1"/>
          <p:nvPr/>
        </p:nvSpPr>
        <p:spPr>
          <a:xfrm>
            <a:off x="463550" y="4578985"/>
            <a:ext cx="10265410" cy="1383665"/>
          </a:xfrm>
          <a:prstGeom prst="rect">
            <a:avLst/>
          </a:prstGeom>
          <a:noFill/>
        </p:spPr>
        <p:txBody>
          <a:bodyPr wrap="square" rtlCol="0" anchor="t">
            <a:spAutoFit/>
          </a:bodyPr>
          <a:p>
            <a:pPr>
              <a:lnSpc>
                <a:spcPct val="200000"/>
              </a:lnSpc>
            </a:pPr>
            <a:r>
              <a:rPr lang="zh-CN" altLang="en-US" sz="1400" dirty="0">
                <a:latin typeface="Times New Roman" panose="02020603050405020304" pitchFamily="18" charset="0"/>
                <a:cs typeface="Times New Roman" panose="02020603050405020304" pitchFamily="18" charset="0"/>
                <a:sym typeface="+mn-ea"/>
              </a:rPr>
              <a:t>为了提高模型预测精度，</a:t>
            </a:r>
            <a:r>
              <a:rPr lang="zh-CN" altLang="en-US" sz="1400" b="1" dirty="0">
                <a:solidFill>
                  <a:srgbClr val="FF0000"/>
                </a:solidFill>
                <a:latin typeface="Times New Roman" panose="02020603050405020304" pitchFamily="18" charset="0"/>
                <a:cs typeface="Times New Roman" panose="02020603050405020304" pitchFamily="18" charset="0"/>
                <a:sym typeface="+mn-ea"/>
              </a:rPr>
              <a:t>引入数据多项式特征扩展策略</a:t>
            </a:r>
            <a:r>
              <a:rPr lang="zh-CN" altLang="en-US" sz="1400" dirty="0">
                <a:latin typeface="Times New Roman" panose="02020603050405020304" pitchFamily="18" charset="0"/>
                <a:cs typeface="Times New Roman" panose="02020603050405020304" pitchFamily="18" charset="0"/>
                <a:sym typeface="+mn-ea"/>
              </a:rPr>
              <a:t>：不同的纤维形态参数往往不是单独对物理指标发生影响的，而是</a:t>
            </a:r>
            <a:r>
              <a:rPr lang="zh-CN" altLang="en-US" sz="1400" dirty="0">
                <a:solidFill>
                  <a:srgbClr val="FF0000"/>
                </a:solidFill>
                <a:latin typeface="Times New Roman" panose="02020603050405020304" pitchFamily="18" charset="0"/>
                <a:cs typeface="Times New Roman" panose="02020603050405020304" pitchFamily="18" charset="0"/>
                <a:sym typeface="+mn-ea"/>
              </a:rPr>
              <a:t>相互协同、相互作用的</a:t>
            </a:r>
            <a:r>
              <a:rPr lang="zh-CN" altLang="en-US" sz="1400" dirty="0">
                <a:latin typeface="Times New Roman" panose="02020603050405020304" pitchFamily="18" charset="0"/>
                <a:cs typeface="Times New Roman" panose="02020603050405020304" pitchFamily="18" charset="0"/>
                <a:sym typeface="+mn-ea"/>
              </a:rPr>
              <a:t>，对标准化处理后的再生纸浆纤维形态参数</a:t>
            </a:r>
            <a:r>
              <a:rPr lang="zh-CN" altLang="en-US" sz="1400" dirty="0">
                <a:solidFill>
                  <a:srgbClr val="FF0000"/>
                </a:solidFill>
                <a:latin typeface="Times New Roman" panose="02020603050405020304" pitchFamily="18" charset="0"/>
                <a:cs typeface="Times New Roman" panose="02020603050405020304" pitchFamily="18" charset="0"/>
                <a:sym typeface="+mn-ea"/>
              </a:rPr>
              <a:t>添加二次项（如粗度</a:t>
            </a:r>
            <a:r>
              <a:rPr lang="en-US" altLang="zh-CN" sz="1400" dirty="0">
                <a:solidFill>
                  <a:srgbClr val="FF0000"/>
                </a:solidFill>
                <a:latin typeface="Times New Roman" panose="02020603050405020304" pitchFamily="18" charset="0"/>
                <a:cs typeface="Times New Roman" panose="02020603050405020304" pitchFamily="18" charset="0"/>
                <a:sym typeface="+mn-ea"/>
              </a:rPr>
              <a:t>2</a:t>
            </a:r>
            <a:r>
              <a:rPr lang="zh-CN" altLang="en-US" sz="1400" dirty="0">
                <a:solidFill>
                  <a:srgbClr val="FF0000"/>
                </a:solidFill>
                <a:latin typeface="Times New Roman" panose="02020603050405020304" pitchFamily="18" charset="0"/>
                <a:cs typeface="Times New Roman" panose="02020603050405020304" pitchFamily="18" charset="0"/>
                <a:sym typeface="+mn-ea"/>
              </a:rPr>
              <a:t>）和乘积交互项（如</a:t>
            </a:r>
            <a:r>
              <a:rPr lang="en-US" altLang="zh-CN" sz="1400" dirty="0">
                <a:solidFill>
                  <a:srgbClr val="FF0000"/>
                </a:solidFill>
                <a:latin typeface="Times New Roman" panose="02020603050405020304" pitchFamily="18" charset="0"/>
                <a:cs typeface="Times New Roman" panose="02020603050405020304" pitchFamily="18" charset="0"/>
                <a:sym typeface="+mn-ea"/>
              </a:rPr>
              <a:t>0.67-1.0 mm</a:t>
            </a:r>
            <a:r>
              <a:rPr lang="zh-CN" altLang="en-US" sz="1400" dirty="0">
                <a:solidFill>
                  <a:srgbClr val="FF0000"/>
                </a:solidFill>
                <a:latin typeface="Times New Roman" panose="02020603050405020304" pitchFamily="18" charset="0"/>
                <a:cs typeface="Times New Roman" panose="02020603050405020304" pitchFamily="18" charset="0"/>
                <a:sym typeface="+mn-ea"/>
              </a:rPr>
              <a:t>纤维长</a:t>
            </a:r>
            <a:r>
              <a:rPr lang="en-US" altLang="en-US" sz="1400" dirty="0">
                <a:solidFill>
                  <a:srgbClr val="FF0000"/>
                </a:solidFill>
                <a:latin typeface="Times New Roman" panose="02020603050405020304" pitchFamily="18" charset="0"/>
                <a:cs typeface="Times New Roman" panose="02020603050405020304" pitchFamily="18" charset="0"/>
                <a:sym typeface="+mn-ea"/>
              </a:rPr>
              <a:t>×</a:t>
            </a:r>
            <a:r>
              <a:rPr lang="zh-CN" altLang="en-US" sz="1400" dirty="0">
                <a:solidFill>
                  <a:srgbClr val="FF0000"/>
                </a:solidFill>
                <a:latin typeface="Times New Roman" panose="02020603050405020304" pitchFamily="18" charset="0"/>
                <a:cs typeface="Times New Roman" panose="02020603050405020304" pitchFamily="18" charset="0"/>
                <a:sym typeface="+mn-ea"/>
              </a:rPr>
              <a:t>纤维算术平均长）</a:t>
            </a:r>
            <a:r>
              <a:rPr lang="zh-CN" altLang="en-US" sz="1400" dirty="0">
                <a:latin typeface="Times New Roman" panose="02020603050405020304" pitchFamily="18" charset="0"/>
                <a:cs typeface="Times New Roman" panose="02020603050405020304" pitchFamily="18" charset="0"/>
                <a:sym typeface="+mn-ea"/>
              </a:rPr>
              <a:t>，挖掘和利用数据中隐藏的内在关联性，以便更深入的理解纤维形态参数与物理指标间的机制。</a:t>
            </a:r>
            <a:endParaRPr lang="zh-CN" altLang="en-US" sz="1400" dirty="0">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3.5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模型性能检验</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6489065" y="1463040"/>
            <a:ext cx="5195570" cy="3931285"/>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564630" y="1462405"/>
            <a:ext cx="5168900" cy="2542540"/>
          </a:xfrm>
          <a:prstGeom prst="rect">
            <a:avLst/>
          </a:prstGeom>
          <a:noFill/>
        </p:spPr>
        <p:txBody>
          <a:bodyPr wrap="square" rtlCol="0">
            <a:noAutofit/>
          </a:bodyPr>
          <a:p>
            <a:pPr marL="285750" indent="-285750">
              <a:lnSpc>
                <a:spcPct val="200000"/>
              </a:lnSpc>
              <a:buFont typeface="Wingdings" panose="05000000000000000000" pitchFamily="2" charset="2"/>
              <a:buChar char="p"/>
            </a:pPr>
            <a:r>
              <a:rPr lang="en-US" altLang="zh-CN" sz="1400" b="1" dirty="0">
                <a:latin typeface="Times New Roman" panose="02020603050405020304" pitchFamily="18" charset="0"/>
                <a:cs typeface="Times New Roman" panose="02020603050405020304" pitchFamily="18" charset="0"/>
              </a:rPr>
              <a:t>Page </a:t>
            </a:r>
            <a:r>
              <a:rPr lang="zh-CN" altLang="en-US" sz="1400" b="1" dirty="0">
                <a:latin typeface="Times New Roman" panose="02020603050405020304" pitchFamily="18" charset="0"/>
                <a:cs typeface="Times New Roman" panose="02020603050405020304" pitchFamily="18" charset="0"/>
              </a:rPr>
              <a:t>机理模型和线性回归模型因自身特性，</a:t>
            </a:r>
            <a:r>
              <a:rPr lang="zh-CN" altLang="en-US" sz="1400" b="1" dirty="0">
                <a:solidFill>
                  <a:srgbClr val="FF0000"/>
                </a:solidFill>
                <a:latin typeface="Times New Roman" panose="02020603050405020304" pitchFamily="18" charset="0"/>
                <a:cs typeface="Times New Roman" panose="02020603050405020304" pitchFamily="18" charset="0"/>
              </a:rPr>
              <a:t>难以准确反映输入输出间的非线性关系</a:t>
            </a:r>
            <a:r>
              <a:rPr lang="zh-CN" altLang="en-US" sz="1400" b="1" dirty="0">
                <a:latin typeface="Times New Roman" panose="02020603050405020304" pitchFamily="18" charset="0"/>
                <a:cs typeface="Times New Roman" panose="02020603050405020304" pitchFamily="18" charset="0"/>
              </a:rPr>
              <a:t>。前者基于特定机理构建，对复杂非线性映射的适应性有限，后者假设变量间为线性关联，</a:t>
            </a:r>
            <a:r>
              <a:rPr lang="zh-CN" altLang="en-US" sz="1400" b="1" dirty="0">
                <a:solidFill>
                  <a:srgbClr val="FF0000"/>
                </a:solidFill>
                <a:latin typeface="Times New Roman" panose="02020603050405020304" pitchFamily="18" charset="0"/>
                <a:cs typeface="Times New Roman" panose="02020603050405020304" pitchFamily="18" charset="0"/>
              </a:rPr>
              <a:t>无法捕捉纤维形态参数与物理强度间的非线性交互</a:t>
            </a:r>
            <a:r>
              <a:rPr lang="zh-CN" altLang="en-US" sz="1400" b="1" dirty="0">
                <a:latin typeface="Times New Roman" panose="02020603050405020304" pitchFamily="18" charset="0"/>
                <a:cs typeface="Times New Roman" panose="02020603050405020304" pitchFamily="18" charset="0"/>
              </a:rPr>
              <a:t>，且二者均更易受数据噪音干扰</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支持向量机虽借助核函数将数据映射到高维空间处理非线性问题，但在面对高维交互特征及多任务时，计算复杂度大幅上升，</a:t>
            </a:r>
            <a:r>
              <a:rPr lang="zh-CN" altLang="en-US" sz="1400" b="1" dirty="0">
                <a:solidFill>
                  <a:srgbClr val="FF0000"/>
                </a:solidFill>
                <a:latin typeface="Times New Roman" panose="02020603050405020304" pitchFamily="18" charset="0"/>
                <a:cs typeface="Times New Roman" panose="02020603050405020304" pitchFamily="18" charset="0"/>
              </a:rPr>
              <a:t>对动态纤维参数的非线性波动捕捉能力不足</a:t>
            </a:r>
            <a:r>
              <a:rPr lang="zh-CN" altLang="en-US" sz="1400" b="1" dirty="0">
                <a:latin typeface="Times New Roman" panose="02020603050405020304" pitchFamily="18" charset="0"/>
                <a:cs typeface="Times New Roman" panose="02020603050405020304" pitchFamily="18" charset="0"/>
              </a:rPr>
              <a:t>。尤其在样本量有限的情况下，其泛化性能受到明显制约</a:t>
            </a:r>
            <a:r>
              <a:rPr lang="zh-CN" sz="1400" b="1" dirty="0">
                <a:latin typeface="Times New Roman" panose="02020603050405020304" pitchFamily="18" charset="0"/>
                <a:cs typeface="Times New Roman" panose="02020603050405020304" pitchFamily="18" charset="0"/>
              </a:rPr>
              <a:t>。</a:t>
            </a:r>
            <a:endParaRPr lang="zh-CN" sz="1400" b="1" dirty="0"/>
          </a:p>
        </p:txBody>
      </p:sp>
      <p:sp>
        <p:nvSpPr>
          <p:cNvPr id="2" name="文本框 1"/>
          <p:cNvSpPr txBox="1"/>
          <p:nvPr/>
        </p:nvSpPr>
        <p:spPr>
          <a:xfrm>
            <a:off x="462280" y="3480118"/>
            <a:ext cx="5080000" cy="414020"/>
          </a:xfrm>
          <a:prstGeom prst="rect">
            <a:avLst/>
          </a:prstGeom>
        </p:spPr>
        <p:txBody>
          <a:bodyPr>
            <a:sp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纸张强度预测模型精度对比表</a:t>
            </a:r>
            <a:endParaRPr lang="zh-CN" altLang="en-US" sz="1400">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415290" y="3860800"/>
          <a:ext cx="5557520" cy="2522220"/>
        </p:xfrm>
        <a:graphic>
          <a:graphicData uri="http://schemas.openxmlformats.org/drawingml/2006/table">
            <a:tbl>
              <a:tblPr/>
              <a:tblGrid>
                <a:gridCol w="1389380"/>
                <a:gridCol w="1389380"/>
                <a:gridCol w="1389380"/>
                <a:gridCol w="1389380"/>
              </a:tblGrid>
              <a:tr h="71056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模型类型</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抗张强度</a:t>
                      </a:r>
                      <a:r>
                        <a:rPr lang="zh-CN" altLang="en-US"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宋体" panose="02010600030101010101" pitchFamily="2" charset="-122"/>
                        </a:rPr>
                        <a:t>R²</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耐破度</a:t>
                      </a:r>
                      <a:r>
                        <a:rPr lang="zh-CN" altLang="en-US"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宋体" panose="02010600030101010101" pitchFamily="2" charset="-122"/>
                        </a:rPr>
                        <a:t>R²</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撕裂度</a:t>
                      </a:r>
                      <a:r>
                        <a:rPr lang="zh-CN" altLang="en-US"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宋体" panose="02010600030101010101" pitchFamily="2" charset="-122"/>
                        </a:rPr>
                        <a:t>R²</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62585">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Page</a:t>
                      </a:r>
                      <a:r>
                        <a:rPr lang="zh-CN" sz="1400">
                          <a:solidFill>
                            <a:srgbClr val="000000"/>
                          </a:solidFill>
                          <a:latin typeface="Times New Roman" panose="02020603050405020304"/>
                          <a:ea typeface="宋体" panose="02010600030101010101" pitchFamily="2" charset="-122"/>
                        </a:rPr>
                        <a:t>机理模型</a:t>
                      </a:r>
                      <a:endParaRPr 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0.46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0.37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0.34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6195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线性回归模型</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0.62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0.58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0.55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6195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支持向量机模型</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0.78</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0.62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0.52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36258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随机森林模型</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0.95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0.9</a:t>
                      </a:r>
                      <a:r>
                        <a:rPr lang="en-US" altLang="zh-CN" sz="1400">
                          <a:solidFill>
                            <a:srgbClr val="000000"/>
                          </a:solidFill>
                          <a:latin typeface="Times New Roman" panose="02020603050405020304"/>
                          <a:ea typeface="Times New Roman" panose="02020603050405020304"/>
                        </a:rPr>
                        <a:t>0</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0.9</a:t>
                      </a:r>
                      <a:r>
                        <a:rPr lang="en-US" altLang="zh-CN" sz="1400">
                          <a:solidFill>
                            <a:srgbClr val="000000"/>
                          </a:solidFill>
                          <a:latin typeface="Times New Roman" panose="02020603050405020304"/>
                          <a:ea typeface="Times New Roman" panose="02020603050405020304"/>
                        </a:rPr>
                        <a:t>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pic>
        <p:nvPicPr>
          <p:cNvPr id="7" name="图片 6"/>
          <p:cNvPicPr>
            <a:picLocks noChangeAspect="1"/>
          </p:cNvPicPr>
          <p:nvPr/>
        </p:nvPicPr>
        <p:blipFill>
          <a:blip r:embed="rId2"/>
          <a:stretch>
            <a:fillRect/>
          </a:stretch>
        </p:blipFill>
        <p:spPr>
          <a:xfrm>
            <a:off x="195580" y="1047115"/>
            <a:ext cx="5996940" cy="2272030"/>
          </a:xfrm>
          <a:prstGeom prst="rect">
            <a:avLst/>
          </a:prstGeom>
        </p:spPr>
      </p:pic>
      <p:sp>
        <p:nvSpPr>
          <p:cNvPr id="6" name="灯片编号占位符 5"/>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3.6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输入参数贡献度分析</a:t>
            </a:r>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6581140" y="1061085"/>
            <a:ext cx="5195570" cy="4633595"/>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669405" y="886460"/>
            <a:ext cx="5168900" cy="2542540"/>
          </a:xfrm>
          <a:prstGeom prst="rect">
            <a:avLst/>
          </a:prstGeom>
          <a:noFill/>
        </p:spPr>
        <p:txBody>
          <a:bodyPr wrap="square" rtlCol="0">
            <a:noAutofit/>
          </a:bodyPr>
          <a:p>
            <a:pPr indent="0">
              <a:lnSpc>
                <a:spcPct val="200000"/>
              </a:lnSpc>
              <a:buFont typeface="Wingdings" panose="05000000000000000000" pitchFamily="2" charset="2"/>
              <a:buNone/>
            </a:pPr>
            <a:r>
              <a:rPr lang="zh-CN" altLang="en-US" sz="1400" b="1" dirty="0">
                <a:latin typeface="Times New Roman" panose="02020603050405020304" pitchFamily="18" charset="0"/>
                <a:cs typeface="Times New Roman" panose="02020603050405020304" pitchFamily="18" charset="0"/>
              </a:rPr>
              <a:t>在本模型训练过程中使用</a:t>
            </a:r>
            <a:r>
              <a:rPr lang="zh-CN" altLang="en-US" sz="1400" b="1" dirty="0">
                <a:solidFill>
                  <a:srgbClr val="FF0000"/>
                </a:solidFill>
                <a:latin typeface="Times New Roman" panose="02020603050405020304" pitchFamily="18" charset="0"/>
                <a:cs typeface="Times New Roman" panose="02020603050405020304" pitchFamily="18" charset="0"/>
              </a:rPr>
              <a:t>袋外置换重要性</a:t>
            </a:r>
            <a:r>
              <a:rPr lang="zh-CN" altLang="en-US" sz="1400" b="1" dirty="0">
                <a:latin typeface="Times New Roman" panose="02020603050405020304" pitchFamily="18" charset="0"/>
                <a:cs typeface="Times New Roman" panose="02020603050405020304" pitchFamily="18" charset="0"/>
              </a:rPr>
              <a:t>评估纤维参数对物理强度的贡献度：</a:t>
            </a:r>
            <a:endParaRPr lang="zh-CN" altLang="en-US"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solidFill>
                  <a:srgbClr val="FF0000"/>
                </a:solidFill>
                <a:latin typeface="Times New Roman" panose="02020603050405020304" pitchFamily="18" charset="0"/>
                <a:cs typeface="Times New Roman" panose="02020603050405020304" pitchFamily="18" charset="0"/>
              </a:rPr>
              <a:t>扭结纤维通过物理缠结增强纤维网络结构结合力，其占比的变化对纸张的物理强度有着显著的影响，占比下降导致纤维排列僵直化</a:t>
            </a:r>
            <a:r>
              <a:rPr lang="zh-CN" altLang="en-US" sz="1400" b="1" dirty="0">
                <a:latin typeface="Times New Roman" panose="02020603050405020304" pitchFamily="18" charset="0"/>
                <a:cs typeface="Times New Roman" panose="02020603050405020304" pitchFamily="18" charset="0"/>
              </a:rPr>
              <a:t>，纤维间有效接触面积减少，纤维网络结构的纤维交织变弱会导致纸张的强度下降；</a:t>
            </a:r>
            <a:endParaRPr lang="zh-CN" altLang="en-US"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solidFill>
                  <a:srgbClr val="FF0000"/>
                </a:solidFill>
                <a:latin typeface="Times New Roman" panose="02020603050405020304" pitchFamily="18" charset="0"/>
                <a:cs typeface="Times New Roman" panose="02020603050405020304" pitchFamily="18" charset="0"/>
              </a:rPr>
              <a:t>纤维的分丝帚化长度比下降直接导致纤维的表面的帚化能力下降</a:t>
            </a:r>
            <a:r>
              <a:rPr lang="zh-CN" altLang="en-US" sz="1400" b="1" dirty="0">
                <a:latin typeface="Times New Roman" panose="02020603050405020304" pitchFamily="18" charset="0"/>
                <a:cs typeface="Times New Roman" panose="02020603050405020304" pitchFamily="18" charset="0"/>
              </a:rPr>
              <a:t>，并最终导致纤维的结合力下降</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t>粗度的</a:t>
            </a:r>
            <a:r>
              <a:rPr lang="zh-CN" altLang="en-US" sz="1400" b="1" dirty="0"/>
              <a:t>贡献度高说明壁厚对耐破度的重要地位，</a:t>
            </a:r>
            <a:r>
              <a:rPr lang="zh-CN" altLang="en-US" sz="1400" b="1" dirty="0">
                <a:solidFill>
                  <a:srgbClr val="FF0000"/>
                </a:solidFill>
              </a:rPr>
              <a:t>粗度直接关系到单根纤维的抗压能力</a:t>
            </a:r>
            <a:r>
              <a:rPr lang="zh-CN" altLang="en-US" sz="1400" b="1" dirty="0"/>
              <a:t>，粗度下降无法为纸张提供足够的支撑，直接导致耐破度的下降。</a:t>
            </a:r>
            <a:endParaRPr lang="zh-CN" altLang="en-US" sz="1400" b="1" dirty="0"/>
          </a:p>
        </p:txBody>
      </p:sp>
      <p:sp>
        <p:nvSpPr>
          <p:cNvPr id="2" name="文本框 1"/>
          <p:cNvSpPr txBox="1"/>
          <p:nvPr/>
        </p:nvSpPr>
        <p:spPr>
          <a:xfrm>
            <a:off x="762000" y="803593"/>
            <a:ext cx="5080000" cy="414020"/>
          </a:xfrm>
          <a:prstGeom prst="rect">
            <a:avLst/>
          </a:prstGeom>
        </p:spPr>
        <p:txBody>
          <a:bodyPr>
            <a:sp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输入参数贡献度表</a:t>
            </a:r>
            <a:endParaRPr lang="zh-CN" altLang="en-US" sz="1400">
              <a:latin typeface="微软雅黑" panose="020B0503020204020204" pitchFamily="34" charset="-122"/>
              <a:ea typeface="微软雅黑" panose="020B0503020204020204" pitchFamily="34" charset="-122"/>
            </a:endParaRPr>
          </a:p>
        </p:txBody>
      </p:sp>
      <p:graphicFrame>
        <p:nvGraphicFramePr>
          <p:cNvPr id="6" name="表格 5"/>
          <p:cNvGraphicFramePr/>
          <p:nvPr>
            <p:custDataLst>
              <p:tags r:id="rId1"/>
            </p:custDataLst>
          </p:nvPr>
        </p:nvGraphicFramePr>
        <p:xfrm>
          <a:off x="405765" y="1217930"/>
          <a:ext cx="5932805" cy="4867275"/>
        </p:xfrm>
        <a:graphic>
          <a:graphicData uri="http://schemas.openxmlformats.org/drawingml/2006/table">
            <a:tbl>
              <a:tblPr/>
              <a:tblGrid>
                <a:gridCol w="1515745"/>
                <a:gridCol w="1523365"/>
                <a:gridCol w="1489075"/>
                <a:gridCol w="1404620"/>
              </a:tblGrid>
              <a:tr h="561340">
                <a:tc>
                  <a:txBody>
                    <a:bodyPr/>
                    <a:p>
                      <a:pPr marL="0" indent="0" algn="ctr" defTabSz="914400">
                        <a:lnSpc>
                          <a:spcPct val="150000"/>
                        </a:lnSpc>
                        <a:spcBef>
                          <a:spcPct val="0"/>
                        </a:spcBef>
                        <a:spcAft>
                          <a:spcPct val="0"/>
                        </a:spcAft>
                        <a:tabLst>
                          <a:tab pos="784225" algn="l"/>
                          <a:tab pos="1492250" algn="l"/>
                        </a:tabLst>
                      </a:pPr>
                      <a:r>
                        <a:rPr lang="en-US" altLang="zh-CN" sz="1200">
                          <a:solidFill>
                            <a:srgbClr val="000000"/>
                          </a:solidFill>
                          <a:latin typeface="Times New Roman" panose="02020603050405020304"/>
                          <a:ea typeface="Times New Roman" panose="02020603050405020304"/>
                        </a:rPr>
                        <a:t>  </a:t>
                      </a:r>
                      <a:r>
                        <a:rPr lang="zh-CN" sz="1200">
                          <a:solidFill>
                            <a:srgbClr val="000000"/>
                          </a:solidFill>
                          <a:latin typeface="Times New Roman" panose="02020603050405020304"/>
                          <a:ea typeface="宋体" panose="02010600030101010101" pitchFamily="2" charset="-122"/>
                        </a:rPr>
                        <a:t>输入参数</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marL="0" indent="0" algn="ctr">
                        <a:lnSpc>
                          <a:spcPct val="150000"/>
                        </a:lnSpc>
                        <a:spcBef>
                          <a:spcPct val="0"/>
                        </a:spcBef>
                        <a:spcAft>
                          <a:spcPct val="0"/>
                        </a:spcAft>
                      </a:pPr>
                      <a:r>
                        <a:rPr lang="zh-CN" sz="1200">
                          <a:solidFill>
                            <a:srgbClr val="000000"/>
                          </a:solidFill>
                          <a:latin typeface="Times New Roman" panose="02020603050405020304"/>
                          <a:ea typeface="宋体" panose="02010600030101010101" pitchFamily="2" charset="-122"/>
                        </a:rPr>
                        <a:t>抗张强度贡献度</a:t>
                      </a:r>
                      <a:r>
                        <a:rPr lang="en-US" altLang="zh-CN" sz="1200">
                          <a:solidFill>
                            <a:srgbClr val="000000"/>
                          </a:solidFill>
                          <a:latin typeface="Times New Roman" panose="02020603050405020304"/>
                          <a:ea typeface="宋体" panose="02010600030101010101" pitchFamily="2" charset="-122"/>
                        </a:rPr>
                        <a:t>%</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marL="0" indent="0" algn="ctr">
                        <a:lnSpc>
                          <a:spcPct val="150000"/>
                        </a:lnSpc>
                        <a:spcBef>
                          <a:spcPct val="0"/>
                        </a:spcBef>
                        <a:spcAft>
                          <a:spcPct val="0"/>
                        </a:spcAft>
                      </a:pPr>
                      <a:r>
                        <a:rPr lang="zh-CN" sz="1200">
                          <a:solidFill>
                            <a:srgbClr val="000000"/>
                          </a:solidFill>
                          <a:latin typeface="Times New Roman" panose="02020603050405020304"/>
                          <a:ea typeface="宋体" panose="02010600030101010101" pitchFamily="2" charset="-122"/>
                        </a:rPr>
                        <a:t>耐破度</a:t>
                      </a:r>
                      <a:r>
                        <a:rPr lang="zh-CN" sz="1200">
                          <a:solidFill>
                            <a:srgbClr val="000000"/>
                          </a:solidFill>
                          <a:latin typeface="Times New Roman" panose="02020603050405020304"/>
                          <a:ea typeface="宋体" panose="02010600030101010101" pitchFamily="2" charset="-122"/>
                          <a:sym typeface="+mn-ea"/>
                        </a:rPr>
                        <a:t>贡献度</a:t>
                      </a:r>
                      <a:r>
                        <a:rPr lang="en-US" altLang="zh-CN" sz="1200">
                          <a:solidFill>
                            <a:srgbClr val="000000"/>
                          </a:solidFill>
                          <a:latin typeface="Times New Roman" panose="02020603050405020304"/>
                          <a:ea typeface="宋体" panose="02010600030101010101" pitchFamily="2" charset="-122"/>
                          <a:sym typeface="+mn-ea"/>
                        </a:rPr>
                        <a:t>%</a:t>
                      </a:r>
                      <a:endParaRPr lang="en-US" altLang="zh-CN" sz="1200">
                        <a:solidFill>
                          <a:srgbClr val="000000"/>
                        </a:solidFill>
                        <a:latin typeface="Times New Roman" panose="02020603050405020304"/>
                        <a:ea typeface="宋体" panose="02010600030101010101" pitchFamily="2" charset="-122"/>
                        <a:sym typeface="+mn-ea"/>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c>
                  <a:txBody>
                    <a:bodyPr/>
                    <a:p>
                      <a:pPr marL="0" indent="0" algn="ctr">
                        <a:lnSpc>
                          <a:spcPct val="150000"/>
                        </a:lnSpc>
                        <a:spcBef>
                          <a:spcPct val="0"/>
                        </a:spcBef>
                        <a:spcAft>
                          <a:spcPct val="0"/>
                        </a:spcAft>
                      </a:pPr>
                      <a:r>
                        <a:rPr lang="zh-CN" sz="1200">
                          <a:solidFill>
                            <a:srgbClr val="000000"/>
                          </a:solidFill>
                          <a:latin typeface="Times New Roman" panose="02020603050405020304"/>
                          <a:ea typeface="宋体" panose="02010600030101010101" pitchFamily="2" charset="-122"/>
                          <a:sym typeface="+mn-ea"/>
                        </a:rPr>
                        <a:t>撕裂度</a:t>
                      </a:r>
                      <a:r>
                        <a:rPr lang="zh-CN" sz="1200">
                          <a:solidFill>
                            <a:srgbClr val="000000"/>
                          </a:solidFill>
                          <a:latin typeface="Times New Roman" panose="02020603050405020304"/>
                          <a:ea typeface="宋体" panose="02010600030101010101" pitchFamily="2" charset="-122"/>
                          <a:sym typeface="+mn-ea"/>
                        </a:rPr>
                        <a:t>贡献度</a:t>
                      </a:r>
                      <a:r>
                        <a:rPr lang="en-US" altLang="zh-CN" sz="1200">
                          <a:solidFill>
                            <a:srgbClr val="000000"/>
                          </a:solidFill>
                          <a:latin typeface="Times New Roman" panose="02020603050405020304"/>
                          <a:ea typeface="宋体" panose="02010600030101010101" pitchFamily="2" charset="-122"/>
                          <a:sym typeface="+mn-ea"/>
                        </a:rPr>
                        <a:t>%</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FFFFF"/>
                    </a:solidFill>
                  </a:tcPr>
                </a:tc>
              </a:tr>
              <a:tr h="287020">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0.2-0.3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0.37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8.32</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5.04</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solidFill>
                      <a:srgbClr val="FFFFFF"/>
                    </a:solidFill>
                  </a:tcPr>
                </a:tc>
              </a:tr>
              <a:tr h="287020">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0.3-0.45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6.80</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7.44</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9.06</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0.67-1.0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6.91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5.04</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5.26</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1.0-1.5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11.91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5.89</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2.27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1.5-2.24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1.21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9.29</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10.58</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655">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3.35-5.01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6.37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10.14</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4.37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a:t>
                      </a:r>
                      <a:r>
                        <a:rPr lang="en-US" altLang="zh-CN" sz="1200">
                          <a:solidFill>
                            <a:srgbClr val="000000"/>
                          </a:solidFill>
                          <a:latin typeface="Times New Roman" panose="02020603050405020304"/>
                          <a:ea typeface="宋体" panose="02010600030101010101" pitchFamily="2" charset="-122"/>
                        </a:rPr>
                        <a:t>7.5 mm</a:t>
                      </a:r>
                      <a:r>
                        <a:rPr lang="zh-CN" sz="1200">
                          <a:solidFill>
                            <a:srgbClr val="000000"/>
                          </a:solidFill>
                          <a:latin typeface="宋体" panose="02010600030101010101" pitchFamily="2" charset="-122"/>
                          <a:ea typeface="宋体" panose="02010600030101010101" pitchFamily="2" charset="-122"/>
                        </a:rPr>
                        <a:t>纤维</a:t>
                      </a:r>
                      <a:r>
                        <a:rPr lang="zh-CN" sz="1200">
                          <a:solidFill>
                            <a:srgbClr val="000000"/>
                          </a:solidFill>
                          <a:latin typeface="Times New Roman" panose="02020603050405020304"/>
                          <a:ea typeface="宋体" panose="02010600030101010101" pitchFamily="2" charset="-122"/>
                        </a:rPr>
                        <a:t>长</a:t>
                      </a:r>
                      <a:endParaRPr 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6.67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8.61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7.55</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算数平均长</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7.01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4.05</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7.93</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宽度</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5.43</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6.01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4.57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粗度</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7.69</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10.84</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6.60</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扭结纤维占比</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15.19</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12.12</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19.32</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分丝帚化长度比</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10.53</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7.39</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2.43</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折断纤维比</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7.74</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6.30</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8.38</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细小纤维长度比</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7.56</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4.08</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6.99</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solidFill>
                      <a:srgbClr val="FFFFFF"/>
                    </a:solidFill>
                  </a:tcPr>
                </a:tc>
              </a:tr>
              <a:tr h="287020">
                <a:tc>
                  <a:txBody>
                    <a:bodyPr/>
                    <a:p>
                      <a:pPr marL="0" indent="0" algn="ctr">
                        <a:lnSpc>
                          <a:spcPct val="150000"/>
                        </a:lnSpc>
                        <a:spcBef>
                          <a:spcPct val="0"/>
                        </a:spcBef>
                        <a:spcAft>
                          <a:spcPct val="0"/>
                        </a:spcAft>
                      </a:pPr>
                      <a:r>
                        <a:rPr lang="zh-CN" sz="1200">
                          <a:solidFill>
                            <a:srgbClr val="000000"/>
                          </a:solidFill>
                          <a:latin typeface="宋体" panose="02010600030101010101" pitchFamily="2" charset="-122"/>
                          <a:ea typeface="宋体" panose="02010600030101010101" pitchFamily="2" charset="-122"/>
                        </a:rPr>
                        <a:t>细小纤维面积比</a:t>
                      </a:r>
                      <a:endParaRPr lang="zh-CN" sz="12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5.01</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4.33</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solidFill>
                      <a:srgbClr val="FFFFFF"/>
                    </a:solidFill>
                  </a:tcPr>
                </a:tc>
                <a:tc>
                  <a:txBody>
                    <a:bodyPr/>
                    <a:p>
                      <a:pPr marL="0" indent="0" algn="ctr">
                        <a:lnSpc>
                          <a:spcPct val="150000"/>
                        </a:lnSpc>
                        <a:spcBef>
                          <a:spcPct val="0"/>
                        </a:spcBef>
                        <a:spcAft>
                          <a:spcPct val="0"/>
                        </a:spcAft>
                      </a:pPr>
                      <a:r>
                        <a:rPr lang="en-US" altLang="zh-CN" sz="1200">
                          <a:solidFill>
                            <a:srgbClr val="000000"/>
                          </a:solidFill>
                          <a:latin typeface="Times New Roman" panose="02020603050405020304"/>
                          <a:ea typeface="宋体" panose="02010600030101010101" pitchFamily="2" charset="-122"/>
                        </a:rPr>
                        <a:t>4.77</a:t>
                      </a:r>
                      <a:endParaRPr lang="en-US" altLang="zh-CN" sz="12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solidFill>
                      <a:srgbClr val="FFFFFF"/>
                    </a:solidFill>
                  </a:tcPr>
                </a:tc>
              </a:tr>
            </a:tbl>
          </a:graphicData>
        </a:graphic>
      </p:graphicFrame>
      <p:sp>
        <p:nvSpPr>
          <p:cNvPr id="5" name="灯片编号占位符 4"/>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7" name="矩形 6"/>
          <p:cNvSpPr/>
          <p:nvPr/>
        </p:nvSpPr>
        <p:spPr>
          <a:xfrm>
            <a:off x="629285" y="4384040"/>
            <a:ext cx="5212715" cy="86169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0" y="0"/>
            <a:ext cx="4990011" cy="5918934"/>
          </a:xfrm>
          <a:prstGeom prst="triangle">
            <a:avLst>
              <a:gd name="adj" fmla="val 10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0" y="3657601"/>
            <a:ext cx="10972800" cy="3200400"/>
          </a:xfrm>
          <a:prstGeom prst="triangle">
            <a:avLst>
              <a:gd name="adj" fmla="val 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629871" y="1258976"/>
            <a:ext cx="6476275" cy="3685800"/>
            <a:chOff x="4603018" y="3207206"/>
            <a:chExt cx="4020218" cy="3685800"/>
          </a:xfrm>
        </p:grpSpPr>
        <p:sp>
          <p:nvSpPr>
            <p:cNvPr id="44" name="矩形 43"/>
            <p:cNvSpPr/>
            <p:nvPr/>
          </p:nvSpPr>
          <p:spPr>
            <a:xfrm>
              <a:off x="4603018" y="3207206"/>
              <a:ext cx="2985964" cy="707886"/>
            </a:xfrm>
            <a:prstGeom prst="rect">
              <a:avLst/>
            </a:prstGeom>
          </p:spPr>
          <p:txBody>
            <a:bodyPr wrap="square">
              <a:spAutoFit/>
            </a:bodyPr>
            <a:lstStyle/>
            <a:p>
              <a:pPr algn="ctr"/>
              <a:r>
                <a:rPr lang="zh-CN" altLang="en-US" sz="4000" b="1" dirty="0">
                  <a:solidFill>
                    <a:srgbClr val="024DA2"/>
                  </a:solidFill>
                  <a:latin typeface="微软雅黑" panose="020B0503020204020204" pitchFamily="34" charset="-122"/>
                  <a:ea typeface="微软雅黑" panose="020B0503020204020204" pitchFamily="34" charset="-122"/>
                </a:rPr>
                <a:t>目录</a:t>
              </a:r>
              <a:endParaRPr lang="zh-CN" altLang="en-US" sz="4000" b="1" dirty="0">
                <a:solidFill>
                  <a:srgbClr val="024DA2"/>
                </a:solidFill>
                <a:latin typeface="微软雅黑" panose="020B0503020204020204" pitchFamily="34" charset="-122"/>
                <a:ea typeface="微软雅黑" panose="020B0503020204020204" pitchFamily="34" charset="-122"/>
              </a:endParaRPr>
            </a:p>
          </p:txBody>
        </p:sp>
        <p:sp>
          <p:nvSpPr>
            <p:cNvPr id="45" name="矩形 44"/>
            <p:cNvSpPr/>
            <p:nvPr/>
          </p:nvSpPr>
          <p:spPr>
            <a:xfrm>
              <a:off x="5099241" y="4031696"/>
              <a:ext cx="3523995" cy="2861310"/>
            </a:xfrm>
            <a:prstGeom prst="rect">
              <a:avLst/>
            </a:prstGeom>
          </p:spPr>
          <p:txBody>
            <a:bodyPr wrap="square">
              <a:spAutoFit/>
            </a:bodyPr>
            <a:lstStyle/>
            <a:p>
              <a:pPr marL="514350" indent="-514350">
                <a:lnSpc>
                  <a:spcPct val="150000"/>
                </a:lnSpc>
                <a:buFont typeface="+mj-lt"/>
                <a:buAutoNum type="arabicPeriod"/>
              </a:pPr>
              <a:r>
                <a:rPr lang="zh-CN" altLang="en-US" sz="2000" b="1" dirty="0">
                  <a:solidFill>
                    <a:schemeClr val="tx1"/>
                  </a:solidFill>
                  <a:latin typeface="微软雅黑" panose="020B0503020204020204" pitchFamily="34" charset="-122"/>
                  <a:ea typeface="微软雅黑" panose="020B0503020204020204" pitchFamily="34" charset="-122"/>
                </a:rPr>
                <a:t>课题研究背景及意义</a:t>
              </a:r>
              <a:endParaRPr lang="en-US" altLang="zh-CN" sz="2000" b="1" dirty="0">
                <a:solidFill>
                  <a:schemeClr val="tx1"/>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再生纸浆循环回用纤维劣化研究</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再生纸张物理强度预测模型构建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solidFill>
                    <a:srgbClr val="FF0000"/>
                  </a:solidFill>
                  <a:latin typeface="微软雅黑" panose="020B0503020204020204" pitchFamily="34" charset="-122"/>
                  <a:ea typeface="微软雅黑" panose="020B0503020204020204" pitchFamily="34" charset="-122"/>
                </a:rPr>
                <a:t>再生纸浆再利用适用度评价体系构建</a:t>
              </a:r>
              <a:endParaRPr lang="zh-CN" altLang="en-US" sz="2000" b="1" dirty="0">
                <a:solidFill>
                  <a:srgbClr val="FF0000"/>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再生纸浆数据库构建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总结与展望</a:t>
              </a:r>
              <a:endParaRPr lang="en-US" altLang="zh-CN" sz="2000" b="1" dirty="0">
                <a:latin typeface="微软雅黑" panose="020B0503020204020204" pitchFamily="34" charset="-122"/>
                <a:ea typeface="微软雅黑" panose="020B0503020204020204" pitchFamily="34" charset="-122"/>
              </a:endParaRPr>
            </a:p>
          </p:txBody>
        </p:sp>
        <p:sp>
          <p:nvSpPr>
            <p:cNvPr id="47" name="等腰三角形 46"/>
            <p:cNvSpPr/>
            <p:nvPr/>
          </p:nvSpPr>
          <p:spPr>
            <a:xfrm flipV="1">
              <a:off x="6000750" y="3915093"/>
              <a:ext cx="190500" cy="16422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pic>
        <p:nvPicPr>
          <p:cNvPr id="11"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431" y="5355806"/>
            <a:ext cx="3042950" cy="12678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316"/>
    </mc:Choice>
    <mc:Fallback>
      <p:transition spd="slow" advTm="431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678305" y="4666615"/>
            <a:ext cx="7800975" cy="1198880"/>
          </a:xfrm>
          <a:prstGeom prst="rect">
            <a:avLst/>
          </a:prstGeom>
          <a:noFill/>
        </p:spPr>
        <p:txBody>
          <a:bodyPr wrap="square">
            <a:spAutoFit/>
          </a:bodyPr>
          <a:lstStyle/>
          <a:p>
            <a:pPr>
              <a:lnSpc>
                <a:spcPct val="150000"/>
              </a:lnSpc>
            </a:pPr>
            <a:r>
              <a:rPr lang="zh-CN" altLang="en-US" sz="1600" b="1" dirty="0">
                <a:solidFill>
                  <a:prstClr val="black"/>
                </a:solidFill>
                <a:latin typeface="+mn-ea"/>
                <a:cs typeface="Times New Roman" panose="02020603050405020304" pitchFamily="18" charset="0"/>
              </a:rPr>
              <a:t>本节围绕再生纸浆质量评估体系，</a:t>
            </a:r>
            <a:r>
              <a:rPr lang="zh-CN" altLang="en-US" sz="1600" b="1" dirty="0">
                <a:solidFill>
                  <a:srgbClr val="FF0000"/>
                </a:solidFill>
                <a:latin typeface="+mn-ea"/>
                <a:cs typeface="Times New Roman" panose="02020603050405020304" pitchFamily="18" charset="0"/>
              </a:rPr>
              <a:t>提出再利用适用度定义</a:t>
            </a:r>
            <a:r>
              <a:rPr lang="zh-CN" altLang="en-US" sz="1600" b="1" dirty="0">
                <a:solidFill>
                  <a:prstClr val="black"/>
                </a:solidFill>
                <a:latin typeface="+mn-ea"/>
                <a:cs typeface="Times New Roman" panose="02020603050405020304" pitchFamily="18" charset="0"/>
              </a:rPr>
              <a:t>，结合纸张物理强度预测模型，通过熵权法、层次分析法等方法构建</a:t>
            </a:r>
            <a:r>
              <a:rPr lang="zh-CN" altLang="en-US" sz="1600" b="1" dirty="0">
                <a:solidFill>
                  <a:srgbClr val="FF0000"/>
                </a:solidFill>
                <a:latin typeface="+mn-ea"/>
                <a:cs typeface="Times New Roman" panose="02020603050405020304" pitchFamily="18" charset="0"/>
              </a:rPr>
              <a:t>再生纸浆再利用适用度评价体系</a:t>
            </a:r>
            <a:r>
              <a:rPr lang="zh-CN" altLang="en-US" sz="1600" b="1" dirty="0">
                <a:solidFill>
                  <a:prstClr val="black"/>
                </a:solidFill>
                <a:latin typeface="+mn-ea"/>
                <a:cs typeface="Times New Roman" panose="02020603050405020304" pitchFamily="18" charset="0"/>
              </a:rPr>
              <a:t>。</a:t>
            </a:r>
            <a:endParaRPr lang="zh-CN" altLang="en-US" sz="1600" b="1" dirty="0">
              <a:solidFill>
                <a:prstClr val="black"/>
              </a:solidFill>
              <a:latin typeface="+mn-ea"/>
              <a:cs typeface="Times New Roman" panose="02020603050405020304" pitchFamily="18" charset="0"/>
            </a:endParaRPr>
          </a:p>
          <a:p>
            <a:pPr>
              <a:lnSpc>
                <a:spcPct val="150000"/>
              </a:lnSpc>
            </a:pPr>
            <a:endParaRPr lang="zh-CN" altLang="en-US" sz="1600" b="1" dirty="0">
              <a:solidFill>
                <a:prstClr val="black"/>
              </a:solidFill>
              <a:latin typeface="+mn-ea"/>
              <a:cs typeface="Times New Roman" panose="02020603050405020304" pitchFamily="18" charset="0"/>
            </a:endParaRPr>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4.1 研究路线</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1" name="图片 11" descr="E:/11AA研究生学习/毕设/0411修改/技术路线/第四章.png第四章"/>
          <p:cNvPicPr>
            <a:picLocks noChangeAspect="1"/>
          </p:cNvPicPr>
          <p:nvPr/>
        </p:nvPicPr>
        <p:blipFill>
          <a:blip r:embed="rId1"/>
          <a:srcRect t="3239" b="3239"/>
          <a:stretch>
            <a:fillRect/>
          </a:stretch>
        </p:blipFill>
        <p:spPr>
          <a:xfrm>
            <a:off x="1841500" y="1019810"/>
            <a:ext cx="8508365" cy="3351530"/>
          </a:xfrm>
          <a:prstGeom prst="rect">
            <a:avLst/>
          </a:prstGeom>
        </p:spPr>
      </p:pic>
      <p:sp>
        <p:nvSpPr>
          <p:cNvPr id="2" name="灯片编号占位符 1"/>
          <p:cNvSpPr>
            <a:spLocks noGrp="1"/>
          </p:cNvSpPr>
          <p:nvPr>
            <p:ph type="sldNum" sz="quarter" idx="12"/>
          </p:nvPr>
        </p:nvSpPr>
        <p:spPr/>
        <p:txBody>
          <a:bodyPr/>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26738" y="-5843"/>
            <a:ext cx="8660508"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4.1 </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研究路线</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10712740" y="6372225"/>
            <a:ext cx="603737"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23" name="矩形 22"/>
          <p:cNvSpPr/>
          <p:nvPr/>
        </p:nvSpPr>
        <p:spPr>
          <a:xfrm>
            <a:off x="8123341" y="1254888"/>
            <a:ext cx="3843758" cy="3707638"/>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197225" y="1355759"/>
            <a:ext cx="3769874" cy="3594735"/>
          </a:xfrm>
          <a:prstGeom prst="rect">
            <a:avLst/>
          </a:prstGeom>
          <a:noFill/>
        </p:spPr>
        <p:txBody>
          <a:bodyPr wrap="square" rtlCol="0">
            <a:spAutoFit/>
          </a:bodyPr>
          <a:lstStyle/>
          <a:p>
            <a:pPr>
              <a:lnSpc>
                <a:spcPct val="150000"/>
              </a:lnSpc>
            </a:pPr>
            <a:r>
              <a:rPr lang="zh-CN" altLang="en-US" b="1" dirty="0">
                <a:latin typeface="Times New Roman" panose="02020603050405020304" pitchFamily="18" charset="0"/>
                <a:cs typeface="Times New Roman" panose="02020603050405020304" pitchFamily="18" charset="0"/>
              </a:rPr>
              <a:t>再生纸浆再利用适用度评估需综合考虑</a:t>
            </a:r>
            <a:r>
              <a:rPr lang="zh-CN" altLang="en-US" b="1" dirty="0">
                <a:solidFill>
                  <a:srgbClr val="FF0000"/>
                </a:solidFill>
                <a:latin typeface="Times New Roman" panose="02020603050405020304" pitchFamily="18" charset="0"/>
                <a:cs typeface="Times New Roman" panose="02020603050405020304" pitchFamily="18" charset="0"/>
              </a:rPr>
              <a:t>纤维形态参数的特殊劣化</a:t>
            </a:r>
            <a:r>
              <a:rPr lang="zh-CN" altLang="en-US" b="1" dirty="0">
                <a:latin typeface="Times New Roman" panose="02020603050405020304" pitchFamily="18" charset="0"/>
                <a:cs typeface="Times New Roman" panose="02020603050405020304" pitchFamily="18" charset="0"/>
              </a:rPr>
              <a:t>和</a:t>
            </a:r>
            <a:r>
              <a:rPr lang="zh-CN" altLang="en-US" b="1" dirty="0">
                <a:solidFill>
                  <a:srgbClr val="FF0000"/>
                </a:solidFill>
                <a:latin typeface="Times New Roman" panose="02020603050405020304" pitchFamily="18" charset="0"/>
                <a:cs typeface="Times New Roman" panose="02020603050405020304" pitchFamily="18" charset="0"/>
              </a:rPr>
              <a:t>纸张物理强度</a:t>
            </a:r>
            <a:r>
              <a:rPr lang="zh-CN" altLang="en-US" b="1" dirty="0">
                <a:latin typeface="Times New Roman" panose="02020603050405020304" pitchFamily="18" charset="0"/>
                <a:cs typeface="Times New Roman" panose="02020603050405020304" pitchFamily="18" charset="0"/>
              </a:rPr>
              <a:t>的影响，以前面的实验数据和预测模型作为基础，为建设再利用适用度评价体系，</a:t>
            </a:r>
            <a:r>
              <a:rPr lang="zh-CN" altLang="en-US" b="1" dirty="0">
                <a:solidFill>
                  <a:srgbClr val="FF0000"/>
                </a:solidFill>
                <a:latin typeface="Times New Roman" panose="02020603050405020304" pitchFamily="18" charset="0"/>
                <a:cs typeface="Times New Roman" panose="02020603050405020304" pitchFamily="18" charset="0"/>
              </a:rPr>
              <a:t>引入熵权法和层次分析法两类评价方法</a:t>
            </a:r>
            <a:r>
              <a:rPr lang="zh-CN" altLang="en-US" b="1" dirty="0">
                <a:latin typeface="Times New Roman" panose="02020603050405020304" pitchFamily="18" charset="0"/>
                <a:cs typeface="Times New Roman" panose="02020603050405020304" pitchFamily="18" charset="0"/>
              </a:rPr>
              <a:t>，分别从</a:t>
            </a:r>
            <a:r>
              <a:rPr lang="zh-CN" altLang="en-US" b="1" dirty="0">
                <a:solidFill>
                  <a:srgbClr val="FF0000"/>
                </a:solidFill>
                <a:latin typeface="Times New Roman" panose="02020603050405020304" pitchFamily="18" charset="0"/>
                <a:cs typeface="Times New Roman" panose="02020603050405020304" pitchFamily="18" charset="0"/>
              </a:rPr>
              <a:t>客观和主观</a:t>
            </a:r>
            <a:r>
              <a:rPr lang="zh-CN" altLang="en-US" b="1" dirty="0">
                <a:latin typeface="Times New Roman" panose="02020603050405020304" pitchFamily="18" charset="0"/>
                <a:cs typeface="Times New Roman" panose="02020603050405020304" pitchFamily="18" charset="0"/>
              </a:rPr>
              <a:t>层面构建多维度评分体系。</a:t>
            </a:r>
            <a:endParaRPr lang="zh-CN" altLang="en-US" b="1" dirty="0">
              <a:latin typeface="Times New Roman" panose="02020603050405020304" pitchFamily="18" charset="0"/>
              <a:cs typeface="Times New Roman" panose="02020603050405020304" pitchFamily="18" charset="0"/>
            </a:endParaRPr>
          </a:p>
          <a:p>
            <a:endParaRPr lang="en-US" altLang="zh-CN" b="1" baseline="30000" dirty="0">
              <a:latin typeface="Times New Roman" panose="02020603050405020304" pitchFamily="18" charset="0"/>
              <a:cs typeface="Times New Roman" panose="02020603050405020304" pitchFamily="18" charset="0"/>
            </a:endParaRPr>
          </a:p>
        </p:txBody>
      </p:sp>
      <p:pic>
        <p:nvPicPr>
          <p:cNvPr id="7" name="图片 7" descr="E:/11AA研究生学习/毕设/0411修改/技术路线/第四章的表达式.png第四章的表达式"/>
          <p:cNvPicPr>
            <a:picLocks noChangeAspect="1"/>
          </p:cNvPicPr>
          <p:nvPr/>
        </p:nvPicPr>
        <p:blipFill>
          <a:blip r:embed="rId1"/>
          <a:srcRect l="1089" t="629" r="1668" b="61407"/>
          <a:stretch>
            <a:fillRect/>
          </a:stretch>
        </p:blipFill>
        <p:spPr>
          <a:xfrm>
            <a:off x="246380" y="1355725"/>
            <a:ext cx="7814945" cy="3448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326738" y="-5843"/>
            <a:ext cx="8660508" cy="1198880"/>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4.2 </a:t>
            </a:r>
            <a:r>
              <a:rPr lang="zh-CN" altLang="en-US" sz="2400" b="1" dirty="0">
                <a:solidFill>
                  <a:schemeClr val="tx1">
                    <a:lumMod val="65000"/>
                    <a:lumOff val="35000"/>
                  </a:schemeClr>
                </a:solidFill>
                <a:latin typeface="+mn-ea"/>
              </a:rPr>
              <a:t>再利用适用度定义</a:t>
            </a:r>
            <a:r>
              <a:rPr lang="en-US" altLang="zh-CN" sz="2400" b="1" dirty="0">
                <a:solidFill>
                  <a:schemeClr val="tx1">
                    <a:lumMod val="65000"/>
                    <a:lumOff val="35000"/>
                  </a:schemeClr>
                </a:solidFill>
                <a:latin typeface="+mn-ea"/>
              </a:rPr>
              <a:t> </a:t>
            </a:r>
            <a:endParaRPr lang="en-US" altLang="zh-CN" sz="2400" b="1" dirty="0">
              <a:solidFill>
                <a:schemeClr val="tx1">
                  <a:lumMod val="65000"/>
                  <a:lumOff val="35000"/>
                </a:schemeClr>
              </a:solidFill>
              <a:latin typeface="+mn-ea"/>
            </a:endParaRPr>
          </a:p>
          <a:p>
            <a:endParaRPr lang="en-US" altLang="zh-CN" sz="2400" b="1" dirty="0">
              <a:solidFill>
                <a:schemeClr val="tx1">
                  <a:lumMod val="65000"/>
                  <a:lumOff val="35000"/>
                </a:schemeClr>
              </a:solidFill>
              <a:latin typeface="+mn-ea"/>
            </a:endParaRPr>
          </a:p>
          <a:p>
            <a:endParaRPr lang="zh-CN" altLang="en-US" sz="2400" b="1" dirty="0">
              <a:solidFill>
                <a:schemeClr val="tx1">
                  <a:lumMod val="65000"/>
                  <a:lumOff val="35000"/>
                </a:schemeClr>
              </a:solidFill>
              <a:latin typeface="+mn-ea"/>
            </a:endParaRPr>
          </a:p>
        </p:txBody>
      </p:sp>
      <p:sp>
        <p:nvSpPr>
          <p:cNvPr id="13" name="文本框 12"/>
          <p:cNvSpPr txBox="1"/>
          <p:nvPr/>
        </p:nvSpPr>
        <p:spPr>
          <a:xfrm>
            <a:off x="327114" y="620657"/>
            <a:ext cx="10557285" cy="2061210"/>
          </a:xfrm>
          <a:prstGeom prst="rect">
            <a:avLst/>
          </a:prstGeom>
          <a:noFill/>
        </p:spPr>
        <p:txBody>
          <a:bodyPr wrap="square">
            <a:spAutoFit/>
          </a:bodyPr>
          <a:lstStyle/>
          <a:p>
            <a:pPr indent="127000" algn="just">
              <a:lnSpc>
                <a:spcPct val="200000"/>
              </a:lnSpc>
            </a:pPr>
            <a:r>
              <a:rPr lang="en-US" altLang="zh-CN" sz="1600" kern="100" dirty="0">
                <a:solidFill>
                  <a:srgbClr val="000000"/>
                </a:solidFill>
                <a:latin typeface="+mn-ea"/>
                <a:cs typeface="Times New Roman" panose="02020603050405020304" pitchFamily="18" charset="0"/>
              </a:rPr>
              <a:t>     </a:t>
            </a:r>
            <a:r>
              <a:rPr lang="zh-CN" altLang="en-US" sz="1600" kern="100" dirty="0">
                <a:solidFill>
                  <a:srgbClr val="000000"/>
                </a:solidFill>
                <a:latin typeface="+mn-ea"/>
                <a:cs typeface="Times New Roman" panose="02020603050405020304" pitchFamily="18" charset="0"/>
              </a:rPr>
              <a:t>提出再生纸浆再利用适用度</a:t>
            </a:r>
            <a:r>
              <a:rPr lang="en-US" altLang="zh-CN" sz="1600" kern="100" dirty="0">
                <a:solidFill>
                  <a:srgbClr val="000000"/>
                </a:solidFill>
                <a:latin typeface="+mn-ea"/>
                <a:cs typeface="Times New Roman" panose="02020603050405020304" pitchFamily="18" charset="0"/>
              </a:rPr>
              <a:t>                 </a:t>
            </a:r>
            <a:r>
              <a:rPr lang="zh-CN" altLang="en-US" sz="1600" kern="100" dirty="0">
                <a:solidFill>
                  <a:srgbClr val="000000"/>
                </a:solidFill>
                <a:latin typeface="+mn-ea"/>
                <a:cs typeface="Times New Roman" panose="02020603050405020304" pitchFamily="18" charset="0"/>
              </a:rPr>
              <a:t>，是指</a:t>
            </a:r>
            <a:r>
              <a:rPr lang="zh-CN" altLang="en-US" sz="1600" kern="100" dirty="0">
                <a:solidFill>
                  <a:srgbClr val="FF0000"/>
                </a:solidFill>
                <a:latin typeface="+mn-ea"/>
                <a:cs typeface="Times New Roman" panose="02020603050405020304" pitchFamily="18" charset="0"/>
              </a:rPr>
              <a:t>再生纸浆纤维形态参数</a:t>
            </a:r>
            <a:r>
              <a:rPr lang="zh-CN" altLang="en-US" sz="1600" kern="100" dirty="0">
                <a:solidFill>
                  <a:schemeClr val="tx1"/>
                </a:solidFill>
                <a:latin typeface="+mn-ea"/>
                <a:cs typeface="Times New Roman" panose="02020603050405020304" pitchFamily="18" charset="0"/>
              </a:rPr>
              <a:t>与</a:t>
            </a:r>
            <a:r>
              <a:rPr lang="zh-CN" altLang="en-US" sz="1600" kern="100" dirty="0">
                <a:solidFill>
                  <a:srgbClr val="FF0000"/>
                </a:solidFill>
                <a:latin typeface="+mn-ea"/>
                <a:cs typeface="Times New Roman" panose="02020603050405020304" pitchFamily="18" charset="0"/>
              </a:rPr>
              <a:t>物理强度预测值协同满足后续生产所得纸张性能需求的能力</a:t>
            </a:r>
            <a:r>
              <a:rPr lang="zh-CN" altLang="en-US" sz="1600" kern="100" dirty="0">
                <a:solidFill>
                  <a:srgbClr val="000000"/>
                </a:solidFill>
                <a:latin typeface="+mn-ea"/>
                <a:cs typeface="Times New Roman" panose="02020603050405020304" pitchFamily="18" charset="0"/>
              </a:rPr>
              <a:t>。该指标通过量化纤维动态劣化程度与纸张物理强度的耦合效应，突破传统质量评价中</a:t>
            </a:r>
            <a:r>
              <a:rPr lang="en-US" altLang="zh-CN" sz="1600" kern="100" dirty="0">
                <a:solidFill>
                  <a:srgbClr val="000000"/>
                </a:solidFill>
                <a:latin typeface="+mn-ea"/>
                <a:cs typeface="Times New Roman" panose="02020603050405020304" pitchFamily="18" charset="0"/>
              </a:rPr>
              <a:t>“</a:t>
            </a:r>
            <a:r>
              <a:rPr lang="zh-CN" altLang="en-US" sz="1600" kern="100" dirty="0">
                <a:solidFill>
                  <a:srgbClr val="000000"/>
                </a:solidFill>
                <a:latin typeface="+mn-ea"/>
                <a:cs typeface="Times New Roman" panose="02020603050405020304" pitchFamily="18" charset="0"/>
              </a:rPr>
              <a:t>纤维</a:t>
            </a:r>
            <a:r>
              <a:rPr lang="en-US" altLang="zh-CN" sz="1600" kern="100" dirty="0">
                <a:solidFill>
                  <a:srgbClr val="000000"/>
                </a:solidFill>
                <a:latin typeface="+mn-ea"/>
                <a:cs typeface="Times New Roman" panose="02020603050405020304" pitchFamily="18" charset="0"/>
              </a:rPr>
              <a:t>-</a:t>
            </a:r>
            <a:r>
              <a:rPr lang="zh-CN" altLang="en-US" sz="1600" kern="100" dirty="0">
                <a:solidFill>
                  <a:srgbClr val="000000"/>
                </a:solidFill>
                <a:latin typeface="+mn-ea"/>
                <a:cs typeface="Times New Roman" panose="02020603050405020304" pitchFamily="18" charset="0"/>
              </a:rPr>
              <a:t>强度</a:t>
            </a:r>
            <a:r>
              <a:rPr lang="en-US" altLang="zh-CN" sz="1600" kern="100" dirty="0">
                <a:solidFill>
                  <a:srgbClr val="000000"/>
                </a:solidFill>
                <a:latin typeface="+mn-ea"/>
                <a:cs typeface="Times New Roman" panose="02020603050405020304" pitchFamily="18" charset="0"/>
              </a:rPr>
              <a:t>”</a:t>
            </a:r>
            <a:r>
              <a:rPr lang="zh-CN" altLang="en-US" sz="1600" kern="100" dirty="0">
                <a:solidFill>
                  <a:srgbClr val="000000"/>
                </a:solidFill>
                <a:latin typeface="+mn-ea"/>
                <a:cs typeface="Times New Roman" panose="02020603050405020304" pitchFamily="18" charset="0"/>
              </a:rPr>
              <a:t>关联割裂的局限性，为再生纸浆分级回用与工艺适配提供科学依据。</a:t>
            </a:r>
            <a:endParaRPr lang="zh-CN" altLang="en-US" sz="1600" kern="100" dirty="0">
              <a:solidFill>
                <a:srgbClr val="000000"/>
              </a:solidFill>
              <a:latin typeface="+mn-ea"/>
              <a:cs typeface="Times New Roman" panose="02020603050405020304" pitchFamily="18" charset="0"/>
            </a:endParaRPr>
          </a:p>
          <a:p>
            <a:pPr indent="127000" algn="just">
              <a:lnSpc>
                <a:spcPct val="200000"/>
              </a:lnSpc>
            </a:pPr>
            <a:r>
              <a:rPr lang="zh-CN" altLang="en-US" sz="1600" kern="100" dirty="0">
                <a:solidFill>
                  <a:srgbClr val="000000"/>
                </a:solidFill>
                <a:latin typeface="+mn-ea"/>
                <a:cs typeface="Times New Roman" panose="02020603050405020304" pitchFamily="18" charset="0"/>
              </a:rPr>
              <a:t>再生纸浆再利用适用度由</a:t>
            </a:r>
            <a:r>
              <a:rPr lang="en-US" altLang="zh-CN" sz="1600" kern="100" dirty="0">
                <a:solidFill>
                  <a:srgbClr val="FF0000"/>
                </a:solidFill>
                <a:latin typeface="+mn-ea"/>
                <a:cs typeface="Times New Roman" panose="02020603050405020304" pitchFamily="18" charset="0"/>
              </a:rPr>
              <a:t>15</a:t>
            </a:r>
            <a:r>
              <a:rPr lang="zh-CN" altLang="en-US" sz="1600" kern="100" dirty="0">
                <a:solidFill>
                  <a:srgbClr val="FF0000"/>
                </a:solidFill>
                <a:latin typeface="+mn-ea"/>
                <a:cs typeface="Times New Roman" panose="02020603050405020304" pitchFamily="18" charset="0"/>
              </a:rPr>
              <a:t>项纤维形态参数和</a:t>
            </a:r>
            <a:r>
              <a:rPr lang="en-US" altLang="zh-CN" sz="1600" kern="100" dirty="0">
                <a:solidFill>
                  <a:srgbClr val="FF0000"/>
                </a:solidFill>
                <a:latin typeface="+mn-ea"/>
                <a:cs typeface="Times New Roman" panose="02020603050405020304" pitchFamily="18" charset="0"/>
              </a:rPr>
              <a:t>3</a:t>
            </a:r>
            <a:r>
              <a:rPr lang="zh-CN" altLang="en-US" sz="1600" kern="100" dirty="0">
                <a:solidFill>
                  <a:srgbClr val="FF0000"/>
                </a:solidFill>
                <a:latin typeface="+mn-ea"/>
                <a:cs typeface="Times New Roman" panose="02020603050405020304" pitchFamily="18" charset="0"/>
              </a:rPr>
              <a:t>项物理强度差值</a:t>
            </a:r>
            <a:r>
              <a:rPr lang="zh-CN" altLang="en-US" sz="1600" kern="100" dirty="0">
                <a:solidFill>
                  <a:srgbClr val="000000"/>
                </a:solidFill>
                <a:latin typeface="+mn-ea"/>
                <a:cs typeface="Times New Roman" panose="02020603050405020304" pitchFamily="18" charset="0"/>
              </a:rPr>
              <a:t>（物理强度预测值</a:t>
            </a:r>
            <a:r>
              <a:rPr lang="en-US" altLang="zh-CN" sz="1600" kern="100" dirty="0">
                <a:solidFill>
                  <a:srgbClr val="000000"/>
                </a:solidFill>
                <a:latin typeface="+mn-ea"/>
                <a:cs typeface="Times New Roman" panose="02020603050405020304" pitchFamily="18" charset="0"/>
              </a:rPr>
              <a:t>-</a:t>
            </a:r>
            <a:r>
              <a:rPr lang="zh-CN" altLang="en-US" sz="1600" kern="100" dirty="0">
                <a:solidFill>
                  <a:srgbClr val="000000"/>
                </a:solidFill>
                <a:latin typeface="+mn-ea"/>
                <a:cs typeface="Times New Roman" panose="02020603050405020304" pitchFamily="18" charset="0"/>
              </a:rPr>
              <a:t>国标值）和其对应权重乘积而得：</a:t>
            </a:r>
            <a:endParaRPr lang="zh-CN" altLang="en-US" sz="1600" kern="100" dirty="0">
              <a:solidFill>
                <a:srgbClr val="000000"/>
              </a:solidFill>
              <a:latin typeface="+mn-ea"/>
              <a:cs typeface="Times New Roman" panose="02020603050405020304" pitchFamily="18" charset="0"/>
            </a:endParaRPr>
          </a:p>
        </p:txBody>
      </p:sp>
      <p:graphicFrame>
        <p:nvGraphicFramePr>
          <p:cNvPr id="2" name="对象 -2147482555"/>
          <p:cNvGraphicFramePr>
            <a:graphicFrameLocks noChangeAspect="1"/>
          </p:cNvGraphicFramePr>
          <p:nvPr/>
        </p:nvGraphicFramePr>
        <p:xfrm>
          <a:off x="3413760" y="865505"/>
          <a:ext cx="979805" cy="266700"/>
        </p:xfrm>
        <a:graphic>
          <a:graphicData uri="http://schemas.openxmlformats.org/presentationml/2006/ole">
            <mc:AlternateContent xmlns:mc="http://schemas.openxmlformats.org/markup-compatibility/2006">
              <mc:Choice xmlns:v="urn:schemas-microsoft-com:vml" Requires="v">
                <p:oleObj spid="_x0000_s3076" name="" r:id="rId1" imgW="749300" imgH="203200" progId="Equation.KSEE3">
                  <p:embed/>
                </p:oleObj>
              </mc:Choice>
              <mc:Fallback>
                <p:oleObj name="" r:id="rId1" imgW="749300" imgH="203200" progId="Equation.KSEE3">
                  <p:embed/>
                  <p:pic>
                    <p:nvPicPr>
                      <p:cNvPr id="0" name="图片 3075"/>
                      <p:cNvPicPr/>
                      <p:nvPr/>
                    </p:nvPicPr>
                    <p:blipFill>
                      <a:blip r:embed="rId2"/>
                      <a:stretch>
                        <a:fillRect/>
                      </a:stretch>
                    </p:blipFill>
                    <p:spPr>
                      <a:xfrm>
                        <a:off x="3413760" y="865505"/>
                        <a:ext cx="979805" cy="266700"/>
                      </a:xfrm>
                      <a:prstGeom prst="rect">
                        <a:avLst/>
                      </a:prstGeom>
                      <a:noFill/>
                      <a:ln w="38100">
                        <a:noFill/>
                        <a:miter/>
                      </a:ln>
                    </p:spPr>
                  </p:pic>
                </p:oleObj>
              </mc:Fallback>
            </mc:AlternateContent>
          </a:graphicData>
        </a:graphic>
      </p:graphicFrame>
      <p:graphicFrame>
        <p:nvGraphicFramePr>
          <p:cNvPr id="3" name="对象 -2147482554"/>
          <p:cNvGraphicFramePr>
            <a:graphicFrameLocks noChangeAspect="1"/>
          </p:cNvGraphicFramePr>
          <p:nvPr/>
        </p:nvGraphicFramePr>
        <p:xfrm>
          <a:off x="1280795" y="2910205"/>
          <a:ext cx="7706360" cy="1040130"/>
        </p:xfrm>
        <a:graphic>
          <a:graphicData uri="http://schemas.openxmlformats.org/presentationml/2006/ole">
            <mc:AlternateContent xmlns:mc="http://schemas.openxmlformats.org/markup-compatibility/2006">
              <mc:Choice xmlns:v="urn:schemas-microsoft-com:vml" Requires="v">
                <p:oleObj spid="_x0000_s5" name="" r:id="rId3" imgW="3568700" imgH="482600" progId="Equation.KSEE3">
                  <p:embed/>
                </p:oleObj>
              </mc:Choice>
              <mc:Fallback>
                <p:oleObj name="" r:id="rId3" imgW="3568700" imgH="482600" progId="Equation.KSEE3">
                  <p:embed/>
                  <p:pic>
                    <p:nvPicPr>
                      <p:cNvPr id="0" name="图片 4"/>
                      <p:cNvPicPr/>
                      <p:nvPr/>
                    </p:nvPicPr>
                    <p:blipFill>
                      <a:blip r:embed="rId4"/>
                      <a:stretch>
                        <a:fillRect/>
                      </a:stretch>
                    </p:blipFill>
                    <p:spPr>
                      <a:xfrm>
                        <a:off x="1280795" y="2910205"/>
                        <a:ext cx="7706360" cy="1040130"/>
                      </a:xfrm>
                      <a:prstGeom prst="rect">
                        <a:avLst/>
                      </a:prstGeom>
                      <a:noFill/>
                      <a:ln w="38100">
                        <a:noFill/>
                        <a:miter/>
                      </a:ln>
                    </p:spPr>
                  </p:pic>
                </p:oleObj>
              </mc:Fallback>
            </mc:AlternateContent>
          </a:graphicData>
        </a:graphic>
      </p:graphicFrame>
      <p:sp>
        <p:nvSpPr>
          <p:cNvPr id="4" name="灯片编号占位符 3"/>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7" name="文本框 6"/>
          <p:cNvSpPr txBox="1"/>
          <p:nvPr/>
        </p:nvSpPr>
        <p:spPr>
          <a:xfrm>
            <a:off x="671195" y="4102735"/>
            <a:ext cx="10949940" cy="1322070"/>
          </a:xfrm>
          <a:prstGeom prst="rect">
            <a:avLst/>
          </a:prstGeom>
          <a:noFill/>
        </p:spPr>
        <p:txBody>
          <a:bodyPr wrap="square" rtlCol="0" anchor="t">
            <a:spAutoFit/>
          </a:bodyPr>
          <a:p>
            <a:r>
              <a:rPr lang="zh-CN" altLang="en-US" sz="1600" kern="100" dirty="0">
                <a:solidFill>
                  <a:srgbClr val="000000"/>
                </a:solidFill>
                <a:latin typeface="+mn-ea"/>
                <a:cs typeface="Times New Roman" panose="02020603050405020304" pitchFamily="18" charset="0"/>
                <a:sym typeface="+mn-ea"/>
              </a:rPr>
              <a:t>其中：</a:t>
            </a:r>
            <a:r>
              <a:rPr lang="en-US" altLang="zh-CN" sz="1600" kern="100" dirty="0">
                <a:solidFill>
                  <a:srgbClr val="000000"/>
                </a:solidFill>
                <a:latin typeface="+mn-ea"/>
                <a:cs typeface="Times New Roman" panose="02020603050405020304" pitchFamily="18" charset="0"/>
                <a:sym typeface="+mn-ea"/>
              </a:rPr>
              <a:t>      </a:t>
            </a:r>
            <a:r>
              <a:rPr lang="zh-CN" altLang="en-US" sz="1600" kern="100" dirty="0">
                <a:solidFill>
                  <a:srgbClr val="000000"/>
                </a:solidFill>
                <a:latin typeface="+mn-ea"/>
                <a:cs typeface="Times New Roman" panose="02020603050405020304" pitchFamily="18" charset="0"/>
                <a:sym typeface="+mn-ea"/>
              </a:rPr>
              <a:t>是经皮尔逊相关度筛选得到的</a:t>
            </a:r>
            <a:r>
              <a:rPr lang="en-US" altLang="zh-CN" sz="1600" kern="100" dirty="0">
                <a:solidFill>
                  <a:srgbClr val="000000"/>
                </a:solidFill>
                <a:latin typeface="+mn-ea"/>
                <a:cs typeface="Times New Roman" panose="02020603050405020304" pitchFamily="18" charset="0"/>
                <a:sym typeface="+mn-ea"/>
              </a:rPr>
              <a:t>15</a:t>
            </a:r>
            <a:r>
              <a:rPr lang="zh-CN" altLang="en-US" sz="1600" kern="100" dirty="0">
                <a:solidFill>
                  <a:srgbClr val="000000"/>
                </a:solidFill>
                <a:latin typeface="+mn-ea"/>
                <a:cs typeface="Times New Roman" panose="02020603050405020304" pitchFamily="18" charset="0"/>
                <a:sym typeface="+mn-ea"/>
              </a:rPr>
              <a:t>项</a:t>
            </a:r>
            <a:r>
              <a:rPr lang="zh-CN" altLang="en-US" sz="1600" kern="100" dirty="0">
                <a:solidFill>
                  <a:srgbClr val="000000"/>
                </a:solidFill>
                <a:latin typeface="+mn-ea"/>
                <a:cs typeface="Times New Roman" panose="02020603050405020304" pitchFamily="18" charset="0"/>
                <a:sym typeface="+mn-ea"/>
              </a:rPr>
              <a:t>纤维形态参数；</a:t>
            </a:r>
            <a:endParaRPr lang="zh-CN" altLang="en-US" sz="1600" kern="100" dirty="0">
              <a:solidFill>
                <a:srgbClr val="000000"/>
              </a:solidFill>
              <a:latin typeface="+mn-ea"/>
              <a:cs typeface="Times New Roman" panose="02020603050405020304" pitchFamily="18" charset="0"/>
              <a:sym typeface="+mn-ea"/>
            </a:endParaRPr>
          </a:p>
          <a:p>
            <a:r>
              <a:rPr lang="en-US" altLang="zh-CN" sz="1600" kern="100" dirty="0">
                <a:solidFill>
                  <a:srgbClr val="000000"/>
                </a:solidFill>
                <a:latin typeface="+mn-ea"/>
                <a:cs typeface="Times New Roman" panose="02020603050405020304" pitchFamily="18" charset="0"/>
                <a:sym typeface="+mn-ea"/>
              </a:rPr>
              <a:t>                </a:t>
            </a:r>
            <a:endParaRPr lang="en-US" altLang="zh-CN" sz="1600" kern="100" dirty="0">
              <a:solidFill>
                <a:srgbClr val="000000"/>
              </a:solidFill>
              <a:latin typeface="+mn-ea"/>
              <a:cs typeface="Times New Roman" panose="02020603050405020304" pitchFamily="18" charset="0"/>
              <a:sym typeface="+mn-ea"/>
            </a:endParaRPr>
          </a:p>
          <a:p>
            <a:r>
              <a:rPr lang="en-US" altLang="zh-CN" sz="1600" kern="100" dirty="0">
                <a:solidFill>
                  <a:srgbClr val="000000"/>
                </a:solidFill>
                <a:latin typeface="+mn-ea"/>
                <a:cs typeface="Times New Roman" panose="02020603050405020304" pitchFamily="18" charset="0"/>
                <a:sym typeface="+mn-ea"/>
              </a:rPr>
              <a:t>                </a:t>
            </a:r>
            <a:r>
              <a:rPr lang="zh-CN" altLang="en-US" sz="1600" kern="100" dirty="0">
                <a:solidFill>
                  <a:srgbClr val="000000"/>
                </a:solidFill>
                <a:latin typeface="+mn-ea"/>
                <a:cs typeface="Times New Roman" panose="02020603050405020304" pitchFamily="18" charset="0"/>
                <a:sym typeface="+mn-ea"/>
              </a:rPr>
              <a:t>是</a:t>
            </a:r>
            <a:r>
              <a:rPr lang="en-US" altLang="zh-CN" sz="1600" kern="100" dirty="0">
                <a:solidFill>
                  <a:srgbClr val="000000"/>
                </a:solidFill>
                <a:latin typeface="+mn-ea"/>
                <a:cs typeface="Times New Roman" panose="02020603050405020304" pitchFamily="18" charset="0"/>
                <a:sym typeface="+mn-ea"/>
              </a:rPr>
              <a:t>3</a:t>
            </a:r>
            <a:r>
              <a:rPr lang="zh-CN" altLang="en-US" sz="1600" kern="100" dirty="0">
                <a:solidFill>
                  <a:srgbClr val="000000"/>
                </a:solidFill>
                <a:latin typeface="+mn-ea"/>
                <a:cs typeface="Times New Roman" panose="02020603050405020304" pitchFamily="18" charset="0"/>
                <a:sym typeface="+mn-ea"/>
              </a:rPr>
              <a:t>项物理强度差值，由物理强度预测值</a:t>
            </a:r>
            <a:r>
              <a:rPr lang="en-US" altLang="zh-CN" sz="1600" kern="100" dirty="0">
                <a:solidFill>
                  <a:srgbClr val="000000"/>
                </a:solidFill>
                <a:latin typeface="+mn-ea"/>
                <a:cs typeface="Times New Roman" panose="02020603050405020304" pitchFamily="18" charset="0"/>
                <a:sym typeface="+mn-ea"/>
              </a:rPr>
              <a:t>-</a:t>
            </a:r>
            <a:r>
              <a:rPr lang="zh-CN" altLang="en-US" sz="1600" kern="100" dirty="0">
                <a:solidFill>
                  <a:srgbClr val="000000"/>
                </a:solidFill>
                <a:latin typeface="+mn-ea"/>
                <a:cs typeface="Times New Roman" panose="02020603050405020304" pitchFamily="18" charset="0"/>
                <a:sym typeface="+mn-ea"/>
              </a:rPr>
              <a:t>现行国标《</a:t>
            </a:r>
            <a:r>
              <a:rPr lang="en-US" altLang="zh-CN" sz="1600" kern="100" dirty="0">
                <a:solidFill>
                  <a:srgbClr val="000000"/>
                </a:solidFill>
                <a:latin typeface="+mn-ea"/>
                <a:cs typeface="Times New Roman" panose="02020603050405020304" pitchFamily="18" charset="0"/>
                <a:sym typeface="+mn-ea"/>
              </a:rPr>
              <a:t>GB/T 43393 - 2023 </a:t>
            </a:r>
            <a:r>
              <a:rPr lang="zh-CN" altLang="en-US" sz="1600" kern="100" dirty="0">
                <a:solidFill>
                  <a:srgbClr val="000000"/>
                </a:solidFill>
                <a:latin typeface="+mn-ea"/>
                <a:cs typeface="Times New Roman" panose="02020603050405020304" pitchFamily="18" charset="0"/>
                <a:sym typeface="+mn-ea"/>
              </a:rPr>
              <a:t>再生纸浆》中的物理强度指标值；</a:t>
            </a:r>
            <a:endParaRPr lang="zh-CN" altLang="en-US" sz="1600" kern="100" dirty="0">
              <a:solidFill>
                <a:srgbClr val="000000"/>
              </a:solidFill>
              <a:latin typeface="+mn-ea"/>
              <a:cs typeface="Times New Roman" panose="02020603050405020304" pitchFamily="18" charset="0"/>
              <a:sym typeface="+mn-ea"/>
            </a:endParaRPr>
          </a:p>
          <a:p>
            <a:endParaRPr lang="zh-CN" altLang="en-US" sz="1600" kern="100" dirty="0">
              <a:solidFill>
                <a:srgbClr val="000000"/>
              </a:solidFill>
              <a:latin typeface="+mn-ea"/>
              <a:cs typeface="Times New Roman" panose="02020603050405020304" pitchFamily="18" charset="0"/>
              <a:sym typeface="+mn-ea"/>
            </a:endParaRPr>
          </a:p>
          <a:p>
            <a:r>
              <a:rPr lang="en-US" altLang="zh-CN" sz="1600" kern="100" dirty="0">
                <a:solidFill>
                  <a:srgbClr val="000000"/>
                </a:solidFill>
                <a:latin typeface="+mn-ea"/>
                <a:cs typeface="Times New Roman" panose="02020603050405020304" pitchFamily="18" charset="0"/>
                <a:sym typeface="+mn-ea"/>
              </a:rPr>
              <a:t>                 </a:t>
            </a:r>
            <a:r>
              <a:rPr lang="zh-CN" altLang="en-US" sz="1600" kern="100" dirty="0">
                <a:solidFill>
                  <a:srgbClr val="000000"/>
                </a:solidFill>
                <a:latin typeface="+mn-ea"/>
                <a:cs typeface="Times New Roman" panose="02020603050405020304" pitchFamily="18" charset="0"/>
                <a:sym typeface="+mn-ea"/>
              </a:rPr>
              <a:t>是</a:t>
            </a:r>
            <a:r>
              <a:rPr lang="en-US" altLang="zh-CN" sz="1600" kern="100" dirty="0">
                <a:solidFill>
                  <a:srgbClr val="000000"/>
                </a:solidFill>
                <a:latin typeface="+mn-ea"/>
                <a:cs typeface="Times New Roman" panose="02020603050405020304" pitchFamily="18" charset="0"/>
                <a:sym typeface="+mn-ea"/>
              </a:rPr>
              <a:t>      </a:t>
            </a:r>
            <a:r>
              <a:rPr lang="zh-CN" altLang="en-US" sz="1600" kern="100" dirty="0">
                <a:solidFill>
                  <a:srgbClr val="000000"/>
                </a:solidFill>
                <a:latin typeface="+mn-ea"/>
                <a:cs typeface="Times New Roman" panose="02020603050405020304" pitchFamily="18" charset="0"/>
                <a:sym typeface="+mn-ea"/>
              </a:rPr>
              <a:t>、</a:t>
            </a:r>
            <a:r>
              <a:rPr lang="en-US" altLang="zh-CN" sz="1600" kern="100" dirty="0">
                <a:solidFill>
                  <a:srgbClr val="000000"/>
                </a:solidFill>
                <a:latin typeface="+mn-ea"/>
                <a:cs typeface="Times New Roman" panose="02020603050405020304" pitchFamily="18" charset="0"/>
                <a:sym typeface="+mn-ea"/>
              </a:rPr>
              <a:t>      </a:t>
            </a:r>
            <a:r>
              <a:rPr lang="zh-CN" altLang="en-US" sz="1600" kern="100" dirty="0">
                <a:solidFill>
                  <a:srgbClr val="000000"/>
                </a:solidFill>
                <a:latin typeface="+mn-ea"/>
                <a:cs typeface="Times New Roman" panose="02020603050405020304" pitchFamily="18" charset="0"/>
                <a:sym typeface="+mn-ea"/>
              </a:rPr>
              <a:t>对应的</a:t>
            </a:r>
            <a:r>
              <a:rPr lang="zh-CN" altLang="en-US" sz="1600" kern="100" dirty="0">
                <a:solidFill>
                  <a:srgbClr val="000000"/>
                </a:solidFill>
                <a:latin typeface="+mn-ea"/>
                <a:cs typeface="Times New Roman" panose="02020603050405020304" pitchFamily="18" charset="0"/>
                <a:sym typeface="+mn-ea"/>
              </a:rPr>
              <a:t>权重。</a:t>
            </a:r>
            <a:endParaRPr lang="zh-CN" altLang="en-US" sz="1600" kern="100" dirty="0">
              <a:solidFill>
                <a:srgbClr val="000000"/>
              </a:solidFill>
              <a:latin typeface="+mn-ea"/>
              <a:cs typeface="Times New Roman" panose="02020603050405020304" pitchFamily="18" charset="0"/>
              <a:sym typeface="+mn-ea"/>
            </a:endParaRPr>
          </a:p>
        </p:txBody>
      </p:sp>
      <p:graphicFrame>
        <p:nvGraphicFramePr>
          <p:cNvPr id="9" name="对象 8">
            <a:hlinkClick r:id="" action="ppaction://ole?verb="/>
          </p:cNvPr>
          <p:cNvGraphicFramePr>
            <a:graphicFrameLocks noChangeAspect="1"/>
          </p:cNvGraphicFramePr>
          <p:nvPr/>
        </p:nvGraphicFramePr>
        <p:xfrm>
          <a:off x="1373505" y="4042410"/>
          <a:ext cx="304800" cy="457200"/>
        </p:xfrm>
        <a:graphic>
          <a:graphicData uri="http://schemas.openxmlformats.org/presentationml/2006/ole">
            <mc:AlternateContent xmlns:mc="http://schemas.openxmlformats.org/markup-compatibility/2006">
              <mc:Choice xmlns:v="urn:schemas-microsoft-com:vml" Requires="v">
                <p:oleObj spid="_x0000_s1025" name="" r:id="rId5" imgW="152400" imgH="228600" progId="Equation.KSEE3">
                  <p:embed/>
                </p:oleObj>
              </mc:Choice>
              <mc:Fallback>
                <p:oleObj name="" r:id="rId5" imgW="152400" imgH="228600" progId="Equation.KSEE3">
                  <p:embed/>
                  <p:pic>
                    <p:nvPicPr>
                      <p:cNvPr id="0" name="图片 1024"/>
                      <p:cNvPicPr/>
                      <p:nvPr/>
                    </p:nvPicPr>
                    <p:blipFill>
                      <a:blip r:embed="rId6"/>
                      <a:stretch>
                        <a:fillRect/>
                      </a:stretch>
                    </p:blipFill>
                    <p:spPr>
                      <a:xfrm>
                        <a:off x="1373505" y="4042410"/>
                        <a:ext cx="304800" cy="45720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1373505" y="4499610"/>
          <a:ext cx="300990" cy="417830"/>
        </p:xfrm>
        <a:graphic>
          <a:graphicData uri="http://schemas.openxmlformats.org/presentationml/2006/ole">
            <mc:AlternateContent xmlns:mc="http://schemas.openxmlformats.org/markup-compatibility/2006">
              <mc:Choice xmlns:v="urn:schemas-microsoft-com:vml" Requires="v">
                <p:oleObj spid="_x0000_s1027" name="" r:id="rId7" imgW="165100" imgH="228600" progId="Equation.KSEE3">
                  <p:embed/>
                </p:oleObj>
              </mc:Choice>
              <mc:Fallback>
                <p:oleObj name="" r:id="rId7" imgW="165100" imgH="228600" progId="Equation.KSEE3">
                  <p:embed/>
                  <p:pic>
                    <p:nvPicPr>
                      <p:cNvPr id="0" name="图片 1026"/>
                      <p:cNvPicPr/>
                      <p:nvPr/>
                    </p:nvPicPr>
                    <p:blipFill>
                      <a:blip r:embed="rId8"/>
                      <a:stretch>
                        <a:fillRect/>
                      </a:stretch>
                    </p:blipFill>
                    <p:spPr>
                      <a:xfrm>
                        <a:off x="1373505" y="4499610"/>
                        <a:ext cx="300990" cy="417830"/>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1373505" y="5045075"/>
          <a:ext cx="304800" cy="365760"/>
        </p:xfrm>
        <a:graphic>
          <a:graphicData uri="http://schemas.openxmlformats.org/presentationml/2006/ole">
            <mc:AlternateContent xmlns:mc="http://schemas.openxmlformats.org/markup-compatibility/2006">
              <mc:Choice xmlns:v="urn:schemas-microsoft-com:vml" Requires="v">
                <p:oleObj spid="_x0000_s1028" name="" r:id="rId9" imgW="190500" imgH="228600" progId="Equation.KSEE3">
                  <p:embed/>
                </p:oleObj>
              </mc:Choice>
              <mc:Fallback>
                <p:oleObj name="" r:id="rId9" imgW="190500" imgH="228600" progId="Equation.KSEE3">
                  <p:embed/>
                  <p:pic>
                    <p:nvPicPr>
                      <p:cNvPr id="0" name="图片 1027"/>
                      <p:cNvPicPr/>
                      <p:nvPr/>
                    </p:nvPicPr>
                    <p:blipFill>
                      <a:blip r:embed="rId10"/>
                      <a:stretch>
                        <a:fillRect/>
                      </a:stretch>
                    </p:blipFill>
                    <p:spPr>
                      <a:xfrm>
                        <a:off x="1373505" y="5045075"/>
                        <a:ext cx="304800" cy="36576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2032635" y="4999355"/>
          <a:ext cx="304800" cy="457200"/>
        </p:xfrm>
        <a:graphic>
          <a:graphicData uri="http://schemas.openxmlformats.org/presentationml/2006/ole">
            <mc:AlternateContent xmlns:mc="http://schemas.openxmlformats.org/markup-compatibility/2006">
              <mc:Choice xmlns:v="urn:schemas-microsoft-com:vml" Requires="v">
                <p:oleObj spid="_x0000_s10" name="" r:id="rId11" imgW="152400" imgH="228600" progId="Equation.KSEE3">
                  <p:embed/>
                </p:oleObj>
              </mc:Choice>
              <mc:Fallback>
                <p:oleObj name="" r:id="rId11" imgW="152400" imgH="228600" progId="Equation.KSEE3">
                  <p:embed/>
                  <p:pic>
                    <p:nvPicPr>
                      <p:cNvPr id="0" name="图片 1024"/>
                      <p:cNvPicPr/>
                      <p:nvPr/>
                    </p:nvPicPr>
                    <p:blipFill>
                      <a:blip r:embed="rId6"/>
                      <a:stretch>
                        <a:fillRect/>
                      </a:stretch>
                    </p:blipFill>
                    <p:spPr>
                      <a:xfrm>
                        <a:off x="2032635" y="4999355"/>
                        <a:ext cx="304800" cy="45720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2568575" y="4993005"/>
          <a:ext cx="300990" cy="417830"/>
        </p:xfrm>
        <a:graphic>
          <a:graphicData uri="http://schemas.openxmlformats.org/presentationml/2006/ole">
            <mc:AlternateContent xmlns:mc="http://schemas.openxmlformats.org/markup-compatibility/2006">
              <mc:Choice xmlns:v="urn:schemas-microsoft-com:vml" Requires="v">
                <p:oleObj spid="_x0000_s16" name="" r:id="rId12" imgW="165100" imgH="228600" progId="Equation.KSEE3">
                  <p:embed/>
                </p:oleObj>
              </mc:Choice>
              <mc:Fallback>
                <p:oleObj name="" r:id="rId12" imgW="165100" imgH="228600" progId="Equation.KSEE3">
                  <p:embed/>
                  <p:pic>
                    <p:nvPicPr>
                      <p:cNvPr id="0" name="图片 1026"/>
                      <p:cNvPicPr/>
                      <p:nvPr/>
                    </p:nvPicPr>
                    <p:blipFill>
                      <a:blip r:embed="rId8"/>
                      <a:stretch>
                        <a:fillRect/>
                      </a:stretch>
                    </p:blipFill>
                    <p:spPr>
                      <a:xfrm>
                        <a:off x="2568575" y="4993005"/>
                        <a:ext cx="300990" cy="41783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326738" y="-5843"/>
            <a:ext cx="8660508" cy="82994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4.3 </a:t>
            </a:r>
            <a:r>
              <a:rPr lang="zh-CN" altLang="en-US" sz="2400" b="1" dirty="0">
                <a:solidFill>
                  <a:schemeClr val="tx1">
                    <a:lumMod val="65000"/>
                    <a:lumOff val="35000"/>
                  </a:schemeClr>
                </a:solidFill>
                <a:latin typeface="+mn-ea"/>
                <a:sym typeface="+mn-ea"/>
              </a:rPr>
              <a:t>再生纸浆再利用适用度混合法评价体系构建</a:t>
            </a:r>
            <a:endParaRPr lang="zh-CN" altLang="en-US" sz="2400" b="1" dirty="0">
              <a:solidFill>
                <a:schemeClr val="tx1">
                  <a:lumMod val="65000"/>
                  <a:lumOff val="35000"/>
                </a:schemeClr>
              </a:solidFill>
              <a:latin typeface="+mn-ea"/>
            </a:endParaRPr>
          </a:p>
          <a:p>
            <a:endParaRPr lang="en-US" altLang="zh-CN" sz="2400" b="1" dirty="0">
              <a:solidFill>
                <a:schemeClr val="tx1">
                  <a:lumMod val="65000"/>
                  <a:lumOff val="35000"/>
                </a:schemeClr>
              </a:solidFill>
              <a:latin typeface="+mn-ea"/>
            </a:endParaRPr>
          </a:p>
        </p:txBody>
      </p:sp>
      <p:sp>
        <p:nvSpPr>
          <p:cNvPr id="2" name="灯片编号占位符 1"/>
          <p:cNvSpPr>
            <a:spLocks noGrp="1"/>
          </p:cNvSpPr>
          <p:nvPr>
            <p:ph type="sldNum" sz="quarter" idx="12"/>
          </p:nvPr>
        </p:nvSpPr>
        <p:spPr>
          <a:xfrm>
            <a:off x="10712740" y="6372225"/>
            <a:ext cx="603737"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pic>
        <p:nvPicPr>
          <p:cNvPr id="3" name="图片 2"/>
          <p:cNvPicPr/>
          <p:nvPr/>
        </p:nvPicPr>
        <p:blipFill>
          <a:blip r:embed="rId1"/>
          <a:stretch>
            <a:fillRect/>
          </a:stretch>
        </p:blipFill>
        <p:spPr>
          <a:xfrm>
            <a:off x="8075930" y="518795"/>
            <a:ext cx="2894330" cy="937260"/>
          </a:xfrm>
          <a:prstGeom prst="rect">
            <a:avLst/>
          </a:prstGeom>
        </p:spPr>
      </p:pic>
      <p:graphicFrame>
        <p:nvGraphicFramePr>
          <p:cNvPr id="5" name="对象 -2147482619"/>
          <p:cNvGraphicFramePr>
            <a:graphicFrameLocks noChangeAspect="1"/>
          </p:cNvGraphicFramePr>
          <p:nvPr/>
        </p:nvGraphicFramePr>
        <p:xfrm>
          <a:off x="7637145" y="1688465"/>
          <a:ext cx="4241165" cy="848360"/>
        </p:xfrm>
        <a:graphic>
          <a:graphicData uri="http://schemas.openxmlformats.org/presentationml/2006/ole">
            <mc:AlternateContent xmlns:mc="http://schemas.openxmlformats.org/markup-compatibility/2006">
              <mc:Choice xmlns:v="urn:schemas-microsoft-com:vml" Requires="v">
                <p:oleObj spid="_x0000_s3076" name="" r:id="rId2" imgW="2540000" imgH="508000" progId="Equation.KSEE3">
                  <p:embed/>
                </p:oleObj>
              </mc:Choice>
              <mc:Fallback>
                <p:oleObj name="" r:id="rId2" imgW="2540000" imgH="508000" progId="Equation.KSEE3">
                  <p:embed/>
                  <p:pic>
                    <p:nvPicPr>
                      <p:cNvPr id="0" name="图片 3075"/>
                      <p:cNvPicPr/>
                      <p:nvPr/>
                    </p:nvPicPr>
                    <p:blipFill>
                      <a:blip r:embed="rId3"/>
                      <a:stretch>
                        <a:fillRect/>
                      </a:stretch>
                    </p:blipFill>
                    <p:spPr>
                      <a:xfrm>
                        <a:off x="7637145" y="1688465"/>
                        <a:ext cx="4241165" cy="848360"/>
                      </a:xfrm>
                      <a:prstGeom prst="rect">
                        <a:avLst/>
                      </a:prstGeom>
                      <a:noFill/>
                      <a:ln w="38100">
                        <a:noFill/>
                        <a:miter/>
                      </a:ln>
                    </p:spPr>
                  </p:pic>
                </p:oleObj>
              </mc:Fallback>
            </mc:AlternateContent>
          </a:graphicData>
        </a:graphic>
      </p:graphicFrame>
      <p:graphicFrame>
        <p:nvGraphicFramePr>
          <p:cNvPr id="9" name="对象 -2147482610"/>
          <p:cNvGraphicFramePr>
            <a:graphicFrameLocks noChangeAspect="1"/>
          </p:cNvGraphicFramePr>
          <p:nvPr/>
        </p:nvGraphicFramePr>
        <p:xfrm>
          <a:off x="8271193" y="2769235"/>
          <a:ext cx="2394585" cy="878840"/>
        </p:xfrm>
        <a:graphic>
          <a:graphicData uri="http://schemas.openxmlformats.org/presentationml/2006/ole">
            <mc:AlternateContent xmlns:mc="http://schemas.openxmlformats.org/markup-compatibility/2006">
              <mc:Choice xmlns:v="urn:schemas-microsoft-com:vml" Requires="v">
                <p:oleObj spid="_x0000_s13" name="" r:id="rId4" imgW="1384300" imgH="508000" progId="Equation.KSEE3">
                  <p:embed/>
                </p:oleObj>
              </mc:Choice>
              <mc:Fallback>
                <p:oleObj name="" r:id="rId4" imgW="1384300" imgH="508000" progId="Equation.KSEE3">
                  <p:embed/>
                  <p:pic>
                    <p:nvPicPr>
                      <p:cNvPr id="0" name="图片 6"/>
                      <p:cNvPicPr/>
                      <p:nvPr/>
                    </p:nvPicPr>
                    <p:blipFill>
                      <a:blip r:embed="rId5"/>
                      <a:stretch>
                        <a:fillRect/>
                      </a:stretch>
                    </p:blipFill>
                    <p:spPr>
                      <a:xfrm>
                        <a:off x="8271193" y="2769235"/>
                        <a:ext cx="2394585" cy="878840"/>
                      </a:xfrm>
                      <a:prstGeom prst="rect">
                        <a:avLst/>
                      </a:prstGeom>
                      <a:noFill/>
                      <a:ln w="38100">
                        <a:noFill/>
                        <a:miter/>
                      </a:ln>
                    </p:spPr>
                  </p:pic>
                </p:oleObj>
              </mc:Fallback>
            </mc:AlternateContent>
          </a:graphicData>
        </a:graphic>
      </p:graphicFrame>
      <p:sp>
        <p:nvSpPr>
          <p:cNvPr id="15" name="文本框 14"/>
          <p:cNvSpPr txBox="1"/>
          <p:nvPr/>
        </p:nvSpPr>
        <p:spPr>
          <a:xfrm>
            <a:off x="462280" y="1233170"/>
            <a:ext cx="7185025" cy="1568450"/>
          </a:xfrm>
          <a:prstGeom prst="rect">
            <a:avLst/>
          </a:prstGeom>
          <a:noFill/>
        </p:spPr>
        <p:txBody>
          <a:bodyPr wrap="square" rtlCol="0">
            <a:spAutoFit/>
          </a:bodyPr>
          <a:p>
            <a:pPr>
              <a:lnSpc>
                <a:spcPct val="200000"/>
              </a:lnSpc>
            </a:pPr>
            <a:r>
              <a:rPr lang="zh-CN" altLang="en-US" sz="1600">
                <a:latin typeface="+mn-ea"/>
                <a:cs typeface="+mn-ea"/>
                <a:sym typeface="+mn-ea"/>
              </a:rPr>
              <a:t>熵权法（</a:t>
            </a:r>
            <a:r>
              <a:rPr lang="en-US" altLang="zh-CN" sz="1600">
                <a:latin typeface="+mn-ea"/>
                <a:cs typeface="+mn-ea"/>
                <a:sym typeface="+mn-ea"/>
              </a:rPr>
              <a:t>EWM</a:t>
            </a:r>
            <a:r>
              <a:rPr lang="zh-CN" altLang="en-US" sz="1600">
                <a:latin typeface="+mn-ea"/>
                <a:cs typeface="+mn-ea"/>
                <a:sym typeface="+mn-ea"/>
              </a:rPr>
              <a:t>）是一种基于信息熵理论的</a:t>
            </a:r>
            <a:r>
              <a:rPr lang="zh-CN" altLang="en-US" sz="1600">
                <a:solidFill>
                  <a:srgbClr val="FF0000"/>
                </a:solidFill>
                <a:latin typeface="+mn-ea"/>
                <a:cs typeface="+mn-ea"/>
                <a:sym typeface="+mn-ea"/>
              </a:rPr>
              <a:t>客观赋权评价方法</a:t>
            </a:r>
            <a:r>
              <a:rPr lang="zh-CN" altLang="en-US" sz="1600">
                <a:latin typeface="+mn-ea"/>
                <a:cs typeface="+mn-ea"/>
                <a:sym typeface="+mn-ea"/>
              </a:rPr>
              <a:t>，通过数据的离散程度量化参数的权重指标。其核心逻辑是</a:t>
            </a:r>
            <a:r>
              <a:rPr lang="zh-CN" altLang="en-US" sz="1600">
                <a:solidFill>
                  <a:srgbClr val="FF0000"/>
                </a:solidFill>
                <a:latin typeface="+mn-ea"/>
                <a:cs typeface="+mn-ea"/>
                <a:sym typeface="+mn-ea"/>
              </a:rPr>
              <a:t>参数指标数据的变异程度越大，其信息熵就越小，对评分的贡献就越高</a:t>
            </a:r>
            <a:r>
              <a:rPr lang="zh-CN" altLang="en-US" sz="1600">
                <a:latin typeface="+mn-ea"/>
                <a:cs typeface="+mn-ea"/>
                <a:sym typeface="+mn-ea"/>
              </a:rPr>
              <a:t>。</a:t>
            </a:r>
            <a:endParaRPr lang="zh-CN" altLang="en-US" sz="1600">
              <a:latin typeface="+mn-ea"/>
              <a:cs typeface="+mn-ea"/>
              <a:sym typeface="+mn-ea"/>
            </a:endParaRPr>
          </a:p>
        </p:txBody>
      </p:sp>
      <p:sp>
        <p:nvSpPr>
          <p:cNvPr id="17" name="文本框 16"/>
          <p:cNvSpPr txBox="1"/>
          <p:nvPr/>
        </p:nvSpPr>
        <p:spPr>
          <a:xfrm>
            <a:off x="462280" y="757555"/>
            <a:ext cx="3251200" cy="368300"/>
          </a:xfrm>
          <a:prstGeom prst="rect">
            <a:avLst/>
          </a:prstGeom>
          <a:noFill/>
        </p:spPr>
        <p:txBody>
          <a:bodyPr wrap="square" rtlCol="0">
            <a:spAutoFit/>
          </a:bodyPr>
          <a:p>
            <a:r>
              <a:rPr lang="zh-CN" altLang="en-US" b="1"/>
              <a:t>熵权法：</a:t>
            </a:r>
            <a:endParaRPr lang="zh-CN" altLang="en-US" b="1"/>
          </a:p>
        </p:txBody>
      </p:sp>
      <p:sp>
        <p:nvSpPr>
          <p:cNvPr id="18" name="文本框 17"/>
          <p:cNvSpPr txBox="1"/>
          <p:nvPr/>
        </p:nvSpPr>
        <p:spPr>
          <a:xfrm>
            <a:off x="462280" y="3192145"/>
            <a:ext cx="3251200" cy="368300"/>
          </a:xfrm>
          <a:prstGeom prst="rect">
            <a:avLst/>
          </a:prstGeom>
          <a:noFill/>
        </p:spPr>
        <p:txBody>
          <a:bodyPr wrap="square" rtlCol="0">
            <a:spAutoFit/>
          </a:bodyPr>
          <a:p>
            <a:r>
              <a:rPr lang="zh-CN" altLang="en-US" b="1"/>
              <a:t>层次分析法：</a:t>
            </a:r>
            <a:endParaRPr lang="zh-CN" altLang="en-US" b="1"/>
          </a:p>
        </p:txBody>
      </p:sp>
      <p:sp>
        <p:nvSpPr>
          <p:cNvPr id="19" name="文本框 18"/>
          <p:cNvSpPr txBox="1"/>
          <p:nvPr/>
        </p:nvSpPr>
        <p:spPr>
          <a:xfrm>
            <a:off x="597535" y="3833495"/>
            <a:ext cx="8736330" cy="1568450"/>
          </a:xfrm>
          <a:prstGeom prst="rect">
            <a:avLst/>
          </a:prstGeom>
        </p:spPr>
        <p:txBody>
          <a:bodyPr wrap="square">
            <a:spAutoFit/>
          </a:bodyPr>
          <a:p>
            <a:pPr marL="0" indent="0" algn="just" defTabSz="266700">
              <a:spcBef>
                <a:spcPct val="0"/>
              </a:spcBef>
              <a:spcAft>
                <a:spcPct val="0"/>
              </a:spcAft>
            </a:pPr>
            <a:r>
              <a:rPr lang="zh-CN" altLang="en-US" sz="1600">
                <a:latin typeface="+mn-ea"/>
                <a:cs typeface="+mn-ea"/>
              </a:rPr>
              <a:t>层次分析法</a:t>
            </a:r>
            <a:r>
              <a:rPr lang="en-US" altLang="zh-CN" sz="1600">
                <a:latin typeface="+mn-ea"/>
                <a:cs typeface="+mn-ea"/>
              </a:rPr>
              <a:t>(AHP)</a:t>
            </a:r>
            <a:r>
              <a:rPr lang="zh-CN" altLang="en-US" sz="1600">
                <a:latin typeface="+mn-ea"/>
                <a:cs typeface="+mn-ea"/>
              </a:rPr>
              <a:t>其原理是基于专家经验，构建起包含目标层、准则层和指标层的层级结构。</a:t>
            </a:r>
            <a:endParaRPr lang="zh-CN" altLang="en-US" sz="1600">
              <a:latin typeface="+mn-ea"/>
              <a:cs typeface="+mn-ea"/>
            </a:endParaRPr>
          </a:p>
          <a:p>
            <a:pPr marL="0" indent="0" algn="just" defTabSz="266700">
              <a:spcBef>
                <a:spcPct val="0"/>
              </a:spcBef>
              <a:spcAft>
                <a:spcPct val="0"/>
              </a:spcAft>
            </a:pPr>
            <a:endParaRPr lang="zh-CN" altLang="en-US" sz="1600">
              <a:latin typeface="+mn-ea"/>
              <a:cs typeface="+mn-ea"/>
            </a:endParaRPr>
          </a:p>
          <a:p>
            <a:pPr marL="0" indent="0" algn="just" defTabSz="266700">
              <a:lnSpc>
                <a:spcPct val="200000"/>
              </a:lnSpc>
              <a:spcBef>
                <a:spcPct val="0"/>
              </a:spcBef>
              <a:spcAft>
                <a:spcPct val="0"/>
              </a:spcAft>
            </a:pPr>
            <a:r>
              <a:rPr lang="zh-CN" altLang="en-US" sz="1600">
                <a:latin typeface="+mn-ea"/>
                <a:cs typeface="+mn-ea"/>
              </a:rPr>
              <a:t>层次分析法的优势是可以</a:t>
            </a:r>
            <a:r>
              <a:rPr lang="zh-CN" altLang="en-US" sz="1600">
                <a:solidFill>
                  <a:srgbClr val="FF0000"/>
                </a:solidFill>
                <a:latin typeface="+mn-ea"/>
                <a:cs typeface="+mn-ea"/>
              </a:rPr>
              <a:t>充分利用专家经验的优势</a:t>
            </a:r>
            <a:r>
              <a:rPr lang="zh-CN" altLang="en-US" sz="1600">
                <a:latin typeface="+mn-ea"/>
                <a:cs typeface="+mn-ea"/>
              </a:rPr>
              <a:t>，将定性与定量分析相结合。在一些复杂情况中</a:t>
            </a:r>
            <a:r>
              <a:rPr lang="zh-CN" altLang="en-US" sz="1600">
                <a:solidFill>
                  <a:srgbClr val="FF0000"/>
                </a:solidFill>
                <a:latin typeface="+mn-ea"/>
                <a:cs typeface="+mn-ea"/>
              </a:rPr>
              <a:t>可结合专家经验等主观因素对评价进行调整</a:t>
            </a:r>
            <a:r>
              <a:rPr lang="zh-CN" altLang="en-US" sz="1600">
                <a:latin typeface="+mn-ea"/>
                <a:cs typeface="+mn-ea"/>
              </a:rPr>
              <a:t>。</a:t>
            </a:r>
            <a:endParaRPr lang="zh-CN" altLang="en-US" sz="160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326738" y="-5843"/>
            <a:ext cx="8660508"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4.3 </a:t>
            </a:r>
            <a:r>
              <a:rPr lang="zh-CN" altLang="en-US" sz="2400" b="1" dirty="0">
                <a:solidFill>
                  <a:schemeClr val="tx1">
                    <a:lumMod val="65000"/>
                    <a:lumOff val="35000"/>
                  </a:schemeClr>
                </a:solidFill>
                <a:latin typeface="+mn-ea"/>
              </a:rPr>
              <a:t>再生纸浆再利用适用度混合法评价</a:t>
            </a:r>
            <a:r>
              <a:rPr lang="zh-CN" altLang="en-US" sz="2400" b="1" dirty="0">
                <a:solidFill>
                  <a:schemeClr val="tx1">
                    <a:lumMod val="65000"/>
                    <a:lumOff val="35000"/>
                  </a:schemeClr>
                </a:solidFill>
                <a:latin typeface="+mn-ea"/>
              </a:rPr>
              <a:t>体系构建</a:t>
            </a:r>
            <a:endParaRPr lang="zh-CN" altLang="en-US" sz="2400" b="1" dirty="0">
              <a:solidFill>
                <a:schemeClr val="tx1">
                  <a:lumMod val="65000"/>
                  <a:lumOff val="35000"/>
                </a:schemeClr>
              </a:solidFill>
              <a:latin typeface="+mn-ea"/>
            </a:endParaRPr>
          </a:p>
        </p:txBody>
      </p:sp>
      <p:sp>
        <p:nvSpPr>
          <p:cNvPr id="2" name="灯片编号占位符 1"/>
          <p:cNvSpPr>
            <a:spLocks noGrp="1"/>
          </p:cNvSpPr>
          <p:nvPr>
            <p:ph type="sldNum" sz="quarter" idx="12"/>
          </p:nvPr>
        </p:nvSpPr>
        <p:spPr>
          <a:xfrm>
            <a:off x="10712740" y="6372225"/>
            <a:ext cx="603737"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sp>
        <p:nvSpPr>
          <p:cNvPr id="12" name="文本框 11"/>
          <p:cNvSpPr txBox="1"/>
          <p:nvPr/>
        </p:nvSpPr>
        <p:spPr>
          <a:xfrm>
            <a:off x="327025" y="563880"/>
            <a:ext cx="6720205" cy="368300"/>
          </a:xfrm>
          <a:prstGeom prst="rect">
            <a:avLst/>
          </a:prstGeom>
          <a:noFill/>
        </p:spPr>
        <p:txBody>
          <a:bodyPr wrap="square" rtlCol="0">
            <a:spAutoFit/>
          </a:bodyPr>
          <a:lstStyle/>
          <a:p>
            <a:r>
              <a:rPr lang="zh-CN" altLang="en-US" b="1" dirty="0">
                <a:latin typeface="+mn-ea"/>
              </a:rPr>
              <a:t>权重分配：</a:t>
            </a:r>
            <a:endParaRPr lang="zh-CN" altLang="en-US" b="1" dirty="0">
              <a:latin typeface="+mn-ea"/>
            </a:endParaRPr>
          </a:p>
        </p:txBody>
      </p:sp>
      <p:sp>
        <p:nvSpPr>
          <p:cNvPr id="19" name="文本框 18"/>
          <p:cNvSpPr txBox="1"/>
          <p:nvPr/>
        </p:nvSpPr>
        <p:spPr>
          <a:xfrm>
            <a:off x="462280" y="986155"/>
            <a:ext cx="10788650" cy="4030980"/>
          </a:xfrm>
          <a:prstGeom prst="rect">
            <a:avLst/>
          </a:prstGeom>
        </p:spPr>
        <p:txBody>
          <a:bodyPr wrap="square">
            <a:spAutoFit/>
          </a:bodyPr>
          <a:p>
            <a:pPr indent="0" algn="just" defTabSz="266700">
              <a:lnSpc>
                <a:spcPct val="150000"/>
              </a:lnSpc>
              <a:spcBef>
                <a:spcPct val="0"/>
              </a:spcBef>
              <a:spcAft>
                <a:spcPct val="0"/>
              </a:spcAft>
            </a:pPr>
            <a:r>
              <a:rPr lang="zh-CN" altLang="en-US" sz="1600">
                <a:latin typeface="+mn-ea"/>
                <a:cs typeface="+mn-ea"/>
              </a:rPr>
              <a:t>权重分配是整个再生纸浆再利用适用度评价中最重要的部分，本章</a:t>
            </a:r>
            <a:r>
              <a:rPr lang="zh-CN" altLang="en-US" sz="1600">
                <a:solidFill>
                  <a:srgbClr val="FF0000"/>
                </a:solidFill>
                <a:latin typeface="+mn-ea"/>
                <a:cs typeface="+mn-ea"/>
              </a:rPr>
              <a:t>采用熵权法和层次分析法相结合的混合策略</a:t>
            </a:r>
            <a:r>
              <a:rPr lang="zh-CN" altLang="en-US" sz="1600">
                <a:latin typeface="+mn-ea"/>
                <a:cs typeface="+mn-ea"/>
              </a:rPr>
              <a:t>生成</a:t>
            </a:r>
            <a:endParaRPr lang="zh-CN" altLang="en-US" sz="1600">
              <a:latin typeface="+mn-ea"/>
              <a:cs typeface="+mn-ea"/>
            </a:endParaRPr>
          </a:p>
          <a:p>
            <a:pPr indent="0" algn="just" defTabSz="266700">
              <a:lnSpc>
                <a:spcPct val="150000"/>
              </a:lnSpc>
              <a:spcBef>
                <a:spcPct val="0"/>
              </a:spcBef>
              <a:spcAft>
                <a:spcPct val="0"/>
              </a:spcAft>
            </a:pPr>
            <a:r>
              <a:rPr lang="zh-CN" altLang="en-US" sz="1600">
                <a:solidFill>
                  <a:srgbClr val="FF0000"/>
                </a:solidFill>
                <a:latin typeface="+mn-ea"/>
                <a:cs typeface="+mn-ea"/>
              </a:rPr>
              <a:t>再生纸浆再利用适用度混合法评价</a:t>
            </a:r>
            <a:r>
              <a:rPr lang="zh-CN" altLang="en-US" sz="1600">
                <a:latin typeface="+mn-ea"/>
                <a:cs typeface="+mn-ea"/>
              </a:rPr>
              <a:t>策略：</a:t>
            </a:r>
            <a:endParaRPr lang="zh-CN" altLang="en-US" sz="1600">
              <a:latin typeface="+mn-ea"/>
              <a:cs typeface="+mn-ea"/>
            </a:endParaRPr>
          </a:p>
          <a:p>
            <a:pPr indent="0" algn="just" defTabSz="266700">
              <a:lnSpc>
                <a:spcPct val="150000"/>
              </a:lnSpc>
              <a:spcBef>
                <a:spcPct val="0"/>
              </a:spcBef>
              <a:spcAft>
                <a:spcPct val="0"/>
              </a:spcAft>
            </a:pPr>
            <a:endParaRPr lang="zh-CN" altLang="en-US" sz="1600">
              <a:latin typeface="+mn-ea"/>
              <a:cs typeface="+mn-ea"/>
            </a:endParaRPr>
          </a:p>
          <a:p>
            <a:pPr indent="0" algn="just" defTabSz="266700">
              <a:lnSpc>
                <a:spcPct val="150000"/>
              </a:lnSpc>
              <a:spcBef>
                <a:spcPct val="0"/>
              </a:spcBef>
              <a:spcAft>
                <a:spcPct val="0"/>
              </a:spcAft>
            </a:pPr>
            <a:r>
              <a:rPr lang="zh-CN" altLang="en-US" sz="1600">
                <a:latin typeface="+mn-ea"/>
                <a:cs typeface="+mn-ea"/>
              </a:rPr>
              <a:t>按照熵权法计算信息熵，由信息熵再通过公式计算不同参数的权重。</a:t>
            </a:r>
            <a:endParaRPr lang="zh-CN" altLang="en-US" sz="1600">
              <a:latin typeface="+mn-ea"/>
              <a:cs typeface="+mn-ea"/>
            </a:endParaRPr>
          </a:p>
          <a:p>
            <a:pPr indent="0" algn="just" defTabSz="266700">
              <a:lnSpc>
                <a:spcPct val="150000"/>
              </a:lnSpc>
              <a:spcBef>
                <a:spcPct val="0"/>
              </a:spcBef>
              <a:spcAft>
                <a:spcPct val="0"/>
              </a:spcAft>
            </a:pPr>
            <a:endParaRPr lang="zh-CN" altLang="en-US" sz="1600">
              <a:latin typeface="+mn-ea"/>
              <a:cs typeface="+mn-ea"/>
            </a:endParaRPr>
          </a:p>
          <a:p>
            <a:pPr indent="0" algn="just" defTabSz="266700">
              <a:lnSpc>
                <a:spcPct val="150000"/>
              </a:lnSpc>
              <a:spcBef>
                <a:spcPct val="0"/>
              </a:spcBef>
              <a:spcAft>
                <a:spcPct val="0"/>
              </a:spcAft>
            </a:pPr>
            <a:r>
              <a:rPr lang="zh-CN" altLang="en-US" sz="1600">
                <a:latin typeface="+mn-ea"/>
                <a:cs typeface="+mn-ea"/>
              </a:rPr>
              <a:t>层次分析法权重：以物理强度预测模型中的</a:t>
            </a:r>
            <a:r>
              <a:rPr lang="zh-CN" altLang="en-US" sz="1600">
                <a:solidFill>
                  <a:srgbClr val="FF0000"/>
                </a:solidFill>
                <a:latin typeface="+mn-ea"/>
                <a:cs typeface="+mn-ea"/>
              </a:rPr>
              <a:t>袋外置换重要性结果为基础</a:t>
            </a:r>
            <a:r>
              <a:rPr lang="zh-CN" altLang="en-US" sz="1600">
                <a:latin typeface="+mn-ea"/>
                <a:cs typeface="+mn-ea"/>
              </a:rPr>
              <a:t>，</a:t>
            </a:r>
            <a:r>
              <a:rPr lang="zh-CN" altLang="en-US" sz="1600">
                <a:solidFill>
                  <a:srgbClr val="FF0000"/>
                </a:solidFill>
                <a:latin typeface="+mn-ea"/>
                <a:cs typeface="+mn-ea"/>
              </a:rPr>
              <a:t>通过专家经验对该重要性结果进行调整确定</a:t>
            </a:r>
            <a:r>
              <a:rPr lang="zh-CN" altLang="en-US" sz="1600">
                <a:latin typeface="+mn-ea"/>
                <a:cs typeface="+mn-ea"/>
              </a:rPr>
              <a:t>层次分析法权重。如纤维粗度在三个物理强度指标中都占有重要地位，该指标作为纤维形态的重要参数，因此将此指标权重由袋外置换重要性结果上调。</a:t>
            </a:r>
            <a:endParaRPr lang="zh-CN" altLang="en-US" sz="1600">
              <a:latin typeface="+mn-ea"/>
              <a:cs typeface="+mn-ea"/>
            </a:endParaRPr>
          </a:p>
          <a:p>
            <a:pPr indent="0" algn="just" defTabSz="266700">
              <a:lnSpc>
                <a:spcPct val="150000"/>
              </a:lnSpc>
              <a:spcBef>
                <a:spcPct val="0"/>
              </a:spcBef>
              <a:spcAft>
                <a:spcPct val="0"/>
              </a:spcAft>
            </a:pPr>
            <a:endParaRPr lang="zh-CN" altLang="en-US" sz="1600">
              <a:latin typeface="+mn-ea"/>
              <a:cs typeface="+mn-ea"/>
            </a:endParaRPr>
          </a:p>
          <a:p>
            <a:pPr indent="0" algn="just" defTabSz="266700">
              <a:lnSpc>
                <a:spcPct val="150000"/>
              </a:lnSpc>
              <a:spcBef>
                <a:spcPct val="0"/>
              </a:spcBef>
              <a:spcAft>
                <a:spcPct val="0"/>
              </a:spcAft>
            </a:pPr>
            <a:r>
              <a:rPr lang="zh-CN" altLang="en-US" sz="1600">
                <a:latin typeface="+mn-ea"/>
                <a:cs typeface="+mn-ea"/>
              </a:rPr>
              <a:t>计算权重后，代入公式计算得到再生纤维的再利用适用度评分。</a:t>
            </a:r>
            <a:endParaRPr lang="zh-CN" altLang="en-US" sz="1600">
              <a:latin typeface="+mn-ea"/>
              <a:cs typeface="+mn-ea"/>
            </a:endParaRPr>
          </a:p>
          <a:p>
            <a:pPr indent="0" algn="just" defTabSz="266700">
              <a:spcBef>
                <a:spcPct val="0"/>
              </a:spcBef>
              <a:spcAft>
                <a:spcPct val="0"/>
              </a:spcAft>
            </a:pPr>
            <a:endParaRPr lang="zh-CN" altLang="en-US" sz="1600">
              <a:latin typeface="+mn-ea"/>
              <a:cs typeface="+mn-ea"/>
            </a:endParaRPr>
          </a:p>
        </p:txBody>
      </p:sp>
      <p:graphicFrame>
        <p:nvGraphicFramePr>
          <p:cNvPr id="3" name="对象 -2147482513"/>
          <p:cNvGraphicFramePr>
            <a:graphicFrameLocks noChangeAspect="1"/>
          </p:cNvGraphicFramePr>
          <p:nvPr/>
        </p:nvGraphicFramePr>
        <p:xfrm>
          <a:off x="3974148" y="1577975"/>
          <a:ext cx="3072765" cy="443230"/>
        </p:xfrm>
        <a:graphic>
          <a:graphicData uri="http://schemas.openxmlformats.org/presentationml/2006/ole">
            <mc:AlternateContent xmlns:mc="http://schemas.openxmlformats.org/markup-compatibility/2006">
              <mc:Choice xmlns:v="urn:schemas-microsoft-com:vml" Requires="v">
                <p:oleObj spid="_x0000_s3076" name="" r:id="rId1" imgW="1752600" imgH="254000" progId="Equation.KSEE3">
                  <p:embed/>
                </p:oleObj>
              </mc:Choice>
              <mc:Fallback>
                <p:oleObj name="" r:id="rId1" imgW="1752600" imgH="254000" progId="Equation.KSEE3">
                  <p:embed/>
                  <p:pic>
                    <p:nvPicPr>
                      <p:cNvPr id="0" name="图片 3075"/>
                      <p:cNvPicPr/>
                      <p:nvPr/>
                    </p:nvPicPr>
                    <p:blipFill>
                      <a:blip r:embed="rId2"/>
                      <a:stretch>
                        <a:fillRect/>
                      </a:stretch>
                    </p:blipFill>
                    <p:spPr>
                      <a:xfrm>
                        <a:off x="3974148" y="1577975"/>
                        <a:ext cx="3072765" cy="443230"/>
                      </a:xfrm>
                      <a:prstGeom prst="rect">
                        <a:avLst/>
                      </a:prstGeom>
                      <a:noFill/>
                      <a:ln w="38100">
                        <a:noFill/>
                        <a:miter/>
                      </a:ln>
                    </p:spPr>
                  </p:pic>
                </p:oleObj>
              </mc:Fallback>
            </mc:AlternateContent>
          </a:graphicData>
        </a:graphic>
      </p:graphicFrame>
      <p:graphicFrame>
        <p:nvGraphicFramePr>
          <p:cNvPr id="5" name="对象 -2147482512"/>
          <p:cNvGraphicFramePr>
            <a:graphicFrameLocks noChangeAspect="1"/>
          </p:cNvGraphicFramePr>
          <p:nvPr/>
        </p:nvGraphicFramePr>
        <p:xfrm>
          <a:off x="2288540" y="5168900"/>
          <a:ext cx="8342630" cy="1125855"/>
        </p:xfrm>
        <a:graphic>
          <a:graphicData uri="http://schemas.openxmlformats.org/presentationml/2006/ole">
            <mc:AlternateContent xmlns:mc="http://schemas.openxmlformats.org/markup-compatibility/2006">
              <mc:Choice xmlns:v="urn:schemas-microsoft-com:vml" Requires="v">
                <p:oleObj spid="_x0000_s7" name="" r:id="rId3" imgW="3568700" imgH="482600" progId="Equation.KSEE3">
                  <p:embed/>
                </p:oleObj>
              </mc:Choice>
              <mc:Fallback>
                <p:oleObj name="" r:id="rId3" imgW="3568700" imgH="482600" progId="Equation.KSEE3">
                  <p:embed/>
                  <p:pic>
                    <p:nvPicPr>
                      <p:cNvPr id="0" name="图片 4"/>
                      <p:cNvPicPr/>
                      <p:nvPr/>
                    </p:nvPicPr>
                    <p:blipFill>
                      <a:blip r:embed="rId4"/>
                      <a:stretch>
                        <a:fillRect/>
                      </a:stretch>
                    </p:blipFill>
                    <p:spPr>
                      <a:xfrm>
                        <a:off x="2288540" y="5168900"/>
                        <a:ext cx="8342630" cy="112585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4.4 </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混合法评价体系</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性能验证</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22" name="矩形 21"/>
          <p:cNvSpPr/>
          <p:nvPr/>
        </p:nvSpPr>
        <p:spPr>
          <a:xfrm>
            <a:off x="6581140" y="1459865"/>
            <a:ext cx="5403850" cy="4216400"/>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657340" y="1332230"/>
            <a:ext cx="5245735" cy="2542540"/>
          </a:xfrm>
          <a:prstGeom prst="rect">
            <a:avLst/>
          </a:prstGeom>
          <a:noFill/>
        </p:spPr>
        <p:txBody>
          <a:bodyPr wrap="square" rtlCol="0">
            <a:noAutofit/>
          </a:bodyPr>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混合法权重由熵权法和层次分析法权重线性相加而得，在保留数据客观性的基础上引入专家经验修正，</a:t>
            </a:r>
            <a:r>
              <a:rPr lang="zh-CN" altLang="en-US" sz="1400" b="1" dirty="0">
                <a:solidFill>
                  <a:srgbClr val="FF0000"/>
                </a:solidFill>
                <a:latin typeface="Times New Roman" panose="02020603050405020304" pitchFamily="18" charset="0"/>
                <a:cs typeface="Times New Roman" panose="02020603050405020304" pitchFamily="18" charset="0"/>
              </a:rPr>
              <a:t>实现了主客观因素的科学平衡</a:t>
            </a:r>
            <a:r>
              <a:rPr lang="zh-CN" altLang="en-US" sz="1400" b="1" dirty="0">
                <a:latin typeface="Times New Roman" panose="02020603050405020304" pitchFamily="18" charset="0"/>
                <a:cs typeface="Times New Roman" panose="02020603050405020304" pitchFamily="18" charset="0"/>
              </a:rPr>
              <a:t>；</a:t>
            </a:r>
            <a:endParaRPr lang="zh-CN" altLang="en-US"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扭结纤维占比对物理强度有重要的影响，而</a:t>
            </a:r>
            <a:r>
              <a:rPr lang="zh-CN" altLang="en-US" sz="1400" b="1" dirty="0">
                <a:solidFill>
                  <a:srgbClr val="FF0000"/>
                </a:solidFill>
                <a:latin typeface="Times New Roman" panose="02020603050405020304" pitchFamily="18" charset="0"/>
                <a:cs typeface="Times New Roman" panose="02020603050405020304" pitchFamily="18" charset="0"/>
              </a:rPr>
              <a:t>熵权法因其数据离散性低赋予较低权重</a:t>
            </a:r>
            <a:r>
              <a:rPr lang="zh-CN" altLang="en-US" sz="1400" b="1" dirty="0">
                <a:latin typeface="Times New Roman" panose="02020603050405020304" pitchFamily="18" charset="0"/>
                <a:cs typeface="Times New Roman" panose="02020603050405020304" pitchFamily="18" charset="0"/>
              </a:rPr>
              <a:t>，而层次分析法经过专家经验的调整提升其权重，而混合法通过对两种方法的合理调整，既</a:t>
            </a:r>
            <a:r>
              <a:rPr lang="zh-CN" altLang="en-US" sz="1400" b="1" dirty="0">
                <a:solidFill>
                  <a:srgbClr val="FF0000"/>
                </a:solidFill>
                <a:latin typeface="Times New Roman" panose="02020603050405020304" pitchFamily="18" charset="0"/>
                <a:cs typeface="Times New Roman" panose="02020603050405020304" pitchFamily="18" charset="0"/>
              </a:rPr>
              <a:t>避免过度依赖单一方法的偏差</a:t>
            </a:r>
            <a:r>
              <a:rPr lang="zh-CN" altLang="en-US" sz="1400" b="1" dirty="0">
                <a:latin typeface="Times New Roman" panose="02020603050405020304" pitchFamily="18" charset="0"/>
                <a:cs typeface="Times New Roman" panose="02020603050405020304" pitchFamily="18" charset="0"/>
              </a:rPr>
              <a:t>，又精准量化其对网络稳定性的核心贡献</a:t>
            </a:r>
            <a:r>
              <a:rPr lang="zh-CN" altLang="en-US"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t>类似的，纤维分丝帚化长度比的混合权重（</a:t>
            </a:r>
            <a:r>
              <a:rPr lang="en-US" altLang="zh-CN" sz="1400" b="1" dirty="0"/>
              <a:t>0.0945</a:t>
            </a:r>
            <a:r>
              <a:rPr lang="zh-CN" altLang="en-US" sz="1400" b="1" dirty="0"/>
              <a:t>）在熵权法（</a:t>
            </a:r>
            <a:r>
              <a:rPr lang="en-US" altLang="zh-CN" sz="1400" b="1" dirty="0"/>
              <a:t>0.1256</a:t>
            </a:r>
            <a:r>
              <a:rPr lang="zh-CN" altLang="en-US" sz="1400" b="1" dirty="0"/>
              <a:t>）与层次分析法（</a:t>
            </a:r>
            <a:r>
              <a:rPr lang="en-US" altLang="zh-CN" sz="1400" b="1" dirty="0"/>
              <a:t>0.0633</a:t>
            </a:r>
            <a:r>
              <a:rPr lang="zh-CN" altLang="en-US" sz="1400" b="1" dirty="0"/>
              <a:t>）之间取得平衡</a:t>
            </a:r>
            <a:r>
              <a:rPr lang="zh-CN" altLang="en-US" sz="1400" b="1" dirty="0"/>
              <a:t>。</a:t>
            </a:r>
            <a:endParaRPr lang="zh-CN" altLang="en-US" sz="1400" b="1" dirty="0"/>
          </a:p>
        </p:txBody>
      </p:sp>
      <p:sp>
        <p:nvSpPr>
          <p:cNvPr id="2" name="文本框 1"/>
          <p:cNvSpPr txBox="1"/>
          <p:nvPr/>
        </p:nvSpPr>
        <p:spPr>
          <a:xfrm>
            <a:off x="762000" y="580708"/>
            <a:ext cx="5080000" cy="414020"/>
          </a:xfrm>
          <a:prstGeom prst="rect">
            <a:avLst/>
          </a:prstGeom>
        </p:spPr>
        <p:txBody>
          <a:bodyPr>
            <a:sp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权重分配表</a:t>
            </a:r>
            <a:endParaRPr lang="zh-CN" altLang="en-US" sz="1400">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195580" y="995680"/>
          <a:ext cx="6262370" cy="5529580"/>
        </p:xfrm>
        <a:graphic>
          <a:graphicData uri="http://schemas.openxmlformats.org/drawingml/2006/table">
            <a:tbl>
              <a:tblPr/>
              <a:tblGrid>
                <a:gridCol w="2129155"/>
                <a:gridCol w="1447165"/>
                <a:gridCol w="1391285"/>
                <a:gridCol w="1294765"/>
              </a:tblGrid>
              <a:tr h="6502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纤维参数</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熵权法权重</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层次分析法权重</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混合法权重</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5755">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0.2-0.3 mm</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0.0408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0.042723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0.0418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25120">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0.3-0.45 mm</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0.0481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0.072502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0.0603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0.67-1.0 mm</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0.0560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0.053552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0.0548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1.0-1.5 mm</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0.0480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0.062451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0.0552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755">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1.5-2.24 mm</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0.0500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0.065594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0.0578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3.35-5.01 mm</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0.0510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0.064972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0.0580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a:t>
                      </a:r>
                      <a:r>
                        <a:rPr lang="en-US" altLang="zh-CN" sz="1400">
                          <a:solidFill>
                            <a:srgbClr val="000000"/>
                          </a:solidFill>
                          <a:latin typeface="Times New Roman" panose="02020603050405020304"/>
                          <a:ea typeface="宋体" panose="02010600030101010101" pitchFamily="2" charset="-122"/>
                        </a:rPr>
                        <a:t>7.5 mm </a:t>
                      </a:r>
                      <a:r>
                        <a:rPr lang="zh-CN" sz="1400">
                          <a:solidFill>
                            <a:srgbClr val="000000"/>
                          </a:solidFill>
                          <a:latin typeface="宋体" panose="02010600030101010101" pitchFamily="2" charset="-122"/>
                          <a:ea typeface="宋体" panose="02010600030101010101" pitchFamily="2" charset="-122"/>
                        </a:rPr>
                        <a:t>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0.0127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0.07104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0.0419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算数平均长</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0.0965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0.059091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0.0778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75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宽度</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0.0778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0.049818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0.0638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粗度</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0.1159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0.078196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0.0970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扭结纤维占比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0.0679</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0.1451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0.1065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分丝帚化长度比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0.1256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0.063323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0.0945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755">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折断纤维比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0.1364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0.069764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0.1031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细小纤维长度比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0.0385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0.057971</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0.0482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512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细小纤维面积比</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0.0347</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0.043906</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0.0393</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sp>
        <p:nvSpPr>
          <p:cNvPr id="7" name="矩形 6"/>
          <p:cNvSpPr/>
          <p:nvPr/>
        </p:nvSpPr>
        <p:spPr>
          <a:xfrm>
            <a:off x="502920" y="4979670"/>
            <a:ext cx="5704205" cy="21590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502920" y="5302250"/>
            <a:ext cx="5704205" cy="260350"/>
          </a:xfrm>
          <a:prstGeom prst="rect">
            <a:avLst/>
          </a:prstGeom>
          <a:noFill/>
          <a:ln w="28575">
            <a:solidFill>
              <a:schemeClr val="accent6">
                <a:lumMod val="5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2" descr="E:/11AA研究生学习/海关数据/SVM少数据/test/数据分析图/案例分析.png案例分析"/>
          <p:cNvPicPr>
            <a:picLocks noChangeAspect="1"/>
          </p:cNvPicPr>
          <p:nvPr/>
        </p:nvPicPr>
        <p:blipFill>
          <a:blip r:embed="rId1"/>
          <a:srcRect t="877" b="18583"/>
          <a:stretch>
            <a:fillRect/>
          </a:stretch>
        </p:blipFill>
        <p:spPr>
          <a:xfrm>
            <a:off x="7442835" y="4445"/>
            <a:ext cx="4265295" cy="3010535"/>
          </a:xfrm>
          <a:prstGeom prst="rect">
            <a:avLst/>
          </a:prstGeom>
        </p:spPr>
      </p:pic>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9153" y="4639"/>
            <a:ext cx="4147121" cy="73723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4.4 </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混合法评价体系</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性能验证</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r>
              <a:rPr lang="zh-CN" altLang="en-US" b="1" dirty="0">
                <a:latin typeface="+mn-ea"/>
              </a:rPr>
              <a:t> </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2" name="矩形 21"/>
          <p:cNvSpPr/>
          <p:nvPr/>
        </p:nvSpPr>
        <p:spPr>
          <a:xfrm>
            <a:off x="6315075" y="3119755"/>
            <a:ext cx="5669915" cy="3481705"/>
          </a:xfrm>
          <a:prstGeom prst="rect">
            <a:avLst/>
          </a:prstGeom>
          <a:noFill/>
          <a:ln w="28575">
            <a:solidFill>
              <a:srgbClr val="ED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6360160" y="3119120"/>
            <a:ext cx="5542915" cy="2542540"/>
          </a:xfrm>
          <a:prstGeom prst="rect">
            <a:avLst/>
          </a:prstGeom>
          <a:noFill/>
        </p:spPr>
        <p:txBody>
          <a:bodyPr wrap="square" rtlCol="0">
            <a:noAutofit/>
          </a:bodyPr>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层次分析法对该样本</a:t>
            </a:r>
            <a:r>
              <a:rPr lang="en-US" altLang="zh-CN" sz="1400" b="1" dirty="0">
                <a:latin typeface="Times New Roman" panose="02020603050405020304" pitchFamily="18" charset="0"/>
                <a:cs typeface="Times New Roman" panose="02020603050405020304" pitchFamily="18" charset="0"/>
              </a:rPr>
              <a:t>1</a:t>
            </a:r>
            <a:r>
              <a:rPr lang="zh-CN" altLang="en-US" sz="1400" b="1" dirty="0">
                <a:latin typeface="Times New Roman" panose="02020603050405020304" pitchFamily="18" charset="0"/>
                <a:cs typeface="Times New Roman" panose="02020603050405020304" pitchFamily="18" charset="0"/>
              </a:rPr>
              <a:t>评分较低，可能是该方法依赖固定专家经验权重，无法响应样本特异性，混合法通过主客观权重叠加，评分结果与实测物理强度高度吻合，</a:t>
            </a:r>
            <a:r>
              <a:rPr lang="zh-CN" altLang="en-US" sz="1400" b="1" dirty="0">
                <a:solidFill>
                  <a:srgbClr val="FF0000"/>
                </a:solidFill>
                <a:latin typeface="Times New Roman" panose="02020603050405020304" pitchFamily="18" charset="0"/>
                <a:cs typeface="Times New Roman" panose="02020603050405020304" pitchFamily="18" charset="0"/>
              </a:rPr>
              <a:t>验证其对复杂劣化场景的适应性</a:t>
            </a:r>
            <a:r>
              <a:rPr lang="zh-CN" altLang="en-US" sz="1400" b="1" dirty="0">
                <a:latin typeface="Times New Roman" panose="02020603050405020304" pitchFamily="18" charset="0"/>
                <a:cs typeface="Times New Roman" panose="02020603050405020304" pitchFamily="18" charset="0"/>
              </a:rPr>
              <a:t>；</a:t>
            </a:r>
            <a:endParaRPr lang="zh-CN" altLang="en-US"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latin typeface="Times New Roman" panose="02020603050405020304" pitchFamily="18" charset="0"/>
                <a:cs typeface="Times New Roman" panose="02020603050405020304" pitchFamily="18" charset="0"/>
              </a:rPr>
              <a:t>样本</a:t>
            </a:r>
            <a:r>
              <a:rPr lang="en-US" altLang="zh-CN" sz="1400" b="1" dirty="0">
                <a:latin typeface="Times New Roman" panose="02020603050405020304" pitchFamily="18" charset="0"/>
                <a:cs typeface="Times New Roman" panose="02020603050405020304" pitchFamily="18" charset="0"/>
              </a:rPr>
              <a:t>2</a:t>
            </a:r>
            <a:r>
              <a:rPr lang="zh-CN" altLang="en-US" sz="1400" b="1" dirty="0">
                <a:latin typeface="Times New Roman" panose="02020603050405020304" pitchFamily="18" charset="0"/>
                <a:cs typeface="Times New Roman" panose="02020603050405020304" pitchFamily="18" charset="0"/>
              </a:rPr>
              <a:t>中抗张强度没有达到国标标准，同时其耐破度也较低，因此可判断该样本质量较差；</a:t>
            </a:r>
            <a:endParaRPr lang="en-US" altLang="zh-CN" sz="1400" b="1"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p"/>
            </a:pPr>
            <a:r>
              <a:rPr lang="zh-CN" altLang="en-US" sz="1400" b="1" dirty="0"/>
              <a:t>样本</a:t>
            </a:r>
            <a:r>
              <a:rPr lang="en-US" altLang="zh-CN" sz="1400" b="1" dirty="0"/>
              <a:t>3</a:t>
            </a:r>
            <a:r>
              <a:rPr lang="zh-CN" altLang="en-US" sz="1400" b="1" dirty="0"/>
              <a:t>中的纤维分丝帚化长度比和纤维粗度质量较差，其纤维长度占比中有较多的短纤维存在，弥补了部分因纤维形态劣化而导致的强度下降，</a:t>
            </a:r>
            <a:r>
              <a:rPr lang="zh-CN" altLang="en-US" sz="1400" b="1" dirty="0">
                <a:solidFill>
                  <a:srgbClr val="FF0000"/>
                </a:solidFill>
              </a:rPr>
              <a:t>评分结果与实测物理强度高度吻合</a:t>
            </a:r>
            <a:r>
              <a:rPr lang="zh-CN" altLang="en-US" sz="1400" b="1" dirty="0"/>
              <a:t>。</a:t>
            </a:r>
            <a:endParaRPr lang="zh-CN" altLang="en-US" sz="1400" b="1" dirty="0"/>
          </a:p>
        </p:txBody>
      </p:sp>
      <p:sp>
        <p:nvSpPr>
          <p:cNvPr id="2" name="文本框 1"/>
          <p:cNvSpPr txBox="1"/>
          <p:nvPr/>
        </p:nvSpPr>
        <p:spPr>
          <a:xfrm>
            <a:off x="762000" y="1183323"/>
            <a:ext cx="5080000" cy="414020"/>
          </a:xfrm>
          <a:prstGeom prst="rect">
            <a:avLst/>
          </a:prstGeom>
        </p:spPr>
        <p:txBody>
          <a:bodyPr>
            <a:spAutoFit/>
          </a:bodyPr>
          <a:p>
            <a:pPr marL="0" indent="0" algn="ctr" defTabSz="266700">
              <a:lnSpc>
                <a:spcPct val="150000"/>
              </a:lnSpc>
              <a:spcBef>
                <a:spcPct val="0"/>
              </a:spcBef>
              <a:spcAft>
                <a:spcPct val="0"/>
              </a:spcAft>
            </a:pPr>
            <a:r>
              <a:rPr lang="zh-CN" altLang="en-US" sz="1400">
                <a:latin typeface="微软雅黑" panose="020B0503020204020204" pitchFamily="34" charset="-122"/>
                <a:ea typeface="微软雅黑" panose="020B0503020204020204" pitchFamily="34" charset="-122"/>
              </a:rPr>
              <a:t>权重分配表</a:t>
            </a:r>
            <a:endParaRPr lang="zh-CN" altLang="en-US" sz="1400">
              <a:latin typeface="微软雅黑" panose="020B0503020204020204" pitchFamily="34" charset="-122"/>
              <a:ea typeface="微软雅黑" panose="020B0503020204020204" pitchFamily="34" charset="-122"/>
            </a:endParaRPr>
          </a:p>
        </p:txBody>
      </p:sp>
      <p:graphicFrame>
        <p:nvGraphicFramePr>
          <p:cNvPr id="6" name="表格 5"/>
          <p:cNvGraphicFramePr/>
          <p:nvPr>
            <p:custDataLst>
              <p:tags r:id="rId2"/>
            </p:custDataLst>
          </p:nvPr>
        </p:nvGraphicFramePr>
        <p:xfrm>
          <a:off x="259715" y="1597660"/>
          <a:ext cx="6189980" cy="4657090"/>
        </p:xfrm>
        <a:graphic>
          <a:graphicData uri="http://schemas.openxmlformats.org/drawingml/2006/table">
            <a:tbl>
              <a:tblPr/>
              <a:tblGrid>
                <a:gridCol w="1811655"/>
                <a:gridCol w="1063625"/>
                <a:gridCol w="1199515"/>
                <a:gridCol w="1106805"/>
                <a:gridCol w="1008380"/>
              </a:tblGrid>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参数</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样本</a:t>
                      </a:r>
                      <a:r>
                        <a:rPr lang="zh-CN" altLang="en-US"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Times New Roman" panose="02020603050405020304"/>
                        </a:rPr>
                        <a:t>1</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样本</a:t>
                      </a:r>
                      <a:r>
                        <a:rPr lang="zh-CN" altLang="en-US"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Times New Roman" panose="02020603050405020304"/>
                        </a:rPr>
                        <a:t>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样本</a:t>
                      </a:r>
                      <a:r>
                        <a:rPr lang="zh-CN" altLang="en-US" sz="1400">
                          <a:solidFill>
                            <a:srgbClr val="000000"/>
                          </a:solidFill>
                          <a:latin typeface="Times New Roman" panose="02020603050405020304"/>
                          <a:ea typeface="宋体" panose="02010600030101010101" pitchFamily="2" charset="-122"/>
                        </a:rPr>
                        <a:t> </a:t>
                      </a:r>
                      <a:r>
                        <a:rPr lang="en-US" altLang="zh-CN" sz="1400">
                          <a:solidFill>
                            <a:srgbClr val="000000"/>
                          </a:solidFill>
                          <a:latin typeface="Times New Roman" panose="02020603050405020304"/>
                          <a:ea typeface="Times New Roman" panose="02020603050405020304"/>
                        </a:rPr>
                        <a:t>3</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0040">
                <a:tc>
                  <a:txBody>
                    <a:bodyPr/>
                    <a:p>
                      <a:pPr marL="0" indent="0" algn="ctr">
                        <a:lnSpc>
                          <a:spcPct val="150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形态指标</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扭结纤维占比（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42.</a:t>
                      </a:r>
                      <a:r>
                        <a:rPr lang="en-US" altLang="zh-CN" sz="1400">
                          <a:solidFill>
                            <a:srgbClr val="000000"/>
                          </a:solidFill>
                          <a:latin typeface="Times New Roman" panose="02020603050405020304"/>
                          <a:ea typeface="Times New Roman" panose="02020603050405020304"/>
                        </a:rPr>
                        <a:t>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4</a:t>
                      </a:r>
                      <a:r>
                        <a:rPr lang="en-US" altLang="zh-CN" sz="1400">
                          <a:solidFill>
                            <a:srgbClr val="000000"/>
                          </a:solidFill>
                          <a:latin typeface="Times New Roman" panose="02020603050405020304"/>
                          <a:ea typeface="Times New Roman" panose="02020603050405020304"/>
                        </a:rPr>
                        <a:t>5.2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37.4</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089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分丝帚化长度比（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3.</a:t>
                      </a:r>
                      <a:r>
                        <a:rPr lang="en-US" altLang="zh-CN" sz="1400">
                          <a:solidFill>
                            <a:srgbClr val="000000"/>
                          </a:solidFill>
                          <a:latin typeface="Times New Roman" panose="02020603050405020304"/>
                          <a:ea typeface="Times New Roman" panose="02020603050405020304"/>
                        </a:rPr>
                        <a:t>75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2.76</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2.9</a:t>
                      </a:r>
                      <a:r>
                        <a:rPr lang="en-US" altLang="zh-CN" sz="1400">
                          <a:solidFill>
                            <a:srgbClr val="000000"/>
                          </a:solidFill>
                          <a:latin typeface="Times New Roman" panose="02020603050405020304"/>
                          <a:ea typeface="Times New Roman" panose="02020603050405020304"/>
                        </a:rPr>
                        <a:t>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40767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细小纤维面积比（</a:t>
                      </a:r>
                      <a:r>
                        <a:rPr lang="en-US" altLang="zh-CN" sz="1400">
                          <a:solidFill>
                            <a:srgbClr val="000000"/>
                          </a:solidFill>
                          <a:latin typeface="Times New Roman" panose="02020603050405020304"/>
                          <a:ea typeface="宋体" panose="02010600030101010101" pitchFamily="2" charset="-122"/>
                        </a:rPr>
                        <a:t>%</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9.8</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9.65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2.82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Times New Roman" panose="02020603050405020304"/>
                          <a:ea typeface="宋体" panose="02010600030101010101" pitchFamily="2" charset="-122"/>
                        </a:rPr>
                        <a:t>粗度</a:t>
                      </a:r>
                      <a:endParaRPr 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0.2193</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0.2163</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0.1312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物理强度</a:t>
                      </a:r>
                      <a:r>
                        <a:rPr lang="zh-CN" sz="1400" b="1">
                          <a:solidFill>
                            <a:srgbClr val="000000"/>
                          </a:solidFill>
                          <a:latin typeface="Times New Roman" panose="02020603050405020304"/>
                          <a:ea typeface="宋体" panose="02010600030101010101" pitchFamily="2" charset="-122"/>
                        </a:rPr>
                        <a:t>预测值</a:t>
                      </a:r>
                      <a:endParaRPr lang="zh-CN" sz="14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zh-CN" sz="1400">
                          <a:solidFill>
                            <a:srgbClr val="000000"/>
                          </a:solidFill>
                          <a:latin typeface="Times New Roman" panose="02020603050405020304"/>
                          <a:ea typeface="宋体" panose="02010600030101010101" pitchFamily="2" charset="-122"/>
                        </a:rPr>
                        <a:t>国标值</a:t>
                      </a:r>
                      <a:endParaRPr 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抗张强度（</a:t>
                      </a:r>
                      <a:r>
                        <a:rPr lang="en-US" altLang="zh-CN" sz="1400">
                          <a:solidFill>
                            <a:srgbClr val="000000"/>
                          </a:solidFill>
                          <a:latin typeface="Times New Roman" panose="02020603050405020304"/>
                          <a:ea typeface="宋体" panose="02010600030101010101" pitchFamily="2" charset="-122"/>
                        </a:rPr>
                        <a:t>kN/m</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1.91</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1.474</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1.82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1.5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耐破度（</a:t>
                      </a:r>
                      <a:r>
                        <a:rPr lang="en-US" altLang="zh-CN" sz="1400">
                          <a:solidFill>
                            <a:srgbClr val="000000"/>
                          </a:solidFill>
                          <a:latin typeface="Times New Roman" panose="02020603050405020304"/>
                          <a:ea typeface="宋体" panose="02010600030101010101" pitchFamily="2" charset="-122"/>
                        </a:rPr>
                        <a:t>kPa</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87.8</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77.8</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79.1</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75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撕裂度（</a:t>
                      </a:r>
                      <a:r>
                        <a:rPr lang="en-US" altLang="zh-CN" sz="1400">
                          <a:solidFill>
                            <a:srgbClr val="000000"/>
                          </a:solidFill>
                          <a:latin typeface="Times New Roman" panose="02020603050405020304"/>
                          <a:ea typeface="宋体" panose="02010600030101010101" pitchFamily="2" charset="-122"/>
                        </a:rPr>
                        <a:t>mN</a:t>
                      </a:r>
                      <a:r>
                        <a:rPr lang="zh-CN" sz="1400">
                          <a:solidFill>
                            <a:srgbClr val="000000"/>
                          </a:solidFill>
                          <a:latin typeface="宋体" panose="02010600030101010101" pitchFamily="2" charset="-122"/>
                          <a:ea typeface="宋体" panose="02010600030101010101" pitchFamily="2" charset="-122"/>
                        </a:rPr>
                        <a:t>）</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559</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573.1</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674.5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Times New Roman" panose="02020603050405020304"/>
                        </a:rPr>
                        <a:t>412.5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评分结果</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熵权法</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0.900</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a:t>
                      </a:r>
                      <a:r>
                        <a:rPr lang="en-US" altLang="zh-CN" sz="1400">
                          <a:solidFill>
                            <a:srgbClr val="000000"/>
                          </a:solidFill>
                          <a:latin typeface="Times New Roman" panose="02020603050405020304"/>
                          <a:ea typeface="Times New Roman" panose="02020603050405020304"/>
                        </a:rPr>
                        <a:t>135</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0.644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宋体" panose="02010600030101010101" pitchFamily="2" charset="-122"/>
                          <a:ea typeface="宋体" panose="02010600030101010101" pitchFamily="2" charset="-122"/>
                        </a:rPr>
                        <a:t>层次分析法</a:t>
                      </a:r>
                      <a:endParaRPr lang="zh-CN" sz="1400">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0.608</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a:t>
                      </a:r>
                      <a:r>
                        <a:rPr lang="en-US" altLang="zh-CN" sz="1400">
                          <a:solidFill>
                            <a:srgbClr val="000000"/>
                          </a:solidFill>
                          <a:latin typeface="Times New Roman" panose="02020603050405020304"/>
                          <a:ea typeface="Times New Roman" panose="02020603050405020304"/>
                        </a:rPr>
                        <a:t>562</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0.784</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 </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20040">
                <a:tc>
                  <a:txBody>
                    <a:bodyPr/>
                    <a:p>
                      <a:pPr marL="0" indent="0" algn="ctr">
                        <a:lnSpc>
                          <a:spcPct val="150000"/>
                        </a:lnSpc>
                        <a:spcBef>
                          <a:spcPct val="0"/>
                        </a:spcBef>
                        <a:spcAft>
                          <a:spcPct val="0"/>
                        </a:spcAft>
                      </a:pPr>
                      <a:r>
                        <a:rPr lang="zh-CN" sz="1400">
                          <a:solidFill>
                            <a:srgbClr val="000000"/>
                          </a:solidFill>
                          <a:latin typeface="Times New Roman" panose="02020603050405020304"/>
                          <a:ea typeface="宋体" panose="02010600030101010101" pitchFamily="2" charset="-122"/>
                        </a:rPr>
                        <a:t>混合法</a:t>
                      </a:r>
                      <a:r>
                        <a:rPr lang="zh-CN" altLang="en-US" sz="1400">
                          <a:solidFill>
                            <a:srgbClr val="000000"/>
                          </a:solidFill>
                          <a:latin typeface="Times New Roman" panose="02020603050405020304"/>
                          <a:ea typeface="宋体" panose="02010600030101010101" pitchFamily="2" charset="-122"/>
                        </a:rPr>
                        <a:t> </a:t>
                      </a:r>
                      <a:endParaRPr lang="zh-CN" altLang="en-US"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0.875</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a:t>
                      </a:r>
                      <a:r>
                        <a:rPr lang="en-US" altLang="zh-CN" sz="1400">
                          <a:solidFill>
                            <a:srgbClr val="000000"/>
                          </a:solidFill>
                          <a:latin typeface="Times New Roman" panose="02020603050405020304"/>
                          <a:ea typeface="Times New Roman" panose="02020603050405020304"/>
                        </a:rPr>
                        <a:t>276</a:t>
                      </a:r>
                      <a:endParaRPr lang="en-US" altLang="zh-CN" sz="14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Times New Roman" panose="02020603050405020304"/>
                          <a:ea typeface="宋体" panose="02010600030101010101" pitchFamily="2" charset="-122"/>
                        </a:rPr>
                        <a:t>0.832</a:t>
                      </a:r>
                      <a:endParaRPr lang="en-US" altLang="zh-CN"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endParaRPr sz="14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sp>
        <p:nvSpPr>
          <p:cNvPr id="7" name="矩形 6"/>
          <p:cNvSpPr/>
          <p:nvPr/>
        </p:nvSpPr>
        <p:spPr>
          <a:xfrm>
            <a:off x="2321560" y="5687060"/>
            <a:ext cx="552450" cy="21590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3481705" y="4096385"/>
            <a:ext cx="552450" cy="21590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0" y="0"/>
            <a:ext cx="4990011" cy="5918934"/>
          </a:xfrm>
          <a:prstGeom prst="triangle">
            <a:avLst>
              <a:gd name="adj" fmla="val 10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0" y="3657601"/>
            <a:ext cx="10972800" cy="3200400"/>
          </a:xfrm>
          <a:prstGeom prst="triangle">
            <a:avLst>
              <a:gd name="adj" fmla="val 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629871" y="1258976"/>
            <a:ext cx="6476275" cy="3685800"/>
            <a:chOff x="4603018" y="3207206"/>
            <a:chExt cx="4020218" cy="3685800"/>
          </a:xfrm>
        </p:grpSpPr>
        <p:sp>
          <p:nvSpPr>
            <p:cNvPr id="44" name="矩形 43"/>
            <p:cNvSpPr/>
            <p:nvPr/>
          </p:nvSpPr>
          <p:spPr>
            <a:xfrm>
              <a:off x="4603018" y="3207206"/>
              <a:ext cx="2985964" cy="707886"/>
            </a:xfrm>
            <a:prstGeom prst="rect">
              <a:avLst/>
            </a:prstGeom>
          </p:spPr>
          <p:txBody>
            <a:bodyPr wrap="square">
              <a:spAutoFit/>
            </a:bodyPr>
            <a:lstStyle/>
            <a:p>
              <a:pPr algn="ctr"/>
              <a:r>
                <a:rPr lang="zh-CN" altLang="en-US" sz="4000" b="1" dirty="0">
                  <a:solidFill>
                    <a:srgbClr val="024DA2"/>
                  </a:solidFill>
                  <a:latin typeface="微软雅黑" panose="020B0503020204020204" pitchFamily="34" charset="-122"/>
                  <a:ea typeface="微软雅黑" panose="020B0503020204020204" pitchFamily="34" charset="-122"/>
                </a:rPr>
                <a:t>目录</a:t>
              </a:r>
              <a:endParaRPr lang="zh-CN" altLang="en-US" sz="4000" b="1" dirty="0">
                <a:solidFill>
                  <a:srgbClr val="024DA2"/>
                </a:solidFill>
                <a:latin typeface="微软雅黑" panose="020B0503020204020204" pitchFamily="34" charset="-122"/>
                <a:ea typeface="微软雅黑" panose="020B0503020204020204" pitchFamily="34" charset="-122"/>
              </a:endParaRPr>
            </a:p>
          </p:txBody>
        </p:sp>
        <p:sp>
          <p:nvSpPr>
            <p:cNvPr id="45" name="矩形 44"/>
            <p:cNvSpPr/>
            <p:nvPr/>
          </p:nvSpPr>
          <p:spPr>
            <a:xfrm>
              <a:off x="5099241" y="4031696"/>
              <a:ext cx="3523995" cy="2861310"/>
            </a:xfrm>
            <a:prstGeom prst="rect">
              <a:avLst/>
            </a:prstGeom>
          </p:spPr>
          <p:txBody>
            <a:bodyPr wrap="square">
              <a:spAutoFit/>
            </a:bodyPr>
            <a:lstStyle/>
            <a:p>
              <a:pPr marL="514350" indent="-514350">
                <a:lnSpc>
                  <a:spcPct val="150000"/>
                </a:lnSpc>
                <a:buFont typeface="+mj-lt"/>
                <a:buAutoNum type="arabicPeriod"/>
              </a:pPr>
              <a:r>
                <a:rPr lang="zh-CN" altLang="en-US" sz="2000" b="1" dirty="0">
                  <a:solidFill>
                    <a:schemeClr val="tx1"/>
                  </a:solidFill>
                  <a:latin typeface="微软雅黑" panose="020B0503020204020204" pitchFamily="34" charset="-122"/>
                  <a:ea typeface="微软雅黑" panose="020B0503020204020204" pitchFamily="34" charset="-122"/>
                </a:rPr>
                <a:t>课题研究背景及意义</a:t>
              </a:r>
              <a:endParaRPr lang="en-US" altLang="zh-CN" sz="2000" b="1" dirty="0">
                <a:solidFill>
                  <a:schemeClr val="tx1"/>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再生纸浆循环回用纤维劣化研究</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再生纸张物理强度预测模型构建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再生纸浆再利用适用度评价体系构建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solidFill>
                    <a:srgbClr val="FF0000"/>
                  </a:solidFill>
                  <a:latin typeface="微软雅黑" panose="020B0503020204020204" pitchFamily="34" charset="-122"/>
                  <a:ea typeface="微软雅黑" panose="020B0503020204020204" pitchFamily="34" charset="-122"/>
                </a:rPr>
                <a:t>再生纸浆数据库构建</a:t>
              </a:r>
              <a:endParaRPr lang="zh-CN" altLang="en-US" sz="2000" b="1" dirty="0">
                <a:solidFill>
                  <a:srgbClr val="FF0000"/>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总结与展望</a:t>
              </a:r>
              <a:endParaRPr lang="en-US" altLang="zh-CN" sz="2000" b="1" dirty="0">
                <a:latin typeface="微软雅黑" panose="020B0503020204020204" pitchFamily="34" charset="-122"/>
                <a:ea typeface="微软雅黑" panose="020B0503020204020204" pitchFamily="34" charset="-122"/>
              </a:endParaRPr>
            </a:p>
          </p:txBody>
        </p:sp>
        <p:sp>
          <p:nvSpPr>
            <p:cNvPr id="47" name="等腰三角形 46"/>
            <p:cNvSpPr/>
            <p:nvPr/>
          </p:nvSpPr>
          <p:spPr>
            <a:xfrm flipV="1">
              <a:off x="6000750" y="3915093"/>
              <a:ext cx="190500" cy="16422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pic>
        <p:nvPicPr>
          <p:cNvPr id="11"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431" y="5355806"/>
            <a:ext cx="3042950" cy="12678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316"/>
    </mc:Choice>
    <mc:Fallback>
      <p:transition spd="slow" advTm="4316"/>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51765" y="1155700"/>
            <a:ext cx="5837555" cy="1568450"/>
          </a:xfrm>
          <a:prstGeom prst="rect">
            <a:avLst/>
          </a:prstGeom>
          <a:noFill/>
        </p:spPr>
        <p:txBody>
          <a:bodyPr wrap="square">
            <a:spAutoFit/>
          </a:bodyPr>
          <a:lstStyle/>
          <a:p>
            <a:pPr marL="285750" indent="-285750">
              <a:lnSpc>
                <a:spcPct val="150000"/>
              </a:lnSpc>
              <a:buFont typeface="Wingdings" panose="05000000000000000000" charset="0"/>
              <a:buChar char="Ø"/>
            </a:pPr>
            <a:r>
              <a:rPr lang="zh-CN" altLang="en-US" sz="1600" b="1" dirty="0">
                <a:solidFill>
                  <a:prstClr val="black"/>
                </a:solidFill>
                <a:latin typeface="+mn-ea"/>
                <a:cs typeface="Times New Roman" panose="02020603050405020304" pitchFamily="18" charset="0"/>
              </a:rPr>
              <a:t>结合</a:t>
            </a:r>
            <a:r>
              <a:rPr lang="en-US" altLang="zh-CN" sz="1600" b="1" dirty="0">
                <a:solidFill>
                  <a:prstClr val="black"/>
                </a:solidFill>
                <a:latin typeface="+mn-ea"/>
                <a:cs typeface="Times New Roman" panose="02020603050405020304" pitchFamily="18" charset="0"/>
              </a:rPr>
              <a:t>MySql</a:t>
            </a:r>
            <a:r>
              <a:rPr lang="zh-CN" altLang="en-US" sz="1600" b="1" dirty="0">
                <a:solidFill>
                  <a:prstClr val="black"/>
                </a:solidFill>
                <a:latin typeface="+mn-ea"/>
                <a:cs typeface="Times New Roman" panose="02020603050405020304" pitchFamily="18" charset="0"/>
              </a:rPr>
              <a:t>建立</a:t>
            </a:r>
            <a:r>
              <a:rPr lang="zh-CN" altLang="en-US" sz="1600" b="1" dirty="0">
                <a:solidFill>
                  <a:srgbClr val="FF0000"/>
                </a:solidFill>
                <a:latin typeface="+mn-ea"/>
                <a:cs typeface="Times New Roman" panose="02020603050405020304" pitchFamily="18" charset="0"/>
              </a:rPr>
              <a:t>再生纸浆数据库作为评价系统的基础；</a:t>
            </a:r>
            <a:endParaRPr lang="zh-CN" altLang="en-US" sz="1600" b="1" dirty="0">
              <a:solidFill>
                <a:srgbClr val="FF0000"/>
              </a:solidFill>
              <a:latin typeface="+mn-ea"/>
              <a:cs typeface="Times New Roman" panose="02020603050405020304" pitchFamily="18" charset="0"/>
            </a:endParaRPr>
          </a:p>
          <a:p>
            <a:pPr marL="285750" indent="-285750">
              <a:lnSpc>
                <a:spcPct val="150000"/>
              </a:lnSpc>
              <a:buFont typeface="Wingdings" panose="05000000000000000000" charset="0"/>
              <a:buChar char="Ø"/>
            </a:pPr>
            <a:endParaRPr lang="zh-CN" altLang="en-US" sz="1600" b="1" dirty="0">
              <a:solidFill>
                <a:srgbClr val="FF0000"/>
              </a:solidFill>
              <a:latin typeface="+mn-ea"/>
              <a:cs typeface="Times New Roman" panose="02020603050405020304" pitchFamily="18" charset="0"/>
            </a:endParaRPr>
          </a:p>
          <a:p>
            <a:pPr marL="285750" indent="-285750">
              <a:lnSpc>
                <a:spcPct val="150000"/>
              </a:lnSpc>
              <a:buFont typeface="Wingdings" panose="05000000000000000000" charset="0"/>
              <a:buChar char="Ø"/>
            </a:pPr>
            <a:r>
              <a:rPr lang="zh-CN" altLang="en-US" sz="1600" b="1" dirty="0">
                <a:solidFill>
                  <a:prstClr val="black"/>
                </a:solidFill>
                <a:latin typeface="+mn-ea"/>
                <a:cs typeface="Times New Roman" panose="02020603050405020304" pitchFamily="18" charset="0"/>
                <a:sym typeface="+mn-ea"/>
              </a:rPr>
              <a:t>结合</a:t>
            </a:r>
            <a:r>
              <a:rPr lang="zh-CN" altLang="en-US" sz="1600" b="1" dirty="0">
                <a:solidFill>
                  <a:schemeClr val="tx1"/>
                </a:solidFill>
                <a:latin typeface="+mn-ea"/>
                <a:cs typeface="Times New Roman" panose="02020603050405020304" pitchFamily="18" charset="0"/>
                <a:sym typeface="+mn-ea"/>
              </a:rPr>
              <a:t>数据库、预测模型、评价体系及</a:t>
            </a:r>
            <a:r>
              <a:rPr lang="en-US" altLang="zh-CN" sz="1600" b="1" dirty="0">
                <a:solidFill>
                  <a:schemeClr val="tx1"/>
                </a:solidFill>
                <a:latin typeface="+mn-ea"/>
                <a:cs typeface="Times New Roman" panose="02020603050405020304" pitchFamily="18" charset="0"/>
                <a:sym typeface="+mn-ea"/>
              </a:rPr>
              <a:t>python</a:t>
            </a:r>
            <a:r>
              <a:rPr lang="zh-CN" altLang="en-US" sz="1600" b="1" dirty="0">
                <a:solidFill>
                  <a:schemeClr val="tx1"/>
                </a:solidFill>
                <a:latin typeface="+mn-ea"/>
                <a:cs typeface="Times New Roman" panose="02020603050405020304" pitchFamily="18" charset="0"/>
                <a:sym typeface="+mn-ea"/>
              </a:rPr>
              <a:t>开发交互界面和自动化程序，</a:t>
            </a:r>
            <a:r>
              <a:rPr lang="zh-CN" altLang="en-US" sz="1600" b="1" dirty="0">
                <a:solidFill>
                  <a:srgbClr val="FF0000"/>
                </a:solidFill>
                <a:latin typeface="+mn-ea"/>
                <a:cs typeface="Times New Roman" panose="02020603050405020304" pitchFamily="18" charset="0"/>
                <a:sym typeface="+mn-ea"/>
              </a:rPr>
              <a:t>实现一键式再生纸浆再利用适用度量化评价。</a:t>
            </a:r>
            <a:endParaRPr lang="zh-CN" altLang="en-US" sz="1600" b="1" dirty="0">
              <a:solidFill>
                <a:prstClr val="black"/>
              </a:solidFill>
              <a:latin typeface="+mn-ea"/>
              <a:cs typeface="Times New Roman" panose="02020603050405020304" pitchFamily="18" charset="0"/>
            </a:endParaRPr>
          </a:p>
        </p:txBody>
      </p:sp>
      <p:sp>
        <p:nvSpPr>
          <p:cNvPr id="10" name="文本框 9"/>
          <p:cNvSpPr txBox="1"/>
          <p:nvPr/>
        </p:nvSpPr>
        <p:spPr>
          <a:xfrm>
            <a:off x="339153" y="4639"/>
            <a:ext cx="4147121" cy="460375"/>
          </a:xfrm>
          <a:prstGeom prst="rect">
            <a:avLst/>
          </a:prstGeom>
          <a:noFill/>
        </p:spPr>
        <p:txBody>
          <a:bodyPr wrap="square" rtlCol="0">
            <a:spAutoFit/>
          </a:bodyPr>
          <a:lstStyle/>
          <a:p>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5.1 研究路线</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 name="图片 5" descr="E:/11AA研究生学习/毕设/0411修改/技术路线/第五章.png第五章"/>
          <p:cNvPicPr>
            <a:picLocks noChangeAspect="1"/>
          </p:cNvPicPr>
          <p:nvPr/>
        </p:nvPicPr>
        <p:blipFill>
          <a:blip r:embed="rId1"/>
          <a:srcRect t="205" b="205"/>
          <a:stretch>
            <a:fillRect/>
          </a:stretch>
        </p:blipFill>
        <p:spPr>
          <a:xfrm>
            <a:off x="4175760" y="1282065"/>
            <a:ext cx="8066405" cy="4451985"/>
          </a:xfrm>
          <a:prstGeom prst="rect">
            <a:avLst/>
          </a:prstGeom>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326738" y="-5843"/>
            <a:ext cx="8660508"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5.1 </a:t>
            </a:r>
            <a:r>
              <a:rPr lang="zh-CN" altLang="en-US" sz="2400" b="1" dirty="0">
                <a:solidFill>
                  <a:schemeClr val="tx1">
                    <a:lumMod val="65000"/>
                    <a:lumOff val="35000"/>
                  </a:schemeClr>
                </a:solidFill>
                <a:latin typeface="+mn-ea"/>
              </a:rPr>
              <a:t>研究路线</a:t>
            </a:r>
            <a:r>
              <a:rPr lang="en-US" altLang="zh-CN" sz="2400" b="1" dirty="0">
                <a:solidFill>
                  <a:schemeClr val="tx1">
                    <a:lumMod val="65000"/>
                    <a:lumOff val="35000"/>
                  </a:schemeClr>
                </a:solidFill>
                <a:latin typeface="+mn-ea"/>
              </a:rPr>
              <a:t> </a:t>
            </a:r>
            <a:endParaRPr lang="en-US" altLang="zh-CN" sz="2400" b="1" dirty="0">
              <a:solidFill>
                <a:schemeClr val="tx1">
                  <a:lumMod val="65000"/>
                  <a:lumOff val="35000"/>
                </a:schemeClr>
              </a:solidFill>
              <a:latin typeface="+mn-ea"/>
            </a:endParaRPr>
          </a:p>
        </p:txBody>
      </p:sp>
      <p:sp>
        <p:nvSpPr>
          <p:cNvPr id="2" name="灯片编号占位符 1"/>
          <p:cNvSpPr>
            <a:spLocks noGrp="1"/>
          </p:cNvSpPr>
          <p:nvPr>
            <p:ph type="sldNum" sz="quarter" idx="12"/>
          </p:nvPr>
        </p:nvSpPr>
        <p:spPr>
          <a:xfrm>
            <a:off x="10712740" y="6372225"/>
            <a:ext cx="603737" cy="365125"/>
          </a:xfrm>
        </p:spPr>
        <p:txBody>
          <a:bodyPr/>
          <a:lstStyle/>
          <a:p>
            <a:fld id="{565CE74E-AB26-4998-AD42-012C4C1AD076}" type="slidenum">
              <a:rPr lang="zh-CN" altLang="en-US" sz="1800" b="1">
                <a:solidFill>
                  <a:srgbClr val="FF0000"/>
                </a:solidFill>
                <a:latin typeface="+mn-ea"/>
              </a:rPr>
            </a:fld>
            <a:endParaRPr lang="zh-CN" altLang="en-US" sz="1800" b="1" dirty="0">
              <a:solidFill>
                <a:srgbClr val="FF0000"/>
              </a:solidFill>
              <a:latin typeface="+mn-ea"/>
            </a:endParaRPr>
          </a:p>
        </p:txBody>
      </p:sp>
      <p:pic>
        <p:nvPicPr>
          <p:cNvPr id="7" name="图片 6" descr="计时器"/>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7466965" y="1252220"/>
            <a:ext cx="1105535" cy="1105535"/>
          </a:xfrm>
          <a:prstGeom prst="rect">
            <a:avLst/>
          </a:prstGeom>
        </p:spPr>
      </p:pic>
      <p:pic>
        <p:nvPicPr>
          <p:cNvPr id="9" name="图片 8" descr="写代码"/>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53460" y="3826510"/>
            <a:ext cx="2216150" cy="2216150"/>
          </a:xfrm>
          <a:prstGeom prst="rect">
            <a:avLst/>
          </a:prstGeom>
        </p:spPr>
      </p:pic>
      <p:pic>
        <p:nvPicPr>
          <p:cNvPr id="10" name="图片 9" descr="实验记录"/>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993140" y="2580640"/>
            <a:ext cx="914400" cy="914400"/>
          </a:xfrm>
          <a:prstGeom prst="rect">
            <a:avLst/>
          </a:prstGeom>
        </p:spPr>
      </p:pic>
      <p:cxnSp>
        <p:nvCxnSpPr>
          <p:cNvPr id="11" name="直接箭头连接符 10"/>
          <p:cNvCxnSpPr>
            <a:endCxn id="40" idx="1"/>
          </p:cNvCxnSpPr>
          <p:nvPr>
            <p:custDataLst>
              <p:tags r:id="rId9"/>
            </p:custDataLst>
          </p:nvPr>
        </p:nvCxnSpPr>
        <p:spPr>
          <a:xfrm flipV="1">
            <a:off x="2087880" y="2297430"/>
            <a:ext cx="1002665" cy="58483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13" name="文本框 12"/>
          <p:cNvSpPr txBox="1"/>
          <p:nvPr>
            <p:custDataLst>
              <p:tags r:id="rId10"/>
            </p:custDataLst>
          </p:nvPr>
        </p:nvSpPr>
        <p:spPr>
          <a:xfrm>
            <a:off x="993140" y="2165350"/>
            <a:ext cx="1351915"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实验数据</a:t>
            </a:r>
            <a:endParaRPr lang="zh-CN" altLang="en-US" sz="1600">
              <a:latin typeface="微软雅黑" panose="020B0503020204020204" pitchFamily="34" charset="-122"/>
              <a:ea typeface="微软雅黑" panose="020B0503020204020204" pitchFamily="34" charset="-122"/>
            </a:endParaRPr>
          </a:p>
        </p:txBody>
      </p:sp>
      <p:sp>
        <p:nvSpPr>
          <p:cNvPr id="14" name="文本框 13"/>
          <p:cNvSpPr txBox="1"/>
          <p:nvPr>
            <p:custDataLst>
              <p:tags r:id="rId11"/>
            </p:custDataLst>
          </p:nvPr>
        </p:nvSpPr>
        <p:spPr>
          <a:xfrm>
            <a:off x="3001010" y="1294765"/>
            <a:ext cx="2512060"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再生纸浆数据库</a:t>
            </a:r>
            <a:endParaRPr lang="zh-CN" altLang="en-US" sz="1600">
              <a:latin typeface="微软雅黑" panose="020B0503020204020204" pitchFamily="34" charset="-122"/>
              <a:ea typeface="微软雅黑" panose="020B0503020204020204" pitchFamily="34" charset="-122"/>
            </a:endParaRPr>
          </a:p>
        </p:txBody>
      </p:sp>
      <p:sp>
        <p:nvSpPr>
          <p:cNvPr id="15" name="文本框 14"/>
          <p:cNvSpPr txBox="1"/>
          <p:nvPr>
            <p:custDataLst>
              <p:tags r:id="rId12"/>
            </p:custDataLst>
          </p:nvPr>
        </p:nvSpPr>
        <p:spPr>
          <a:xfrm>
            <a:off x="7379970" y="2472055"/>
            <a:ext cx="1562735"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自动化</a:t>
            </a:r>
            <a:r>
              <a:rPr lang="zh-CN" altLang="en-US" sz="1600">
                <a:latin typeface="微软雅黑" panose="020B0503020204020204" pitchFamily="34" charset="-122"/>
                <a:ea typeface="微软雅黑" panose="020B0503020204020204" pitchFamily="34" charset="-122"/>
              </a:rPr>
              <a:t>小程序</a:t>
            </a:r>
            <a:endParaRPr lang="zh-CN" altLang="en-US" sz="1600">
              <a:latin typeface="微软雅黑" panose="020B0503020204020204" pitchFamily="34" charset="-122"/>
              <a:ea typeface="微软雅黑" panose="020B0503020204020204" pitchFamily="34" charset="-122"/>
            </a:endParaRPr>
          </a:p>
        </p:txBody>
      </p:sp>
      <p:sp>
        <p:nvSpPr>
          <p:cNvPr id="16" name="文本框 15"/>
          <p:cNvSpPr txBox="1"/>
          <p:nvPr>
            <p:custDataLst>
              <p:tags r:id="rId13"/>
            </p:custDataLst>
          </p:nvPr>
        </p:nvSpPr>
        <p:spPr>
          <a:xfrm>
            <a:off x="3553460" y="3682365"/>
            <a:ext cx="2463800"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预测模型、</a:t>
            </a:r>
            <a:r>
              <a:rPr lang="zh-CN" altLang="en-US" sz="1600">
                <a:latin typeface="微软雅黑" panose="020B0503020204020204" pitchFamily="34" charset="-122"/>
                <a:ea typeface="微软雅黑" panose="020B0503020204020204" pitchFamily="34" charset="-122"/>
              </a:rPr>
              <a:t>评价模型</a:t>
            </a:r>
            <a:endParaRPr lang="zh-CN" altLang="en-US" sz="1600">
              <a:latin typeface="微软雅黑" panose="020B0503020204020204" pitchFamily="34" charset="-122"/>
              <a:ea typeface="微软雅黑" panose="020B0503020204020204" pitchFamily="34" charset="-122"/>
            </a:endParaRPr>
          </a:p>
        </p:txBody>
      </p:sp>
      <p:pic>
        <p:nvPicPr>
          <p:cNvPr id="17" name="图片 16" descr="箭头"/>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rot="19140000">
            <a:off x="5540375" y="3340100"/>
            <a:ext cx="2512695" cy="1022350"/>
          </a:xfrm>
          <a:prstGeom prst="rect">
            <a:avLst/>
          </a:prstGeom>
        </p:spPr>
      </p:pic>
      <p:pic>
        <p:nvPicPr>
          <p:cNvPr id="35" name="图片 34" descr="箭头"/>
          <p:cNvPicPr>
            <a:picLocks noChangeAspect="1"/>
          </p:cNvPicPr>
          <p:nvPr>
            <p:custDataLst>
              <p:tags r:id="rId17"/>
            </p:custDataLst>
          </p:nvPr>
        </p:nvPicPr>
        <p:blipFill>
          <a:blip r:embed="rId15">
            <a:extLst>
              <a:ext uri="{96DAC541-7B7A-43D3-8B79-37D633B846F1}">
                <asvg:svgBlip xmlns:asvg="http://schemas.microsoft.com/office/drawing/2016/SVG/main" r:embed="rId16"/>
              </a:ext>
            </a:extLst>
          </a:blip>
          <a:stretch>
            <a:fillRect/>
          </a:stretch>
        </p:blipFill>
        <p:spPr>
          <a:xfrm>
            <a:off x="5157470" y="1318260"/>
            <a:ext cx="2016125" cy="1022350"/>
          </a:xfrm>
          <a:prstGeom prst="rect">
            <a:avLst/>
          </a:prstGeom>
        </p:spPr>
      </p:pic>
      <p:sp>
        <p:nvSpPr>
          <p:cNvPr id="36" name="文本框 35"/>
          <p:cNvSpPr txBox="1"/>
          <p:nvPr>
            <p:custDataLst>
              <p:tags r:id="rId18"/>
            </p:custDataLst>
          </p:nvPr>
        </p:nvSpPr>
        <p:spPr>
          <a:xfrm>
            <a:off x="5370195" y="1318260"/>
            <a:ext cx="2014855"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检测数据输入</a:t>
            </a:r>
            <a:endParaRPr lang="zh-CN" altLang="en-US" sz="1600">
              <a:latin typeface="微软雅黑" panose="020B0503020204020204" pitchFamily="34" charset="-122"/>
              <a:ea typeface="微软雅黑" panose="020B0503020204020204" pitchFamily="34" charset="-122"/>
            </a:endParaRPr>
          </a:p>
        </p:txBody>
      </p:sp>
      <p:sp>
        <p:nvSpPr>
          <p:cNvPr id="37" name="文本框 36"/>
          <p:cNvSpPr txBox="1"/>
          <p:nvPr>
            <p:custDataLst>
              <p:tags r:id="rId19"/>
            </p:custDataLst>
          </p:nvPr>
        </p:nvSpPr>
        <p:spPr>
          <a:xfrm rot="19020000">
            <a:off x="6282690" y="3835400"/>
            <a:ext cx="2014855"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调用</a:t>
            </a:r>
            <a:r>
              <a:rPr lang="zh-CN" altLang="en-US" sz="1600">
                <a:latin typeface="微软雅黑" panose="020B0503020204020204" pitchFamily="34" charset="-122"/>
                <a:ea typeface="微软雅黑" panose="020B0503020204020204" pitchFamily="34" charset="-122"/>
              </a:rPr>
              <a:t>模型</a:t>
            </a:r>
            <a:endParaRPr lang="zh-CN" altLang="en-US" sz="1600">
              <a:latin typeface="微软雅黑" panose="020B0503020204020204" pitchFamily="34" charset="-122"/>
              <a:ea typeface="微软雅黑" panose="020B0503020204020204" pitchFamily="34" charset="-122"/>
            </a:endParaRPr>
          </a:p>
        </p:txBody>
      </p:sp>
      <p:sp>
        <p:nvSpPr>
          <p:cNvPr id="38" name="文本框 37"/>
          <p:cNvSpPr txBox="1"/>
          <p:nvPr>
            <p:custDataLst>
              <p:tags r:id="rId20"/>
            </p:custDataLst>
          </p:nvPr>
        </p:nvSpPr>
        <p:spPr>
          <a:xfrm rot="19260000">
            <a:off x="6040120" y="3065145"/>
            <a:ext cx="2014855"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返回</a:t>
            </a:r>
            <a:r>
              <a:rPr lang="zh-CN" altLang="en-US" sz="1600">
                <a:latin typeface="微软雅黑" panose="020B0503020204020204" pitchFamily="34" charset="-122"/>
                <a:ea typeface="微软雅黑" panose="020B0503020204020204" pitchFamily="34" charset="-122"/>
              </a:rPr>
              <a:t>结果</a:t>
            </a:r>
            <a:endParaRPr lang="zh-CN" altLang="en-US" sz="1600">
              <a:latin typeface="微软雅黑" panose="020B0503020204020204" pitchFamily="34" charset="-122"/>
              <a:ea typeface="微软雅黑" panose="020B0503020204020204" pitchFamily="34" charset="-122"/>
            </a:endParaRPr>
          </a:p>
        </p:txBody>
      </p:sp>
      <p:sp>
        <p:nvSpPr>
          <p:cNvPr id="39" name="文本框 38"/>
          <p:cNvSpPr txBox="1"/>
          <p:nvPr>
            <p:custDataLst>
              <p:tags r:id="rId21"/>
            </p:custDataLst>
          </p:nvPr>
        </p:nvSpPr>
        <p:spPr>
          <a:xfrm>
            <a:off x="4760595" y="2134870"/>
            <a:ext cx="2014855" cy="337185"/>
          </a:xfrm>
          <a:prstGeom prst="rect">
            <a:avLst/>
          </a:prstGeom>
        </p:spPr>
        <p:txBody>
          <a:bodyPr wrap="square">
            <a:spAutoFit/>
          </a:bodyPr>
          <a:p>
            <a:pPr indent="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将结果储存于</a:t>
            </a:r>
            <a:r>
              <a:rPr lang="zh-CN" altLang="en-US" sz="1600">
                <a:latin typeface="微软雅黑" panose="020B0503020204020204" pitchFamily="34" charset="-122"/>
                <a:ea typeface="微软雅黑" panose="020B0503020204020204" pitchFamily="34" charset="-122"/>
              </a:rPr>
              <a:t>数据库</a:t>
            </a:r>
            <a:endParaRPr lang="zh-CN" altLang="en-US" sz="1600">
              <a:latin typeface="微软雅黑" panose="020B0503020204020204" pitchFamily="34" charset="-122"/>
              <a:ea typeface="微软雅黑" panose="020B0503020204020204" pitchFamily="34" charset="-122"/>
            </a:endParaRPr>
          </a:p>
        </p:txBody>
      </p:sp>
      <p:sp>
        <p:nvSpPr>
          <p:cNvPr id="41" name="文本框 40"/>
          <p:cNvSpPr txBox="1"/>
          <p:nvPr>
            <p:custDataLst>
              <p:tags r:id="rId22"/>
            </p:custDataLst>
          </p:nvPr>
        </p:nvSpPr>
        <p:spPr>
          <a:xfrm>
            <a:off x="7800975" y="3346450"/>
            <a:ext cx="4138295" cy="1315085"/>
          </a:xfrm>
          <a:prstGeom prst="rect">
            <a:avLst/>
          </a:prstGeom>
          <a:noFill/>
        </p:spPr>
        <p:txBody>
          <a:bodyPr wrap="square" rtlCol="0" anchor="t">
            <a:noAutofit/>
          </a:bodyPr>
          <a:p>
            <a:pPr algn="l">
              <a:lnSpc>
                <a:spcPct val="150000"/>
              </a:lnSpc>
              <a:spcBef>
                <a:spcPct val="0"/>
              </a:spcBef>
              <a:spcAft>
                <a:spcPct val="0"/>
              </a:spcAft>
            </a:pPr>
            <a:r>
              <a:rPr lang="zh-CN" altLang="en-US"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使用</a:t>
            </a:r>
            <a:r>
              <a:rPr lang="en-US" altLang="zh-CN"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python</a:t>
            </a:r>
            <a:r>
              <a:rPr lang="zh-CN" altLang="en-US"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建立自动化小程序：当程序检测到数据库中储存了新数据自动调用模型进行预测评分，并把预测结果和评分结果储存于</a:t>
            </a:r>
            <a:r>
              <a:rPr lang="zh-CN" altLang="en-US"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rPr>
              <a:t>数据库中。</a:t>
            </a:r>
            <a:endParaRPr lang="zh-CN" altLang="en-US"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42" name="图片 41" descr="系统电商"/>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270885" y="1726565"/>
            <a:ext cx="1377315" cy="1377315"/>
          </a:xfrm>
          <a:prstGeom prst="rect">
            <a:avLst/>
          </a:prstGeom>
        </p:spPr>
      </p:pic>
      <p:sp>
        <p:nvSpPr>
          <p:cNvPr id="43" name="文本框 42"/>
          <p:cNvSpPr txBox="1"/>
          <p:nvPr/>
        </p:nvSpPr>
        <p:spPr>
          <a:xfrm>
            <a:off x="2667635" y="666750"/>
            <a:ext cx="6096000" cy="337185"/>
          </a:xfrm>
          <a:prstGeom prst="rect">
            <a:avLst/>
          </a:prstGeom>
          <a:noFill/>
        </p:spPr>
        <p:txBody>
          <a:bodyPr wrap="square" rtlCol="0" anchor="t">
            <a:spAutoFit/>
          </a:bodyPr>
          <a:p>
            <a:r>
              <a:rPr lang="en-US" altLang="zh-CN" sz="1600" b="1" dirty="0">
                <a:solidFill>
                  <a:srgbClr val="FF0000"/>
                </a:solidFill>
                <a:latin typeface="+mn-ea"/>
                <a:cs typeface="Times New Roman" panose="02020603050405020304" pitchFamily="18" charset="0"/>
                <a:sym typeface="+mn-ea"/>
              </a:rPr>
              <a:t>“</a:t>
            </a:r>
            <a:r>
              <a:rPr lang="zh-CN" altLang="en-US" sz="1600" b="1" dirty="0">
                <a:solidFill>
                  <a:srgbClr val="FF0000"/>
                </a:solidFill>
                <a:latin typeface="+mn-ea"/>
                <a:cs typeface="Times New Roman" panose="02020603050405020304" pitchFamily="18" charset="0"/>
                <a:sym typeface="+mn-ea"/>
              </a:rPr>
              <a:t>纤维参数</a:t>
            </a:r>
            <a:r>
              <a:rPr lang="en-US" altLang="en-US" sz="1600" b="1" dirty="0">
                <a:solidFill>
                  <a:srgbClr val="FF0000"/>
                </a:solidFill>
                <a:latin typeface="+mn-ea"/>
                <a:cs typeface="Times New Roman" panose="02020603050405020304" pitchFamily="18" charset="0"/>
                <a:sym typeface="+mn-ea"/>
              </a:rPr>
              <a:t>→</a:t>
            </a:r>
            <a:r>
              <a:rPr lang="zh-CN" altLang="en-US" sz="1600" b="1" dirty="0">
                <a:solidFill>
                  <a:srgbClr val="FF0000"/>
                </a:solidFill>
                <a:latin typeface="+mn-ea"/>
                <a:cs typeface="Times New Roman" panose="02020603050405020304" pitchFamily="18" charset="0"/>
                <a:sym typeface="+mn-ea"/>
              </a:rPr>
              <a:t>物理强度预测</a:t>
            </a:r>
            <a:r>
              <a:rPr lang="en-US" altLang="en-US" sz="1600" b="1" dirty="0">
                <a:solidFill>
                  <a:srgbClr val="FF0000"/>
                </a:solidFill>
                <a:latin typeface="+mn-ea"/>
                <a:cs typeface="Times New Roman" panose="02020603050405020304" pitchFamily="18" charset="0"/>
                <a:sym typeface="+mn-ea"/>
              </a:rPr>
              <a:t>→</a:t>
            </a:r>
            <a:r>
              <a:rPr lang="zh-CN" altLang="en-US" sz="1600" b="1" dirty="0">
                <a:solidFill>
                  <a:srgbClr val="FF0000"/>
                </a:solidFill>
                <a:latin typeface="+mn-ea"/>
                <a:cs typeface="Times New Roman" panose="02020603050405020304" pitchFamily="18" charset="0"/>
                <a:sym typeface="+mn-ea"/>
              </a:rPr>
              <a:t>再利用适用度评分</a:t>
            </a:r>
            <a:r>
              <a:rPr lang="en-US" altLang="zh-CN" sz="1600" b="1" dirty="0">
                <a:solidFill>
                  <a:srgbClr val="FF0000"/>
                </a:solidFill>
                <a:latin typeface="+mn-ea"/>
                <a:cs typeface="Times New Roman" panose="02020603050405020304" pitchFamily="18" charset="0"/>
                <a:sym typeface="+mn-ea"/>
              </a:rPr>
              <a:t>”</a:t>
            </a:r>
            <a:r>
              <a:rPr lang="zh-CN" altLang="en-US" sz="1600" b="1" dirty="0">
                <a:solidFill>
                  <a:srgbClr val="FF0000"/>
                </a:solidFill>
                <a:latin typeface="+mn-ea"/>
                <a:cs typeface="Times New Roman" panose="02020603050405020304" pitchFamily="18" charset="0"/>
                <a:sym typeface="+mn-ea"/>
              </a:rPr>
              <a:t>的数据链路</a:t>
            </a:r>
            <a:endParaRPr lang="zh-CN" altLang="en-US" sz="1600" b="1" dirty="0">
              <a:solidFill>
                <a:srgbClr val="FF0000"/>
              </a:solidFill>
              <a:latin typeface="+mn-ea"/>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326738" y="-5843"/>
            <a:ext cx="8660508"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5.2 </a:t>
            </a:r>
            <a:r>
              <a:rPr lang="zh-CN" altLang="en-US" sz="2400" b="1" dirty="0">
                <a:solidFill>
                  <a:schemeClr val="tx1">
                    <a:lumMod val="65000"/>
                    <a:lumOff val="35000"/>
                  </a:schemeClr>
                </a:solidFill>
                <a:latin typeface="+mn-ea"/>
              </a:rPr>
              <a:t>数据库</a:t>
            </a:r>
            <a:r>
              <a:rPr lang="zh-CN" altLang="en-US" sz="2400" b="1" dirty="0">
                <a:solidFill>
                  <a:schemeClr val="tx1">
                    <a:lumMod val="65000"/>
                    <a:lumOff val="35000"/>
                  </a:schemeClr>
                </a:solidFill>
                <a:latin typeface="+mn-ea"/>
              </a:rPr>
              <a:t>设计</a:t>
            </a:r>
            <a:endParaRPr lang="zh-CN" altLang="en-US" sz="2400" b="1" dirty="0">
              <a:solidFill>
                <a:schemeClr val="tx1">
                  <a:lumMod val="65000"/>
                  <a:lumOff val="35000"/>
                </a:schemeClr>
              </a:solidFill>
              <a:latin typeface="+mn-ea"/>
            </a:endParaRPr>
          </a:p>
        </p:txBody>
      </p:sp>
      <p:sp>
        <p:nvSpPr>
          <p:cNvPr id="5" name="文本框 4"/>
          <p:cNvSpPr txBox="1"/>
          <p:nvPr/>
        </p:nvSpPr>
        <p:spPr>
          <a:xfrm>
            <a:off x="238760" y="1673225"/>
            <a:ext cx="5971540" cy="4523105"/>
          </a:xfrm>
          <a:prstGeom prst="rect">
            <a:avLst/>
          </a:prstGeom>
          <a:noFill/>
        </p:spPr>
        <p:txBody>
          <a:bodyPr wrap="square" rtlCol="0">
            <a:spAutoFit/>
          </a:bodyPr>
          <a:lstStyle/>
          <a:p>
            <a:pPr>
              <a:lnSpc>
                <a:spcPct val="150000"/>
              </a:lnSpc>
            </a:pPr>
            <a:r>
              <a:rPr lang="en-US" altLang="zh-CN" sz="1600" b="1" dirty="0">
                <a:latin typeface="+mn-ea"/>
              </a:rPr>
              <a:t>1.</a:t>
            </a:r>
            <a:r>
              <a:rPr lang="zh-CN" altLang="en-US" sz="1600" b="1" dirty="0">
                <a:latin typeface="+mn-ea"/>
              </a:rPr>
              <a:t>全流程数据整合：数据库应覆盖从纤维分析结果参数、物理强度预测到再利用适用度评分的完整链路，</a:t>
            </a:r>
            <a:r>
              <a:rPr lang="zh-CN" altLang="en-US" sz="1600" b="1" dirty="0">
                <a:solidFill>
                  <a:srgbClr val="FF0000"/>
                </a:solidFill>
                <a:latin typeface="+mn-ea"/>
              </a:rPr>
              <a:t>将各个环节的数据进行有机整合</a:t>
            </a:r>
            <a:r>
              <a:rPr lang="zh-CN" altLang="en-US" sz="1600" b="1" dirty="0">
                <a:latin typeface="+mn-ea"/>
              </a:rPr>
              <a:t>；</a:t>
            </a:r>
            <a:endParaRPr lang="zh-CN" altLang="en-US" sz="1600" b="1" dirty="0">
              <a:latin typeface="+mn-ea"/>
            </a:endParaRPr>
          </a:p>
          <a:p>
            <a:pPr>
              <a:lnSpc>
                <a:spcPct val="150000"/>
              </a:lnSpc>
            </a:pPr>
            <a:r>
              <a:rPr lang="en-US" altLang="zh-CN" sz="1600" b="1" dirty="0">
                <a:latin typeface="+mn-ea"/>
              </a:rPr>
              <a:t>2.</a:t>
            </a:r>
            <a:r>
              <a:rPr lang="zh-CN" altLang="en-US" sz="1600" b="1" dirty="0">
                <a:latin typeface="+mn-ea"/>
              </a:rPr>
              <a:t>高效模型调用：具有快捷方便且强大的模型调用功能，</a:t>
            </a:r>
            <a:r>
              <a:rPr lang="zh-CN" altLang="en-US" sz="1600" b="1" dirty="0">
                <a:solidFill>
                  <a:srgbClr val="FF0000"/>
                </a:solidFill>
                <a:latin typeface="+mn-ea"/>
              </a:rPr>
              <a:t>有效提高再生纸浆再利用适用度检测的效率</a:t>
            </a:r>
            <a:r>
              <a:rPr lang="zh-CN" altLang="en-US" sz="1600" b="1" dirty="0">
                <a:latin typeface="+mn-ea"/>
              </a:rPr>
              <a:t>；</a:t>
            </a:r>
            <a:endParaRPr lang="zh-CN" altLang="en-US" sz="1600" b="1" dirty="0">
              <a:latin typeface="+mn-ea"/>
            </a:endParaRPr>
          </a:p>
          <a:p>
            <a:pPr>
              <a:lnSpc>
                <a:spcPct val="150000"/>
              </a:lnSpc>
            </a:pPr>
            <a:r>
              <a:rPr lang="en-US" altLang="zh-CN" sz="1600" b="1" dirty="0">
                <a:latin typeface="+mn-ea"/>
              </a:rPr>
              <a:t>3.精准追溯：通过数据库批次编号关联数据，</a:t>
            </a:r>
            <a:r>
              <a:rPr lang="en-US" altLang="zh-CN" sz="1600" b="1" dirty="0">
                <a:solidFill>
                  <a:srgbClr val="FF0000"/>
                </a:solidFill>
                <a:latin typeface="+mn-ea"/>
              </a:rPr>
              <a:t>快速定位符合条件的一系列参数</a:t>
            </a:r>
            <a:r>
              <a:rPr lang="zh-CN" altLang="en-US" sz="1600" b="1" dirty="0">
                <a:latin typeface="+mn-ea"/>
              </a:rPr>
              <a:t>；</a:t>
            </a:r>
            <a:endParaRPr lang="zh-CN" altLang="en-US" sz="1600" b="1" dirty="0">
              <a:latin typeface="+mn-ea"/>
            </a:endParaRPr>
          </a:p>
          <a:p>
            <a:pPr>
              <a:lnSpc>
                <a:spcPct val="150000"/>
              </a:lnSpc>
            </a:pPr>
            <a:r>
              <a:rPr lang="en-US" altLang="zh-CN" sz="1600" b="1" dirty="0">
                <a:latin typeface="+mn-ea"/>
              </a:rPr>
              <a:t>4.</a:t>
            </a:r>
            <a:r>
              <a:rPr lang="zh-CN" altLang="en-US" sz="1600" b="1" dirty="0">
                <a:latin typeface="+mn-ea"/>
              </a:rPr>
              <a:t>数据安全性：通过对使用角色的设定，设置不同角色对数据库功能权限，既</a:t>
            </a:r>
            <a:r>
              <a:rPr lang="zh-CN" altLang="en-US" sz="1600" b="1" dirty="0">
                <a:solidFill>
                  <a:srgbClr val="FF0000"/>
                </a:solidFill>
                <a:latin typeface="+mn-ea"/>
              </a:rPr>
              <a:t>保证了数据的安全性，又满足了不同使用角色对系统的管理</a:t>
            </a:r>
            <a:r>
              <a:rPr lang="zh-CN" altLang="en-US" sz="1600" b="1" dirty="0">
                <a:latin typeface="+mn-ea"/>
              </a:rPr>
              <a:t>；</a:t>
            </a:r>
            <a:endParaRPr lang="zh-CN" altLang="en-US" sz="1600" b="1" dirty="0">
              <a:latin typeface="+mn-ea"/>
            </a:endParaRPr>
          </a:p>
          <a:p>
            <a:pPr>
              <a:lnSpc>
                <a:spcPct val="150000"/>
              </a:lnSpc>
            </a:pPr>
            <a:r>
              <a:rPr lang="en-US" altLang="zh-CN" sz="1600" b="1" dirty="0">
                <a:latin typeface="+mn-ea"/>
              </a:rPr>
              <a:t>5.</a:t>
            </a:r>
            <a:r>
              <a:rPr lang="zh-CN" altLang="en-US" sz="1600" b="1" dirty="0">
                <a:latin typeface="+mn-ea"/>
              </a:rPr>
              <a:t>可拓展性：随着时代技术的不断发展和研究的深入，未来可能会出现</a:t>
            </a:r>
            <a:r>
              <a:rPr lang="zh-CN" altLang="en-US" sz="1600" b="1" dirty="0">
                <a:solidFill>
                  <a:srgbClr val="FF0000"/>
                </a:solidFill>
                <a:latin typeface="+mn-ea"/>
              </a:rPr>
              <a:t>新的纸浆原料、检测参数和评价方法</a:t>
            </a:r>
            <a:r>
              <a:rPr lang="zh-CN" altLang="en-US" sz="1600" b="1" dirty="0">
                <a:latin typeface="+mn-ea"/>
              </a:rPr>
              <a:t>。</a:t>
            </a:r>
            <a:endParaRPr lang="zh-CN" altLang="en-US" sz="1600" b="1" dirty="0">
              <a:latin typeface="+mn-ea"/>
            </a:endParaRPr>
          </a:p>
        </p:txBody>
      </p:sp>
      <p:pic>
        <p:nvPicPr>
          <p:cNvPr id="3" name="图片 9" descr="第五章数据库构架"/>
          <p:cNvPicPr>
            <a:picLocks noChangeAspect="1"/>
          </p:cNvPicPr>
          <p:nvPr/>
        </p:nvPicPr>
        <p:blipFill>
          <a:blip r:embed="rId1"/>
          <a:srcRect r="24835"/>
          <a:stretch>
            <a:fillRect/>
          </a:stretch>
        </p:blipFill>
        <p:spPr>
          <a:xfrm>
            <a:off x="5974715" y="1419225"/>
            <a:ext cx="6046470" cy="4243070"/>
          </a:xfrm>
          <a:prstGeom prst="rect">
            <a:avLst/>
          </a:prstGeom>
        </p:spPr>
      </p:pic>
      <p:sp>
        <p:nvSpPr>
          <p:cNvPr id="11" name="文本框 10"/>
          <p:cNvSpPr txBox="1"/>
          <p:nvPr/>
        </p:nvSpPr>
        <p:spPr>
          <a:xfrm>
            <a:off x="246380" y="727710"/>
            <a:ext cx="10146030" cy="829945"/>
          </a:xfrm>
          <a:prstGeom prst="rect">
            <a:avLst/>
          </a:prstGeom>
          <a:noFill/>
        </p:spPr>
        <p:txBody>
          <a:bodyPr wrap="square" rtlCol="0" anchor="t">
            <a:spAutoFit/>
          </a:bodyPr>
          <a:p>
            <a:pPr>
              <a:lnSpc>
                <a:spcPct val="150000"/>
              </a:lnSpc>
            </a:pPr>
            <a:r>
              <a:rPr lang="zh-CN" altLang="en-US" sz="1600" b="1" dirty="0">
                <a:latin typeface="+mn-ea"/>
                <a:sym typeface="+mn-ea"/>
              </a:rPr>
              <a:t>再生纸浆作为造纸行业的重要原料，其质量检测的精准性与高效性影响着企业的经济效益和行业的可持续发展性。</a:t>
            </a:r>
            <a:endParaRPr lang="zh-CN" altLang="en-US" sz="1600" b="1" dirty="0">
              <a:latin typeface="+mn-ea"/>
            </a:endParaRPr>
          </a:p>
          <a:p>
            <a:pPr>
              <a:lnSpc>
                <a:spcPct val="150000"/>
              </a:lnSpc>
            </a:pPr>
            <a:r>
              <a:rPr lang="zh-CN" altLang="en-US" sz="1600" b="1" dirty="0">
                <a:latin typeface="+mn-ea"/>
                <a:sym typeface="+mn-ea"/>
              </a:rPr>
              <a:t>构建再生纸浆数据库需满足：</a:t>
            </a:r>
            <a:endParaRPr lang="zh-CN" altLang="en-US" sz="1600" b="1" dirty="0">
              <a:latin typeface="+mn-ea"/>
              <a:sym typeface="+mn-ea"/>
            </a:endParaRPr>
          </a:p>
        </p:txBody>
      </p:sp>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等腰三角形 5"/>
          <p:cNvSpPr/>
          <p:nvPr/>
        </p:nvSpPr>
        <p:spPr>
          <a:xfrm rot="5400000">
            <a:off x="-33542" y="31419"/>
            <a:ext cx="393822" cy="326738"/>
          </a:xfrm>
          <a:prstGeom prst="triangle">
            <a:avLst>
              <a:gd name="adj" fmla="val 46142"/>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p:cNvSpPr txBox="1"/>
          <p:nvPr/>
        </p:nvSpPr>
        <p:spPr>
          <a:xfrm>
            <a:off x="326738" y="-5843"/>
            <a:ext cx="8660508" cy="460375"/>
          </a:xfrm>
          <a:prstGeom prst="rect">
            <a:avLst/>
          </a:prstGeom>
          <a:noFill/>
        </p:spPr>
        <p:txBody>
          <a:bodyPr wrap="square" rtlCol="0">
            <a:spAutoFit/>
          </a:bodyPr>
          <a:lstStyle/>
          <a:p>
            <a:r>
              <a:rPr lang="en-US" altLang="zh-CN" sz="2400" b="1" dirty="0">
                <a:solidFill>
                  <a:schemeClr val="tx1">
                    <a:lumMod val="65000"/>
                    <a:lumOff val="35000"/>
                  </a:schemeClr>
                </a:solidFill>
                <a:latin typeface="+mn-ea"/>
              </a:rPr>
              <a:t>5.3 </a:t>
            </a:r>
            <a:r>
              <a:rPr lang="zh-CN" altLang="en-US" sz="2400" b="1" dirty="0">
                <a:solidFill>
                  <a:schemeClr val="tx1">
                    <a:lumMod val="65000"/>
                    <a:lumOff val="35000"/>
                  </a:schemeClr>
                </a:solidFill>
                <a:latin typeface="+mn-ea"/>
              </a:rPr>
              <a:t>再生纸浆再利用适用度评价系统的构建</a:t>
            </a:r>
            <a:endParaRPr lang="zh-CN" altLang="en-US" sz="2400" b="1" dirty="0">
              <a:solidFill>
                <a:schemeClr val="tx1">
                  <a:lumMod val="65000"/>
                  <a:lumOff val="35000"/>
                </a:schemeClr>
              </a:solidFill>
              <a:latin typeface="+mn-ea"/>
            </a:endParaRPr>
          </a:p>
        </p:txBody>
      </p:sp>
      <p:sp>
        <p:nvSpPr>
          <p:cNvPr id="5" name="文本框 4"/>
          <p:cNvSpPr txBox="1"/>
          <p:nvPr/>
        </p:nvSpPr>
        <p:spPr>
          <a:xfrm>
            <a:off x="238760" y="1983740"/>
            <a:ext cx="5971540" cy="4330700"/>
          </a:xfrm>
          <a:prstGeom prst="rect">
            <a:avLst/>
          </a:prstGeom>
          <a:noFill/>
        </p:spPr>
        <p:txBody>
          <a:bodyPr wrap="square" rtlCol="0">
            <a:noAutofit/>
          </a:bodyPr>
          <a:lstStyle/>
          <a:p>
            <a:pPr>
              <a:lnSpc>
                <a:spcPct val="150000"/>
              </a:lnSpc>
            </a:pPr>
            <a:r>
              <a:rPr lang="en-US" altLang="zh-CN" sz="1600" b="1" dirty="0">
                <a:latin typeface="+mn-ea"/>
              </a:rPr>
              <a:t>1.</a:t>
            </a:r>
            <a:r>
              <a:rPr lang="zh-CN" altLang="en-US" sz="1600" b="1" dirty="0">
                <a:latin typeface="+mn-ea"/>
              </a:rPr>
              <a:t>数据层：</a:t>
            </a:r>
            <a:r>
              <a:rPr lang="zh-CN" altLang="en-US" sz="1600" b="1" dirty="0">
                <a:solidFill>
                  <a:srgbClr val="FF0000"/>
                </a:solidFill>
                <a:latin typeface="+mn-ea"/>
              </a:rPr>
              <a:t>以</a:t>
            </a:r>
            <a:r>
              <a:rPr lang="en-US" altLang="zh-CN" sz="1600" b="1" dirty="0">
                <a:solidFill>
                  <a:srgbClr val="FF0000"/>
                </a:solidFill>
                <a:latin typeface="+mn-ea"/>
              </a:rPr>
              <a:t>MySQL</a:t>
            </a:r>
            <a:r>
              <a:rPr lang="zh-CN" altLang="en-US" sz="1600" b="1" dirty="0">
                <a:solidFill>
                  <a:srgbClr val="FF0000"/>
                </a:solidFill>
                <a:latin typeface="+mn-ea"/>
              </a:rPr>
              <a:t>再生纸浆数据库为核心</a:t>
            </a:r>
            <a:r>
              <a:rPr lang="zh-CN" altLang="en-US" sz="1600" b="1" dirty="0">
                <a:latin typeface="+mn-ea"/>
              </a:rPr>
              <a:t>，存储纤维形态参数、物理强度预测值及再利用适用度评分结果；</a:t>
            </a:r>
            <a:endParaRPr lang="zh-CN" altLang="en-US" sz="1600" b="1" dirty="0">
              <a:latin typeface="+mn-ea"/>
            </a:endParaRPr>
          </a:p>
          <a:p>
            <a:pPr>
              <a:lnSpc>
                <a:spcPct val="150000"/>
              </a:lnSpc>
            </a:pPr>
            <a:endParaRPr lang="zh-CN" altLang="en-US" sz="1600" b="1" dirty="0">
              <a:latin typeface="+mn-ea"/>
            </a:endParaRPr>
          </a:p>
          <a:p>
            <a:pPr>
              <a:lnSpc>
                <a:spcPct val="150000"/>
              </a:lnSpc>
            </a:pPr>
            <a:r>
              <a:rPr lang="en-US" altLang="zh-CN" sz="1600" b="1" dirty="0">
                <a:latin typeface="+mn-ea"/>
              </a:rPr>
              <a:t>2.</a:t>
            </a:r>
            <a:r>
              <a:rPr lang="zh-CN" altLang="en-US" sz="1600" b="1" dirty="0">
                <a:latin typeface="+mn-ea"/>
              </a:rPr>
              <a:t>模型层：集成第三节随机森林再生纸浆</a:t>
            </a:r>
            <a:r>
              <a:rPr lang="zh-CN" altLang="en-US" sz="1600" b="1" dirty="0">
                <a:solidFill>
                  <a:srgbClr val="FF0000"/>
                </a:solidFill>
                <a:latin typeface="+mn-ea"/>
              </a:rPr>
              <a:t>成纸物理强度预测模型</a:t>
            </a:r>
            <a:r>
              <a:rPr lang="zh-CN" altLang="en-US" sz="1600" b="1" dirty="0">
                <a:latin typeface="+mn-ea"/>
              </a:rPr>
              <a:t>与第四节混合法再生纸浆</a:t>
            </a:r>
            <a:r>
              <a:rPr lang="zh-CN" altLang="en-US" sz="1600" b="1" dirty="0">
                <a:solidFill>
                  <a:srgbClr val="FF0000"/>
                </a:solidFill>
                <a:latin typeface="+mn-ea"/>
              </a:rPr>
              <a:t>再利用适用度评价模型</a:t>
            </a:r>
            <a:r>
              <a:rPr lang="zh-CN" altLang="en-US" sz="1600" b="1" dirty="0">
                <a:latin typeface="+mn-ea"/>
              </a:rPr>
              <a:t>；</a:t>
            </a:r>
            <a:endParaRPr lang="zh-CN" altLang="en-US" sz="1600" b="1" dirty="0">
              <a:latin typeface="+mn-ea"/>
            </a:endParaRPr>
          </a:p>
          <a:p>
            <a:pPr>
              <a:lnSpc>
                <a:spcPct val="150000"/>
              </a:lnSpc>
            </a:pPr>
            <a:endParaRPr lang="zh-CN" altLang="en-US" sz="1600" b="1" dirty="0">
              <a:latin typeface="+mn-ea"/>
            </a:endParaRPr>
          </a:p>
          <a:p>
            <a:pPr>
              <a:lnSpc>
                <a:spcPct val="150000"/>
              </a:lnSpc>
            </a:pPr>
            <a:r>
              <a:rPr lang="en-US" altLang="zh-CN" sz="1600" b="1" dirty="0">
                <a:latin typeface="+mn-ea"/>
              </a:rPr>
              <a:t>3.</a:t>
            </a:r>
            <a:r>
              <a:rPr lang="zh-CN" altLang="en-US" sz="1600" b="1" dirty="0">
                <a:latin typeface="+mn-ea"/>
              </a:rPr>
              <a:t>交互层：基于</a:t>
            </a:r>
            <a:r>
              <a:rPr lang="en-US" altLang="zh-CN" sz="1600" b="1" dirty="0">
                <a:latin typeface="+mn-ea"/>
              </a:rPr>
              <a:t>Python</a:t>
            </a:r>
            <a:r>
              <a:rPr lang="zh-CN" altLang="en-US" sz="1600" b="1" dirty="0">
                <a:latin typeface="+mn-ea"/>
              </a:rPr>
              <a:t>开发轻量化界面如右图，在界面中输入再生纸浆纤维参数输入表单（</a:t>
            </a:r>
            <a:r>
              <a:rPr lang="en-US" altLang="zh-CN" sz="1600" b="1" dirty="0">
                <a:latin typeface="+mn-ea"/>
              </a:rPr>
              <a:t>15</a:t>
            </a:r>
            <a:r>
              <a:rPr lang="zh-CN" altLang="en-US" sz="1600" b="1" dirty="0">
                <a:latin typeface="+mn-ea"/>
              </a:rPr>
              <a:t>项关键参数），</a:t>
            </a:r>
            <a:r>
              <a:rPr lang="zh-CN" altLang="en-US" sz="1600" b="1" dirty="0">
                <a:solidFill>
                  <a:srgbClr val="FF0000"/>
                </a:solidFill>
                <a:latin typeface="+mn-ea"/>
              </a:rPr>
              <a:t>实现实时评分展示</a:t>
            </a:r>
            <a:r>
              <a:rPr lang="zh-CN" altLang="en-US" sz="1600" b="1" dirty="0">
                <a:latin typeface="+mn-ea"/>
              </a:rPr>
              <a:t>。</a:t>
            </a:r>
            <a:endParaRPr lang="zh-CN" altLang="en-US" sz="1600" b="1" dirty="0">
              <a:latin typeface="+mn-ea"/>
            </a:endParaRPr>
          </a:p>
          <a:p>
            <a:pPr>
              <a:lnSpc>
                <a:spcPct val="150000"/>
              </a:lnSpc>
            </a:pPr>
            <a:endParaRPr lang="zh-CN" altLang="en-US" sz="1600" b="1" dirty="0">
              <a:latin typeface="+mn-ea"/>
            </a:endParaRPr>
          </a:p>
        </p:txBody>
      </p:sp>
      <p:sp>
        <p:nvSpPr>
          <p:cNvPr id="11" name="文本框 10"/>
          <p:cNvSpPr txBox="1"/>
          <p:nvPr/>
        </p:nvSpPr>
        <p:spPr>
          <a:xfrm>
            <a:off x="246380" y="652145"/>
            <a:ext cx="10146030" cy="1198880"/>
          </a:xfrm>
          <a:prstGeom prst="rect">
            <a:avLst/>
          </a:prstGeom>
          <a:noFill/>
        </p:spPr>
        <p:txBody>
          <a:bodyPr wrap="square" rtlCol="0" anchor="t">
            <a:spAutoFit/>
          </a:bodyPr>
          <a:p>
            <a:pPr>
              <a:lnSpc>
                <a:spcPct val="150000"/>
              </a:lnSpc>
            </a:pPr>
            <a:r>
              <a:rPr lang="zh-CN" altLang="en-US" sz="1600" b="1" dirty="0">
                <a:latin typeface="+mn-ea"/>
                <a:sym typeface="+mn-ea"/>
              </a:rPr>
              <a:t>为实现再生纸浆再利用适用度评估的</a:t>
            </a:r>
            <a:r>
              <a:rPr lang="zh-CN" altLang="en-US" sz="1600" b="1" dirty="0">
                <a:solidFill>
                  <a:srgbClr val="FF0000"/>
                </a:solidFill>
                <a:latin typeface="+mn-ea"/>
                <a:sym typeface="+mn-ea"/>
              </a:rPr>
              <a:t>全流程自动化</a:t>
            </a:r>
            <a:r>
              <a:rPr lang="zh-CN" altLang="en-US" sz="1600" b="1" dirty="0">
                <a:latin typeface="+mn-ea"/>
                <a:sym typeface="+mn-ea"/>
              </a:rPr>
              <a:t>，本节基于</a:t>
            </a:r>
            <a:r>
              <a:rPr lang="en-US" altLang="zh-CN" sz="1600" b="1" dirty="0">
                <a:latin typeface="+mn-ea"/>
                <a:sym typeface="+mn-ea"/>
              </a:rPr>
              <a:t>“</a:t>
            </a:r>
            <a:r>
              <a:rPr lang="zh-CN" altLang="en-US" sz="1600" b="1" dirty="0">
                <a:latin typeface="+mn-ea"/>
                <a:sym typeface="+mn-ea"/>
              </a:rPr>
              <a:t>数据</a:t>
            </a:r>
            <a:r>
              <a:rPr lang="en-US" altLang="zh-CN" sz="1600" b="1" dirty="0">
                <a:latin typeface="+mn-ea"/>
                <a:sym typeface="+mn-ea"/>
              </a:rPr>
              <a:t>-</a:t>
            </a:r>
            <a:r>
              <a:rPr lang="zh-CN" altLang="en-US" sz="1600" b="1" dirty="0">
                <a:latin typeface="+mn-ea"/>
                <a:sym typeface="+mn-ea"/>
              </a:rPr>
              <a:t>模型</a:t>
            </a:r>
            <a:r>
              <a:rPr lang="en-US" altLang="zh-CN" sz="1600" b="1" dirty="0">
                <a:latin typeface="+mn-ea"/>
                <a:sym typeface="+mn-ea"/>
              </a:rPr>
              <a:t>-</a:t>
            </a:r>
            <a:r>
              <a:rPr lang="zh-CN" altLang="en-US" sz="1600" b="1" dirty="0">
                <a:latin typeface="+mn-ea"/>
                <a:sym typeface="+mn-ea"/>
              </a:rPr>
              <a:t>决策</a:t>
            </a:r>
            <a:r>
              <a:rPr lang="en-US" altLang="zh-CN" sz="1600" b="1" dirty="0">
                <a:latin typeface="+mn-ea"/>
                <a:sym typeface="+mn-ea"/>
              </a:rPr>
              <a:t>”</a:t>
            </a:r>
            <a:r>
              <a:rPr lang="zh-CN" altLang="en-US" sz="1600" b="1" dirty="0">
                <a:latin typeface="+mn-ea"/>
                <a:sym typeface="+mn-ea"/>
              </a:rPr>
              <a:t>分层架构设计，构建了集成化系统框架。该架构通过模块化设计</a:t>
            </a:r>
            <a:r>
              <a:rPr lang="zh-CN" altLang="en-US" sz="1600" b="1" dirty="0">
                <a:solidFill>
                  <a:srgbClr val="FF0000"/>
                </a:solidFill>
                <a:latin typeface="+mn-ea"/>
                <a:sym typeface="+mn-ea"/>
              </a:rPr>
              <a:t>实现再生纸浆再利用适用度量化评价</a:t>
            </a:r>
            <a:r>
              <a:rPr lang="zh-CN" altLang="en-US" sz="1600" b="1" dirty="0">
                <a:latin typeface="+mn-ea"/>
                <a:sym typeface="+mn-ea"/>
              </a:rPr>
              <a:t>，</a:t>
            </a:r>
            <a:endParaRPr lang="zh-CN" altLang="en-US" sz="1600" b="1" dirty="0">
              <a:latin typeface="+mn-ea"/>
              <a:sym typeface="+mn-ea"/>
            </a:endParaRPr>
          </a:p>
          <a:p>
            <a:pPr>
              <a:lnSpc>
                <a:spcPct val="150000"/>
              </a:lnSpc>
            </a:pPr>
            <a:r>
              <a:rPr lang="zh-CN" altLang="en-US" sz="1600" b="1" dirty="0">
                <a:latin typeface="+mn-ea"/>
                <a:sym typeface="+mn-ea"/>
              </a:rPr>
              <a:t>具体层次功能如下：</a:t>
            </a:r>
            <a:endParaRPr lang="zh-CN" altLang="en-US" sz="1600" b="1" dirty="0">
              <a:latin typeface="+mn-ea"/>
              <a:sym typeface="+mn-ea"/>
            </a:endParaRPr>
          </a:p>
        </p:txBody>
      </p:sp>
      <p:pic>
        <p:nvPicPr>
          <p:cNvPr id="15" name="图片 127"/>
          <p:cNvPicPr>
            <a:picLocks noChangeAspect="1"/>
          </p:cNvPicPr>
          <p:nvPr/>
        </p:nvPicPr>
        <p:blipFill>
          <a:blip r:embed="rId1"/>
          <a:stretch>
            <a:fillRect/>
          </a:stretch>
        </p:blipFill>
        <p:spPr>
          <a:xfrm>
            <a:off x="6530340" y="1851025"/>
            <a:ext cx="5217795" cy="4072255"/>
          </a:xfrm>
          <a:prstGeom prst="rect">
            <a:avLst/>
          </a:prstGeom>
          <a:noFill/>
          <a:ln>
            <a:solidFill>
              <a:schemeClr val="tx1"/>
            </a:solidFill>
          </a:ln>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等腰三角形 3"/>
          <p:cNvSpPr/>
          <p:nvPr/>
        </p:nvSpPr>
        <p:spPr>
          <a:xfrm flipH="1" flipV="1">
            <a:off x="0" y="0"/>
            <a:ext cx="4990011" cy="5918934"/>
          </a:xfrm>
          <a:prstGeom prst="triangle">
            <a:avLst>
              <a:gd name="adj" fmla="val 10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0" y="3657601"/>
            <a:ext cx="10972800" cy="3200400"/>
          </a:xfrm>
          <a:prstGeom prst="triangle">
            <a:avLst>
              <a:gd name="adj" fmla="val 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629871" y="1258976"/>
            <a:ext cx="6476275" cy="3685800"/>
            <a:chOff x="4603018" y="3207206"/>
            <a:chExt cx="4020218" cy="3685800"/>
          </a:xfrm>
        </p:grpSpPr>
        <p:sp>
          <p:nvSpPr>
            <p:cNvPr id="44" name="矩形 43"/>
            <p:cNvSpPr/>
            <p:nvPr/>
          </p:nvSpPr>
          <p:spPr>
            <a:xfrm>
              <a:off x="4603018" y="3207206"/>
              <a:ext cx="2985964" cy="707886"/>
            </a:xfrm>
            <a:prstGeom prst="rect">
              <a:avLst/>
            </a:prstGeom>
          </p:spPr>
          <p:txBody>
            <a:bodyPr wrap="square">
              <a:spAutoFit/>
            </a:bodyPr>
            <a:lstStyle/>
            <a:p>
              <a:pPr algn="ctr"/>
              <a:r>
                <a:rPr lang="zh-CN" altLang="en-US" sz="4000" b="1" dirty="0">
                  <a:solidFill>
                    <a:srgbClr val="024DA2"/>
                  </a:solidFill>
                  <a:latin typeface="微软雅黑" panose="020B0503020204020204" pitchFamily="34" charset="-122"/>
                  <a:ea typeface="微软雅黑" panose="020B0503020204020204" pitchFamily="34" charset="-122"/>
                </a:rPr>
                <a:t>目录</a:t>
              </a:r>
              <a:endParaRPr lang="zh-CN" altLang="en-US" sz="4000" b="1" dirty="0">
                <a:solidFill>
                  <a:srgbClr val="024DA2"/>
                </a:solidFill>
                <a:latin typeface="微软雅黑" panose="020B0503020204020204" pitchFamily="34" charset="-122"/>
                <a:ea typeface="微软雅黑" panose="020B0503020204020204" pitchFamily="34" charset="-122"/>
              </a:endParaRPr>
            </a:p>
          </p:txBody>
        </p:sp>
        <p:sp>
          <p:nvSpPr>
            <p:cNvPr id="45" name="矩形 44"/>
            <p:cNvSpPr/>
            <p:nvPr/>
          </p:nvSpPr>
          <p:spPr>
            <a:xfrm>
              <a:off x="5099241" y="4031696"/>
              <a:ext cx="3523995" cy="2861310"/>
            </a:xfrm>
            <a:prstGeom prst="rect">
              <a:avLst/>
            </a:prstGeom>
          </p:spPr>
          <p:txBody>
            <a:bodyPr wrap="square">
              <a:spAutoFit/>
            </a:bodyPr>
            <a:lstStyle/>
            <a:p>
              <a:pPr marL="514350" indent="-514350">
                <a:lnSpc>
                  <a:spcPct val="150000"/>
                </a:lnSpc>
                <a:buFont typeface="+mj-lt"/>
                <a:buAutoNum type="arabicPeriod"/>
              </a:pPr>
              <a:r>
                <a:rPr lang="zh-CN" altLang="en-US" sz="2000" b="1" dirty="0">
                  <a:solidFill>
                    <a:schemeClr val="tx1"/>
                  </a:solidFill>
                  <a:latin typeface="微软雅黑" panose="020B0503020204020204" pitchFamily="34" charset="-122"/>
                  <a:ea typeface="微软雅黑" panose="020B0503020204020204" pitchFamily="34" charset="-122"/>
                </a:rPr>
                <a:t>课题研究背景及意义</a:t>
              </a:r>
              <a:endParaRPr lang="en-US" altLang="zh-CN" sz="2000" b="1" dirty="0">
                <a:solidFill>
                  <a:schemeClr val="tx1"/>
                </a:solidFill>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再生纸浆循环回用纤维劣化研究</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再生纸张物理强度预测模型构建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再生纸浆再利用适用度评价体系构建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latin typeface="微软雅黑" panose="020B0503020204020204" pitchFamily="34" charset="-122"/>
                  <a:ea typeface="微软雅黑" panose="020B0503020204020204" pitchFamily="34" charset="-122"/>
                </a:rPr>
                <a:t>再生纸浆数据库构建</a:t>
              </a:r>
              <a:endParaRPr lang="zh-CN" altLang="en-US" sz="2000" b="1" dirty="0">
                <a:latin typeface="微软雅黑" panose="020B0503020204020204" pitchFamily="34" charset="-122"/>
                <a:ea typeface="微软雅黑" panose="020B0503020204020204" pitchFamily="34" charset="-122"/>
              </a:endParaRPr>
            </a:p>
            <a:p>
              <a:pPr marL="514350" indent="-514350">
                <a:lnSpc>
                  <a:spcPct val="150000"/>
                </a:lnSpc>
                <a:buFont typeface="+mj-lt"/>
                <a:buAutoNum type="arabicPeriod"/>
              </a:pPr>
              <a:r>
                <a:rPr lang="zh-CN" altLang="en-US" sz="2000" b="1" dirty="0">
                  <a:solidFill>
                    <a:srgbClr val="FF0000"/>
                  </a:solidFill>
                  <a:latin typeface="微软雅黑" panose="020B0503020204020204" pitchFamily="34" charset="-122"/>
                  <a:ea typeface="微软雅黑" panose="020B0503020204020204" pitchFamily="34" charset="-122"/>
                </a:rPr>
                <a:t>总结与展望</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47" name="等腰三角形 46"/>
            <p:cNvSpPr/>
            <p:nvPr/>
          </p:nvSpPr>
          <p:spPr>
            <a:xfrm flipV="1">
              <a:off x="6000750" y="3915093"/>
              <a:ext cx="190500" cy="164224"/>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pic>
        <p:nvPicPr>
          <p:cNvPr id="11" name="Picture 2" descr="https://www.scut.edu.cn/_upload/site/00/03/3/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431" y="5355806"/>
            <a:ext cx="3042950" cy="12678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4316"/>
    </mc:Choice>
    <mc:Fallback>
      <p:transition spd="slow" advTm="4316"/>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6096000" y="6372225"/>
            <a:ext cx="6096000" cy="485775"/>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067051" y="301910"/>
            <a:ext cx="205789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论文工作总结</a:t>
            </a:r>
            <a:endParaRPr lang="zh-CN" altLang="en-US" sz="24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469783" y="971484"/>
            <a:ext cx="11252433" cy="5113020"/>
          </a:xfrm>
          <a:prstGeom prst="rect">
            <a:avLst/>
          </a:prstGeom>
          <a:noFill/>
        </p:spPr>
        <p:txBody>
          <a:bodyPr wrap="square" rtlCol="0">
            <a:spAutoFit/>
          </a:bodyPr>
          <a:lstStyle/>
          <a:p>
            <a:pPr>
              <a:lnSpc>
                <a:spcPct val="150000"/>
              </a:lnSpc>
              <a:spcBef>
                <a:spcPts val="1200"/>
              </a:spcBef>
            </a:pPr>
            <a:r>
              <a:rPr lang="zh-CN" altLang="en-US" b="1" dirty="0"/>
              <a:t>本文针对我国</a:t>
            </a:r>
            <a:r>
              <a:rPr lang="en-US" altLang="zh-CN" b="1" dirty="0"/>
              <a:t>“</a:t>
            </a:r>
            <a:r>
              <a:rPr lang="zh-CN" altLang="en-US" b="1" dirty="0"/>
              <a:t>禁废令</a:t>
            </a:r>
            <a:r>
              <a:rPr lang="en-US" altLang="zh-CN" b="1" dirty="0"/>
              <a:t>”</a:t>
            </a:r>
            <a:r>
              <a:rPr lang="zh-CN" altLang="en-US" b="1" dirty="0"/>
              <a:t>政策实施后再生纸浆质量现有评价体系评估标准单一，传统方法难以适配再生纸浆纤维特殊性的核心问题，通过系统研究再生纸浆循环回用过程中纤维动态劣化机理，构建了从实验解析、预测建模到智能化评估的</a:t>
            </a:r>
            <a:r>
              <a:rPr lang="zh-CN" altLang="en-US" b="1" dirty="0">
                <a:solidFill>
                  <a:srgbClr val="FF0000"/>
                </a:solidFill>
              </a:rPr>
              <a:t>全流程量化评价方案</a:t>
            </a:r>
            <a:r>
              <a:rPr lang="zh-CN" altLang="en-US" b="1" dirty="0"/>
              <a:t>。</a:t>
            </a:r>
            <a:endParaRPr lang="zh-CN" altLang="en-US" b="1" dirty="0"/>
          </a:p>
          <a:p>
            <a:pPr marL="285750" indent="-285750">
              <a:lnSpc>
                <a:spcPct val="150000"/>
              </a:lnSpc>
              <a:spcBef>
                <a:spcPts val="600"/>
              </a:spcBef>
              <a:buFont typeface="Wingdings" panose="05000000000000000000" pitchFamily="2" charset="2"/>
              <a:buChar char="u"/>
            </a:pPr>
            <a:r>
              <a:rPr lang="zh-CN" altLang="en-US" b="1" dirty="0"/>
              <a:t>再生纸浆循环回用中纤维动态劣化研究</a:t>
            </a:r>
            <a:endParaRPr lang="zh-CN" altLang="en-US" b="1" dirty="0"/>
          </a:p>
          <a:p>
            <a:pPr marL="36195" indent="-342900">
              <a:lnSpc>
                <a:spcPct val="150000"/>
              </a:lnSpc>
              <a:spcBef>
                <a:spcPts val="400"/>
              </a:spcBef>
              <a:buFont typeface="+mj-lt"/>
              <a:buAutoNum type="arabicPeriod"/>
            </a:pPr>
            <a:r>
              <a:rPr lang="zh-CN" altLang="en-US" sz="1600" b="1" dirty="0"/>
              <a:t>再生纸浆循环回用过程中存在</a:t>
            </a:r>
            <a:r>
              <a:rPr lang="en-US" altLang="zh-CN" sz="1600" b="1" dirty="0"/>
              <a:t>“</a:t>
            </a:r>
            <a:r>
              <a:rPr lang="zh-CN" altLang="en-US" sz="1600" b="1" dirty="0">
                <a:solidFill>
                  <a:srgbClr val="FF0000"/>
                </a:solidFill>
              </a:rPr>
              <a:t>长纤维断裂</a:t>
            </a:r>
            <a:r>
              <a:rPr lang="en-US" altLang="en-US" sz="1600" b="1" dirty="0">
                <a:solidFill>
                  <a:srgbClr val="FF0000"/>
                </a:solidFill>
              </a:rPr>
              <a:t>→</a:t>
            </a:r>
            <a:r>
              <a:rPr lang="zh-CN" altLang="en-US" sz="1600" b="1" dirty="0">
                <a:solidFill>
                  <a:srgbClr val="FF0000"/>
                </a:solidFill>
              </a:rPr>
              <a:t>中短纤维生成</a:t>
            </a:r>
            <a:r>
              <a:rPr lang="en-US" altLang="en-US" sz="1600" b="1" dirty="0">
                <a:solidFill>
                  <a:srgbClr val="FF0000"/>
                </a:solidFill>
              </a:rPr>
              <a:t>→</a:t>
            </a:r>
            <a:r>
              <a:rPr lang="zh-CN" altLang="en-US" sz="1600" b="1" dirty="0">
                <a:solidFill>
                  <a:srgbClr val="FF0000"/>
                </a:solidFill>
              </a:rPr>
              <a:t>细小纤维流失</a:t>
            </a:r>
            <a:r>
              <a:rPr lang="en-US" altLang="zh-CN" sz="1600" b="1" dirty="0"/>
              <a:t>”</a:t>
            </a:r>
            <a:r>
              <a:rPr lang="zh-CN" altLang="en-US" sz="1600" b="1" dirty="0"/>
              <a:t>的典型劣化路径</a:t>
            </a:r>
            <a:r>
              <a:rPr lang="zh-CN" altLang="en-US" sz="1600" b="1" dirty="0"/>
              <a:t>。</a:t>
            </a:r>
            <a:endParaRPr lang="en-US" altLang="zh-CN" sz="1600" b="1" dirty="0"/>
          </a:p>
          <a:p>
            <a:pPr marL="36195" indent="-342900">
              <a:lnSpc>
                <a:spcPct val="150000"/>
              </a:lnSpc>
              <a:spcBef>
                <a:spcPts val="400"/>
              </a:spcBef>
              <a:buFont typeface="+mj-lt"/>
              <a:buAutoNum type="arabicPeriod" startAt="2"/>
            </a:pPr>
            <a:r>
              <a:rPr lang="zh-CN" altLang="en-US" sz="1600" b="1" dirty="0"/>
              <a:t>纤维形态的劣化直接导致了纤维网络结合力显著降低，再生纸张的抗张、耐破、撕裂强度指标</a:t>
            </a:r>
            <a:r>
              <a:rPr lang="zh-CN" altLang="en-US" sz="1600" b="1" dirty="0">
                <a:solidFill>
                  <a:srgbClr val="FF0000"/>
                </a:solidFill>
              </a:rPr>
              <a:t>随回用循环次数的增加而进一步下降</a:t>
            </a:r>
            <a:r>
              <a:rPr lang="zh-CN" altLang="en-US" sz="1600" b="1" dirty="0"/>
              <a:t>。</a:t>
            </a:r>
            <a:endParaRPr lang="en-US" altLang="zh-CN" sz="1600" b="1" dirty="0"/>
          </a:p>
          <a:p>
            <a:pPr marL="285750" indent="-285750">
              <a:lnSpc>
                <a:spcPct val="150000"/>
              </a:lnSpc>
              <a:spcBef>
                <a:spcPts val="600"/>
              </a:spcBef>
              <a:buFont typeface="Wingdings" panose="05000000000000000000" pitchFamily="2" charset="2"/>
              <a:buChar char="u"/>
            </a:pPr>
            <a:r>
              <a:rPr lang="zh-CN" altLang="en-US" b="1" dirty="0">
                <a:solidFill>
                  <a:schemeClr val="tx1"/>
                </a:solidFill>
              </a:rPr>
              <a:t>再生纸张物理强度预测模型的建立</a:t>
            </a:r>
            <a:endParaRPr lang="zh-CN" altLang="en-US" b="1" dirty="0">
              <a:solidFill>
                <a:schemeClr val="tx1"/>
              </a:solidFill>
            </a:endParaRPr>
          </a:p>
          <a:p>
            <a:pPr indent="0">
              <a:lnSpc>
                <a:spcPct val="150000"/>
              </a:lnSpc>
              <a:spcBef>
                <a:spcPts val="400"/>
              </a:spcBef>
              <a:buFont typeface="+mj-lt"/>
              <a:buNone/>
            </a:pPr>
            <a:r>
              <a:rPr lang="en-US" altLang="zh-CN" sz="1600" b="1" dirty="0">
                <a:sym typeface="+mn-ea"/>
              </a:rPr>
              <a:t>1.    </a:t>
            </a:r>
            <a:r>
              <a:rPr lang="zh-CN" altLang="en-US" sz="1600" b="1" dirty="0">
                <a:sym typeface="+mn-ea"/>
              </a:rPr>
              <a:t>在研究的纤维形态参数中纤维粗度和扭结纤维占比两个参数，由于其具有支撑纤维网络结构和物理缠绕的作用，</a:t>
            </a:r>
            <a:r>
              <a:rPr lang="zh-CN" altLang="en-US" sz="1600" b="1" dirty="0">
                <a:solidFill>
                  <a:srgbClr val="FF0000"/>
                </a:solidFill>
                <a:sym typeface="+mn-ea"/>
              </a:rPr>
              <a:t>在实验数据分析及预测建模分析中都对强度较高的贡献</a:t>
            </a:r>
            <a:r>
              <a:rPr lang="zh-CN" altLang="en-US" sz="1600" b="1" dirty="0">
                <a:sym typeface="+mn-ea"/>
              </a:rPr>
              <a:t>。</a:t>
            </a:r>
            <a:endParaRPr lang="zh-CN" altLang="en-US" sz="1600" b="1" dirty="0">
              <a:sym typeface="+mn-ea"/>
            </a:endParaRPr>
          </a:p>
          <a:p>
            <a:pPr indent="0">
              <a:lnSpc>
                <a:spcPct val="150000"/>
              </a:lnSpc>
              <a:spcBef>
                <a:spcPts val="400"/>
              </a:spcBef>
              <a:buFont typeface="+mj-lt"/>
              <a:buNone/>
            </a:pPr>
            <a:r>
              <a:rPr lang="en-US" altLang="zh-CN" sz="1600" b="1" dirty="0">
                <a:solidFill>
                  <a:schemeClr val="tx1"/>
                </a:solidFill>
              </a:rPr>
              <a:t>2.  </a:t>
            </a:r>
            <a:r>
              <a:rPr lang="en-US" altLang="zh-CN" sz="1600" b="1" dirty="0">
                <a:solidFill>
                  <a:srgbClr val="FF0000"/>
                </a:solidFill>
              </a:rPr>
              <a:t> </a:t>
            </a:r>
            <a:r>
              <a:rPr lang="zh-CN" altLang="en-US" sz="1600" b="1" dirty="0">
                <a:solidFill>
                  <a:schemeClr val="tx1"/>
                </a:solidFill>
              </a:rPr>
              <a:t>在对输入参数进行平滑、增强、引入多项式处理后，分别构建非线性的再生纸张抗张、耐破和撕裂强度预测模型，模型精度较传统的</a:t>
            </a:r>
            <a:r>
              <a:rPr lang="en-US" altLang="zh-CN" sz="1600" b="1" dirty="0">
                <a:solidFill>
                  <a:schemeClr val="tx1"/>
                </a:solidFill>
              </a:rPr>
              <a:t>Page </a:t>
            </a:r>
            <a:r>
              <a:rPr lang="zh-CN" altLang="en-US" sz="1600" b="1" dirty="0">
                <a:solidFill>
                  <a:schemeClr val="tx1"/>
                </a:solidFill>
              </a:rPr>
              <a:t>机理及支持向量机模型都得到显著提升。</a:t>
            </a:r>
            <a:endParaRPr lang="zh-CN" altLang="en-US" sz="1600" b="1" dirty="0">
              <a:solidFill>
                <a:schemeClr val="tx1"/>
              </a:solidFill>
            </a:endParaRPr>
          </a:p>
        </p:txBody>
      </p:sp>
      <p:sp>
        <p:nvSpPr>
          <p:cNvPr id="3" name="矩形 2"/>
          <p:cNvSpPr/>
          <p:nvPr/>
        </p:nvSpPr>
        <p:spPr>
          <a:xfrm>
            <a:off x="469900" y="2352675"/>
            <a:ext cx="11252200" cy="3963035"/>
          </a:xfrm>
          <a:prstGeom prst="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6096000" y="6372225"/>
            <a:ext cx="6096000" cy="485775"/>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068306" y="281317"/>
            <a:ext cx="2055388"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论文工作总结</a:t>
            </a:r>
            <a:endParaRPr lang="zh-CN" altLang="en-US" sz="24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356126" y="885868"/>
            <a:ext cx="11252433" cy="3917950"/>
          </a:xfrm>
          <a:prstGeom prst="rect">
            <a:avLst/>
          </a:prstGeom>
          <a:noFill/>
        </p:spPr>
        <p:txBody>
          <a:bodyPr wrap="square" rtlCol="0">
            <a:spAutoFit/>
          </a:bodyPr>
          <a:lstStyle/>
          <a:p>
            <a:pPr marL="285750" indent="-285750">
              <a:lnSpc>
                <a:spcPct val="150000"/>
              </a:lnSpc>
              <a:spcBef>
                <a:spcPts val="1200"/>
              </a:spcBef>
              <a:buFont typeface="Wingdings" panose="05000000000000000000" pitchFamily="2" charset="2"/>
              <a:buChar char="u"/>
            </a:pPr>
            <a:r>
              <a:rPr lang="zh-CN" altLang="en-US" b="1" dirty="0"/>
              <a:t>再生纸浆再利用适用度评价体系构建</a:t>
            </a:r>
            <a:endParaRPr lang="zh-CN" altLang="en-US" b="1" dirty="0"/>
          </a:p>
          <a:p>
            <a:pPr marL="342900" indent="-342900">
              <a:lnSpc>
                <a:spcPct val="150000"/>
              </a:lnSpc>
              <a:spcBef>
                <a:spcPts val="400"/>
              </a:spcBef>
              <a:buFont typeface="+mj-lt"/>
              <a:buAutoNum type="arabicPeriod"/>
            </a:pPr>
            <a:r>
              <a:rPr lang="zh-CN" altLang="en-US" sz="1600" b="1" dirty="0"/>
              <a:t>再利用适用度概念的提出符合再生纸浆评价评价思想。</a:t>
            </a:r>
            <a:endParaRPr lang="en-US" altLang="zh-CN" sz="1600" b="1" dirty="0"/>
          </a:p>
          <a:p>
            <a:pPr marL="342900" indent="-342900">
              <a:lnSpc>
                <a:spcPct val="150000"/>
              </a:lnSpc>
              <a:spcBef>
                <a:spcPts val="400"/>
              </a:spcBef>
              <a:buFont typeface="+mj-lt"/>
              <a:buAutoNum type="arabicPeriod"/>
            </a:pPr>
            <a:r>
              <a:rPr lang="zh-CN" altLang="en-US" sz="1600" b="1" dirty="0"/>
              <a:t>由</a:t>
            </a:r>
            <a:r>
              <a:rPr lang="en-US" altLang="zh-CN" sz="1600" b="1" dirty="0"/>
              <a:t>“</a:t>
            </a:r>
            <a:r>
              <a:rPr lang="zh-CN" altLang="en-US" sz="1600" b="1" dirty="0"/>
              <a:t>熵权法（客观）</a:t>
            </a:r>
            <a:r>
              <a:rPr lang="en-US" altLang="zh-CN" sz="1600" b="1" dirty="0"/>
              <a:t>+</a:t>
            </a:r>
            <a:r>
              <a:rPr lang="zh-CN" altLang="en-US" sz="1600" b="1" dirty="0"/>
              <a:t>层次分析法（主观）</a:t>
            </a:r>
            <a:r>
              <a:rPr lang="en-US" altLang="zh-CN" sz="1600" b="1" dirty="0"/>
              <a:t>”</a:t>
            </a:r>
            <a:r>
              <a:rPr lang="zh-CN" altLang="en-US" sz="1600" b="1" dirty="0"/>
              <a:t>结合的混合法评价体系表现出</a:t>
            </a:r>
            <a:r>
              <a:rPr lang="zh-CN" altLang="en-US" sz="1600" b="1" dirty="0">
                <a:solidFill>
                  <a:srgbClr val="FF0000"/>
                </a:solidFill>
              </a:rPr>
              <a:t>更强的权重分配合理性、鲁棒性和实际适用性</a:t>
            </a:r>
            <a:r>
              <a:rPr lang="zh-CN" altLang="en-US" sz="1600" b="1" dirty="0"/>
              <a:t>。</a:t>
            </a:r>
            <a:endParaRPr lang="en-US" altLang="zh-CN" sz="1600" b="1" dirty="0"/>
          </a:p>
          <a:p>
            <a:pPr marL="342900" indent="-342900">
              <a:lnSpc>
                <a:spcPct val="150000"/>
              </a:lnSpc>
              <a:spcBef>
                <a:spcPts val="400"/>
              </a:spcBef>
              <a:buFont typeface="+mj-lt"/>
              <a:buAutoNum type="arabicPeriod"/>
            </a:pPr>
            <a:r>
              <a:rPr lang="zh-CN" altLang="en-US" sz="1600" b="1" dirty="0"/>
              <a:t>构建</a:t>
            </a:r>
            <a:r>
              <a:rPr lang="en-US" altLang="zh-CN" sz="1600" b="1" dirty="0"/>
              <a:t>“</a:t>
            </a:r>
            <a:r>
              <a:rPr lang="zh-CN" altLang="en-US" sz="1600" b="1" dirty="0"/>
              <a:t>纤维形态</a:t>
            </a:r>
            <a:r>
              <a:rPr lang="en-US" altLang="zh-CN" sz="1600" b="1" dirty="0"/>
              <a:t>-</a:t>
            </a:r>
            <a:r>
              <a:rPr lang="zh-CN" altLang="en-US" sz="1600" b="1" dirty="0"/>
              <a:t>物理强度</a:t>
            </a:r>
            <a:r>
              <a:rPr lang="en-US" altLang="zh-CN" sz="1600" b="1" dirty="0"/>
              <a:t>-</a:t>
            </a:r>
            <a:r>
              <a:rPr lang="zh-CN" altLang="en-US" sz="1600" b="1" dirty="0"/>
              <a:t>质量评分</a:t>
            </a:r>
            <a:r>
              <a:rPr lang="en-US" altLang="zh-CN" sz="1600" b="1" dirty="0"/>
              <a:t>”</a:t>
            </a:r>
            <a:r>
              <a:rPr lang="zh-CN" altLang="en-US" sz="1600" b="1" dirty="0">
                <a:solidFill>
                  <a:schemeClr val="tx1"/>
                </a:solidFill>
              </a:rPr>
              <a:t>全流程</a:t>
            </a:r>
            <a:r>
              <a:rPr lang="zh-CN" altLang="en-US" sz="1600" b="1" dirty="0">
                <a:solidFill>
                  <a:srgbClr val="FF0000"/>
                </a:solidFill>
              </a:rPr>
              <a:t>数据驱动再生纸浆评价体系</a:t>
            </a:r>
            <a:r>
              <a:rPr lang="en-US" altLang="zh-CN" sz="1600" b="1" dirty="0"/>
              <a:t>,</a:t>
            </a:r>
            <a:r>
              <a:rPr lang="zh-CN" altLang="en-US" sz="1600" b="1" dirty="0"/>
              <a:t>从多维度指标进行综合评分，能更全面精准地评价再生纸浆再利用适用度。</a:t>
            </a:r>
            <a:endParaRPr lang="zh-CN" altLang="en-US" sz="1600" b="1" dirty="0"/>
          </a:p>
          <a:p>
            <a:pPr marL="285750" indent="-285750" algn="l">
              <a:lnSpc>
                <a:spcPct val="150000"/>
              </a:lnSpc>
              <a:spcBef>
                <a:spcPts val="1200"/>
              </a:spcBef>
              <a:buClrTx/>
              <a:buSzTx/>
              <a:buFont typeface="Wingdings" panose="05000000000000000000" pitchFamily="2" charset="2"/>
              <a:buChar char="u"/>
            </a:pPr>
            <a:r>
              <a:rPr lang="zh-CN" altLang="en-US" sz="1800" b="1" dirty="0"/>
              <a:t>集成纸张强度预测与再利用适用度的再生纸浆数据库构建</a:t>
            </a:r>
            <a:endParaRPr lang="zh-CN" altLang="en-US" sz="1800" b="1" dirty="0"/>
          </a:p>
          <a:p>
            <a:pPr marL="342900" indent="-342900" algn="l">
              <a:lnSpc>
                <a:spcPct val="150000"/>
              </a:lnSpc>
              <a:spcBef>
                <a:spcPts val="400"/>
              </a:spcBef>
              <a:buClrTx/>
              <a:buSzTx/>
              <a:buFont typeface="+mj-lt"/>
              <a:buAutoNum type="arabicPeriod"/>
            </a:pPr>
            <a:r>
              <a:rPr lang="zh-CN" altLang="en-US" sz="1600" b="1" dirty="0"/>
              <a:t>再生纸浆数据库通过高效集成各部分功能，</a:t>
            </a:r>
            <a:r>
              <a:rPr lang="zh-CN" altLang="en-US" sz="1600" b="1" dirty="0">
                <a:solidFill>
                  <a:srgbClr val="FF0000"/>
                </a:solidFill>
              </a:rPr>
              <a:t>实现一键式再生纸浆再利用适用度量化评价功能</a:t>
            </a:r>
            <a:r>
              <a:rPr lang="zh-CN" altLang="en-US" sz="1600" b="1" dirty="0"/>
              <a:t>，显著提升检测的精准性与时效性，为造纸行业快速筛选鉴别优质再生纸浆提供了便捷智能的技术手段。</a:t>
            </a:r>
            <a:endParaRPr lang="zh-CN" altLang="en-US" sz="1600" b="1" dirty="0"/>
          </a:p>
          <a:p>
            <a:pPr indent="0">
              <a:lnSpc>
                <a:spcPct val="150000"/>
              </a:lnSpc>
              <a:spcBef>
                <a:spcPts val="400"/>
              </a:spcBef>
              <a:buFont typeface="+mj-lt"/>
              <a:buNone/>
            </a:pPr>
            <a:endParaRPr lang="en-US" altLang="zh-CN" sz="1600" b="1" dirty="0"/>
          </a:p>
        </p:txBody>
      </p:sp>
      <p:sp>
        <p:nvSpPr>
          <p:cNvPr id="7" name="矩形 6"/>
          <p:cNvSpPr/>
          <p:nvPr/>
        </p:nvSpPr>
        <p:spPr>
          <a:xfrm>
            <a:off x="356235" y="885825"/>
            <a:ext cx="11252200" cy="3850640"/>
          </a:xfrm>
          <a:prstGeom prst="rect">
            <a:avLst/>
          </a:prstGeom>
          <a:noFill/>
          <a:ln w="38100">
            <a:solidFill>
              <a:srgbClr val="C55A1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6096000" y="6372225"/>
            <a:ext cx="6096000" cy="485775"/>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520270" y="260420"/>
            <a:ext cx="115146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创新点</a:t>
            </a:r>
            <a:endParaRPr lang="zh-CN" altLang="en-US" sz="24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400514" y="1004206"/>
            <a:ext cx="11252433" cy="4399915"/>
          </a:xfrm>
          <a:prstGeom prst="rect">
            <a:avLst/>
          </a:prstGeom>
          <a:noFill/>
        </p:spPr>
        <p:txBody>
          <a:bodyPr wrap="square" rtlCol="0">
            <a:spAutoFit/>
          </a:bodyPr>
          <a:lstStyle/>
          <a:p>
            <a:pPr indent="304800" algn="just">
              <a:lnSpc>
                <a:spcPct val="150000"/>
              </a:lnSpc>
            </a:pPr>
            <a:r>
              <a:rPr lang="zh-CN" altLang="en-US" sz="1800" b="1" kern="100" dirty="0">
                <a:solidFill>
                  <a:srgbClr val="000000"/>
                </a:solidFill>
                <a:effectLst/>
                <a:latin typeface="+mn-ea"/>
                <a:cs typeface="Times New Roman" panose="02020603050405020304" pitchFamily="18" charset="0"/>
              </a:rPr>
              <a:t>（</a:t>
            </a:r>
            <a:r>
              <a:rPr lang="en-US" altLang="zh-CN" sz="1800" b="1" kern="100" dirty="0">
                <a:solidFill>
                  <a:srgbClr val="000000"/>
                </a:solidFill>
                <a:effectLst/>
                <a:latin typeface="+mn-ea"/>
                <a:cs typeface="Times New Roman" panose="02020603050405020304" pitchFamily="18" charset="0"/>
              </a:rPr>
              <a:t>1</a:t>
            </a:r>
            <a:r>
              <a:rPr lang="zh-CN" altLang="en-US" sz="1800" b="1" kern="100" dirty="0">
                <a:solidFill>
                  <a:srgbClr val="000000"/>
                </a:solidFill>
                <a:effectLst/>
                <a:latin typeface="+mn-ea"/>
                <a:cs typeface="Times New Roman" panose="02020603050405020304" pitchFamily="18" charset="0"/>
              </a:rPr>
              <a:t>）提出</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再生纸浆再利用适用度</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概念，采用</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熵权法（客观）</a:t>
            </a:r>
            <a:r>
              <a:rPr lang="en-US" altLang="zh-CN" sz="1800" b="1" kern="100" dirty="0">
                <a:solidFill>
                  <a:srgbClr val="000000"/>
                </a:solidFill>
                <a:effectLst/>
                <a:latin typeface="+mn-ea"/>
                <a:cs typeface="Times New Roman" panose="02020603050405020304" pitchFamily="18" charset="0"/>
              </a:rPr>
              <a:t>+ </a:t>
            </a:r>
            <a:r>
              <a:rPr lang="zh-CN" altLang="en-US" sz="1800" b="1" kern="100" dirty="0">
                <a:solidFill>
                  <a:srgbClr val="000000"/>
                </a:solidFill>
                <a:effectLst/>
                <a:latin typeface="+mn-ea"/>
                <a:cs typeface="Times New Roman" panose="02020603050405020304" pitchFamily="18" charset="0"/>
              </a:rPr>
              <a:t>层次分析法（主观）</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的混合评价方法确定指标权重，综合考虑</a:t>
            </a:r>
            <a:r>
              <a:rPr lang="zh-CN" altLang="en-US" sz="1800" b="1" kern="100" dirty="0">
                <a:solidFill>
                  <a:srgbClr val="FF0000"/>
                </a:solidFill>
                <a:effectLst/>
                <a:latin typeface="+mn-ea"/>
                <a:cs typeface="Times New Roman" panose="02020603050405020304" pitchFamily="18" charset="0"/>
              </a:rPr>
              <a:t>纤维形态参数</a:t>
            </a:r>
            <a:r>
              <a:rPr lang="zh-CN" altLang="en-US" sz="1800" b="1" kern="100" dirty="0">
                <a:solidFill>
                  <a:srgbClr val="000000"/>
                </a:solidFill>
                <a:effectLst/>
                <a:latin typeface="+mn-ea"/>
                <a:cs typeface="Times New Roman" panose="02020603050405020304" pitchFamily="18" charset="0"/>
              </a:rPr>
              <a:t>和</a:t>
            </a:r>
            <a:r>
              <a:rPr lang="zh-CN" altLang="en-US" sz="1800" b="1" kern="100" dirty="0">
                <a:solidFill>
                  <a:srgbClr val="FF0000"/>
                </a:solidFill>
                <a:effectLst/>
                <a:latin typeface="+mn-ea"/>
                <a:cs typeface="Times New Roman" panose="02020603050405020304" pitchFamily="18" charset="0"/>
              </a:rPr>
              <a:t>物理强度</a:t>
            </a:r>
            <a:r>
              <a:rPr lang="zh-CN" altLang="en-US" sz="1800" b="1" kern="100" dirty="0">
                <a:solidFill>
                  <a:srgbClr val="000000"/>
                </a:solidFill>
                <a:effectLst/>
                <a:latin typeface="+mn-ea"/>
                <a:cs typeface="Times New Roman" panose="02020603050405020304" pitchFamily="18" charset="0"/>
              </a:rPr>
              <a:t>，构建了再生纸浆再利用适用度评价体系，</a:t>
            </a:r>
            <a:r>
              <a:rPr lang="zh-CN" altLang="en-US" sz="1800" b="1" kern="100" dirty="0">
                <a:solidFill>
                  <a:srgbClr val="FF0000"/>
                </a:solidFill>
                <a:effectLst/>
                <a:latin typeface="+mn-ea"/>
                <a:cs typeface="Times New Roman" panose="02020603050405020304" pitchFamily="18" charset="0"/>
              </a:rPr>
              <a:t>实现再生纸浆质量的量化评估</a:t>
            </a:r>
            <a:r>
              <a:rPr lang="zh-CN" altLang="en-US" sz="1800" b="1" kern="100" dirty="0">
                <a:solidFill>
                  <a:srgbClr val="000000"/>
                </a:solidFill>
                <a:effectLst/>
                <a:latin typeface="+mn-ea"/>
                <a:cs typeface="Times New Roman" panose="02020603050405020304" pitchFamily="18" charset="0"/>
              </a:rPr>
              <a:t>。所建立的</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纤维形态</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物理强度</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质量评分</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全流程数据驱动再生纸浆评价体系，实现从</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静态单一指标评分</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到</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动态多维度协同评估</a:t>
            </a:r>
            <a:r>
              <a:rPr lang="en-US" altLang="zh-CN" sz="1800" b="1" kern="100" dirty="0">
                <a:solidFill>
                  <a:srgbClr val="000000"/>
                </a:solidFill>
                <a:effectLst/>
                <a:latin typeface="+mn-ea"/>
                <a:cs typeface="Times New Roman" panose="02020603050405020304" pitchFamily="18" charset="0"/>
              </a:rPr>
              <a:t>”</a:t>
            </a:r>
            <a:r>
              <a:rPr lang="zh-CN" altLang="en-US" sz="1800" b="1" kern="100" dirty="0">
                <a:solidFill>
                  <a:srgbClr val="000000"/>
                </a:solidFill>
                <a:effectLst/>
                <a:latin typeface="+mn-ea"/>
                <a:cs typeface="Times New Roman" panose="02020603050405020304" pitchFamily="18" charset="0"/>
              </a:rPr>
              <a:t>的转变。</a:t>
            </a:r>
            <a:endParaRPr lang="zh-CN" altLang="en-US" sz="1800" b="1" kern="100" dirty="0">
              <a:solidFill>
                <a:srgbClr val="000000"/>
              </a:solidFill>
              <a:effectLst/>
              <a:latin typeface="+mn-ea"/>
              <a:cs typeface="Times New Roman" panose="02020603050405020304" pitchFamily="18" charset="0"/>
            </a:endParaRPr>
          </a:p>
          <a:p>
            <a:pPr indent="304800" algn="just">
              <a:lnSpc>
                <a:spcPct val="150000"/>
              </a:lnSpc>
            </a:pPr>
            <a:endParaRPr lang="zh-CN" altLang="en-US" sz="1800" b="1" kern="100" dirty="0">
              <a:solidFill>
                <a:srgbClr val="000000"/>
              </a:solidFill>
              <a:effectLst/>
              <a:latin typeface="+mn-ea"/>
              <a:cs typeface="Times New Roman" panose="02020603050405020304" pitchFamily="18" charset="0"/>
            </a:endParaRPr>
          </a:p>
          <a:p>
            <a:pPr indent="304800" algn="just">
              <a:lnSpc>
                <a:spcPct val="150000"/>
              </a:lnSpc>
            </a:pPr>
            <a:r>
              <a:rPr lang="zh-CN" altLang="en-US" sz="1800" b="1" kern="100" dirty="0">
                <a:solidFill>
                  <a:srgbClr val="000000"/>
                </a:solidFill>
                <a:effectLst/>
                <a:latin typeface="+mn-ea"/>
                <a:cs typeface="Times New Roman" panose="02020603050405020304" pitchFamily="18" charset="0"/>
              </a:rPr>
              <a:t>（</a:t>
            </a:r>
            <a:r>
              <a:rPr lang="en-US" altLang="zh-CN" sz="1800" b="1" kern="100" dirty="0">
                <a:solidFill>
                  <a:srgbClr val="000000"/>
                </a:solidFill>
                <a:effectLst/>
                <a:latin typeface="+mn-ea"/>
                <a:cs typeface="Times New Roman" panose="02020603050405020304" pitchFamily="18" charset="0"/>
              </a:rPr>
              <a:t>2</a:t>
            </a:r>
            <a:r>
              <a:rPr lang="zh-CN" altLang="en-US" sz="1800" b="1" kern="100" dirty="0">
                <a:solidFill>
                  <a:srgbClr val="000000"/>
                </a:solidFill>
                <a:effectLst/>
                <a:latin typeface="+mn-ea"/>
                <a:cs typeface="Times New Roman" panose="02020603050405020304" pitchFamily="18" charset="0"/>
              </a:rPr>
              <a:t>）</a:t>
            </a:r>
            <a:r>
              <a:rPr lang="zh-CN" altLang="en-US" sz="1800" b="1" kern="100" dirty="0">
                <a:solidFill>
                  <a:schemeClr val="tx1"/>
                </a:solidFill>
                <a:effectLst/>
                <a:latin typeface="+mn-ea"/>
                <a:cs typeface="Times New Roman" panose="02020603050405020304" pitchFamily="18" charset="0"/>
              </a:rPr>
              <a:t>基于再生纸浆循环回用实验数据，采用皮尔逊相关度分析，筛选出关键纤维形态参数作为预测模型的输入，对输入参数进行一系列处理后使用随机森林算法，分别构建了非线性的再生纸张抗张、耐破和撕裂强度指标的预测模型，并分析了关键纤维形态参数对各物理强度的贡献度。所建立的再生纸张强度预测模型可以</a:t>
            </a:r>
            <a:r>
              <a:rPr lang="zh-CN" altLang="en-US" sz="1800" b="1" kern="100" dirty="0">
                <a:solidFill>
                  <a:srgbClr val="FF0000"/>
                </a:solidFill>
                <a:effectLst/>
                <a:latin typeface="+mn-ea"/>
                <a:cs typeface="Times New Roman" panose="02020603050405020304" pitchFamily="18" charset="0"/>
              </a:rPr>
              <a:t>精准纸张强度指标</a:t>
            </a:r>
            <a:r>
              <a:rPr lang="zh-CN" altLang="en-US" sz="1800" b="1" kern="100" dirty="0">
                <a:solidFill>
                  <a:schemeClr val="tx1"/>
                </a:solidFill>
                <a:effectLst/>
                <a:latin typeface="+mn-ea"/>
                <a:cs typeface="Times New Roman" panose="02020603050405020304" pitchFamily="18" charset="0"/>
              </a:rPr>
              <a:t>。</a:t>
            </a:r>
            <a:endParaRPr lang="zh-CN" altLang="en-US" sz="1800" b="1" kern="100" dirty="0">
              <a:solidFill>
                <a:srgbClr val="FF0000"/>
              </a:solidFill>
              <a:effectLst/>
              <a:latin typeface="+mn-ea"/>
              <a:cs typeface="Times New Roman" panose="02020603050405020304" pitchFamily="18" charset="0"/>
            </a:endParaRPr>
          </a:p>
          <a:p>
            <a:pPr marL="285750" indent="-285750">
              <a:lnSpc>
                <a:spcPct val="150000"/>
              </a:lnSpc>
              <a:spcBef>
                <a:spcPts val="1200"/>
              </a:spcBef>
              <a:buFont typeface="Wingdings" panose="05000000000000000000" pitchFamily="2" charset="2"/>
              <a:buChar char="u"/>
            </a:pPr>
            <a:endParaRPr lang="en-US" altLang="zh-CN" b="1" dirty="0"/>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6096000" y="6372225"/>
            <a:ext cx="6096000" cy="485775"/>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055025" y="269491"/>
            <a:ext cx="2081951"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未来工作展望</a:t>
            </a:r>
            <a:endParaRPr lang="zh-CN" altLang="en-US" sz="24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sp>
        <p:nvSpPr>
          <p:cNvPr id="10" name="文本框 9"/>
          <p:cNvSpPr txBox="1"/>
          <p:nvPr/>
        </p:nvSpPr>
        <p:spPr>
          <a:xfrm>
            <a:off x="400514" y="1004206"/>
            <a:ext cx="11252433" cy="4739005"/>
          </a:xfrm>
          <a:prstGeom prst="rect">
            <a:avLst/>
          </a:prstGeom>
          <a:noFill/>
        </p:spPr>
        <p:txBody>
          <a:bodyPr wrap="square" rtlCol="0">
            <a:spAutoFit/>
          </a:bodyPr>
          <a:lstStyle/>
          <a:p>
            <a:pPr indent="304800" algn="just">
              <a:lnSpc>
                <a:spcPct val="150000"/>
              </a:lnSpc>
              <a:spcBef>
                <a:spcPts val="600"/>
              </a:spcBef>
            </a:pPr>
            <a:r>
              <a:rPr lang="zh-CN" altLang="en-US" b="1" dirty="0"/>
              <a:t>（</a:t>
            </a:r>
            <a:r>
              <a:rPr lang="en-US" altLang="zh-CN" b="1" dirty="0"/>
              <a:t>1</a:t>
            </a:r>
            <a:r>
              <a:rPr lang="zh-CN" altLang="en-US" b="1" dirty="0"/>
              <a:t>）多原料适配与复杂场景拓展：当前研究聚焦进口再生纸浆，未来可将对象拓展至国产废纸、混合废纸（如快递包装纸、印刷废纸）等多类型原料，探索不同纤维来源（木浆、非木浆混杂）的劣化差异并找到不同原料间的共同点。结合大数据分析，构建多原料数据库，开发适配不同纤维配比的动态劣化模型，解决</a:t>
            </a:r>
            <a:r>
              <a:rPr lang="en-US" altLang="zh-CN" b="1" dirty="0"/>
              <a:t>“</a:t>
            </a:r>
            <a:r>
              <a:rPr lang="zh-CN" altLang="en-US" b="1" dirty="0"/>
              <a:t>单一原料评价</a:t>
            </a:r>
            <a:r>
              <a:rPr lang="en-US" altLang="zh-CN" b="1" dirty="0"/>
              <a:t>”</a:t>
            </a:r>
            <a:r>
              <a:rPr lang="zh-CN" altLang="en-US" b="1" dirty="0"/>
              <a:t>向</a:t>
            </a:r>
            <a:r>
              <a:rPr lang="en-US" altLang="zh-CN" b="1" dirty="0"/>
              <a:t>“</a:t>
            </a:r>
            <a:r>
              <a:rPr lang="zh-CN" altLang="en-US" b="1" dirty="0"/>
              <a:t>复杂原料分级</a:t>
            </a:r>
            <a:r>
              <a:rPr lang="en-US" altLang="zh-CN" b="1" dirty="0"/>
              <a:t>”</a:t>
            </a:r>
            <a:r>
              <a:rPr lang="zh-CN" altLang="en-US" b="1" dirty="0"/>
              <a:t>的技术瓶颈。例如，针对国产废纸中普遍存在的油墨残留、胶黏剂污染等问题，新增含杂率、杂质粒径分布等检测参数，完善评价体系对复杂工况的适应性，推动再生纸浆原料的多元化高效利用。</a:t>
            </a:r>
            <a:endParaRPr lang="zh-CN" altLang="en-US" b="1" dirty="0"/>
          </a:p>
          <a:p>
            <a:pPr indent="304800" algn="just">
              <a:lnSpc>
                <a:spcPct val="150000"/>
              </a:lnSpc>
              <a:spcBef>
                <a:spcPts val="600"/>
              </a:spcBef>
            </a:pPr>
            <a:r>
              <a:rPr lang="zh-CN" altLang="en-US" b="1" dirty="0"/>
              <a:t>（</a:t>
            </a:r>
            <a:r>
              <a:rPr lang="en-US" altLang="zh-CN" b="1" dirty="0"/>
              <a:t>2</a:t>
            </a:r>
            <a:r>
              <a:rPr lang="zh-CN" altLang="en-US" b="1" dirty="0"/>
              <a:t>）环境效益导向的双维度评价拓展：在现有质量评价体系基础上，融入环境可持续性指标，构建</a:t>
            </a:r>
            <a:r>
              <a:rPr lang="en-US" altLang="zh-CN" b="1" dirty="0"/>
              <a:t>“</a:t>
            </a:r>
            <a:r>
              <a:rPr lang="zh-CN" altLang="en-US" b="1" dirty="0"/>
              <a:t>质量</a:t>
            </a:r>
            <a:r>
              <a:rPr lang="en-US" altLang="zh-CN" b="1" dirty="0"/>
              <a:t>-</a:t>
            </a:r>
            <a:r>
              <a:rPr lang="zh-CN" altLang="en-US" b="1" dirty="0"/>
              <a:t>环境</a:t>
            </a:r>
            <a:r>
              <a:rPr lang="en-US" altLang="zh-CN" b="1" dirty="0"/>
              <a:t>”</a:t>
            </a:r>
            <a:r>
              <a:rPr lang="zh-CN" altLang="en-US" b="1" dirty="0"/>
              <a:t>双维度评估模型。量化再生纸浆生产过程中的碳足迹、水耗（清水节约</a:t>
            </a:r>
            <a:r>
              <a:rPr lang="en-US" altLang="zh-CN" b="1" dirty="0"/>
              <a:t>100 </a:t>
            </a:r>
            <a:r>
              <a:rPr lang="zh-CN" altLang="en-US" b="1" dirty="0"/>
              <a:t>立方米</a:t>
            </a:r>
            <a:r>
              <a:rPr lang="en-US" altLang="zh-CN" b="1" dirty="0"/>
              <a:t>/</a:t>
            </a:r>
            <a:r>
              <a:rPr lang="zh-CN" altLang="en-US" b="1" dirty="0"/>
              <a:t>吨）及固废减排（固体废弃物减少</a:t>
            </a:r>
            <a:r>
              <a:rPr lang="en-US" altLang="zh-CN" b="1" dirty="0"/>
              <a:t> 3 </a:t>
            </a:r>
            <a:r>
              <a:rPr lang="zh-CN" altLang="en-US" b="1" dirty="0"/>
              <a:t>立方米</a:t>
            </a:r>
            <a:r>
              <a:rPr lang="en-US" altLang="zh-CN" b="1" dirty="0"/>
              <a:t>/</a:t>
            </a:r>
            <a:r>
              <a:rPr lang="zh-CN" altLang="en-US" b="1" dirty="0"/>
              <a:t>吨）等环境效益，结合生命周期评估（</a:t>
            </a:r>
            <a:r>
              <a:rPr lang="en-US" altLang="zh-CN" b="1" dirty="0"/>
              <a:t>LCA</a:t>
            </a:r>
            <a:r>
              <a:rPr lang="zh-CN" altLang="en-US" b="1" dirty="0"/>
              <a:t>）方法，评估不同回用次数下的综合环境影响。例如，针对</a:t>
            </a:r>
            <a:r>
              <a:rPr lang="en-US" altLang="zh-CN" b="1" dirty="0"/>
              <a:t>“</a:t>
            </a:r>
            <a:r>
              <a:rPr lang="zh-CN" altLang="en-US" b="1" dirty="0"/>
              <a:t>双碳</a:t>
            </a:r>
            <a:r>
              <a:rPr lang="en-US" altLang="zh-CN" b="1" dirty="0"/>
              <a:t>”</a:t>
            </a:r>
            <a:r>
              <a:rPr lang="zh-CN" altLang="en-US" b="1" dirty="0"/>
              <a:t>目标，开发</a:t>
            </a:r>
            <a:r>
              <a:rPr lang="en-US" altLang="zh-CN" b="1" dirty="0"/>
              <a:t>“</a:t>
            </a:r>
            <a:r>
              <a:rPr lang="zh-CN" altLang="en-US" b="1" dirty="0"/>
              <a:t>质量</a:t>
            </a:r>
            <a:r>
              <a:rPr lang="en-US" altLang="zh-CN" b="1" dirty="0"/>
              <a:t>-</a:t>
            </a:r>
            <a:r>
              <a:rPr lang="zh-CN" altLang="en-US" b="1" dirty="0"/>
              <a:t>碳效</a:t>
            </a:r>
            <a:r>
              <a:rPr lang="en-US" altLang="zh-CN" b="1" dirty="0"/>
              <a:t>”</a:t>
            </a:r>
            <a:r>
              <a:rPr lang="zh-CN" altLang="en-US" b="1" dirty="0"/>
              <a:t>联动评分模型，引导企业优先选用环境效益与质量兼顾的再生纸浆，推动造纸行业向</a:t>
            </a:r>
            <a:r>
              <a:rPr lang="en-US" altLang="zh-CN" b="1" dirty="0"/>
              <a:t>“</a:t>
            </a:r>
            <a:r>
              <a:rPr lang="zh-CN" altLang="en-US" b="1" dirty="0"/>
              <a:t>绿色制造</a:t>
            </a:r>
            <a:r>
              <a:rPr lang="en-US" altLang="zh-CN" b="1" dirty="0"/>
              <a:t>+</a:t>
            </a:r>
            <a:r>
              <a:rPr lang="zh-CN" altLang="en-US" b="1" dirty="0"/>
              <a:t>低碳循环</a:t>
            </a:r>
            <a:r>
              <a:rPr lang="en-US" altLang="zh-CN" b="1" dirty="0"/>
              <a:t>”</a:t>
            </a:r>
            <a:r>
              <a:rPr lang="zh-CN" altLang="en-US" b="1" dirty="0"/>
              <a:t>转型，为全球废纸回收利用提供中国方案。</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a:off x="0" y="6372225"/>
            <a:ext cx="10972800" cy="485775"/>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6096000" y="6372225"/>
            <a:ext cx="6096000" cy="485775"/>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746664" y="317116"/>
            <a:ext cx="2698672"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硕士期间取得成果</a:t>
            </a:r>
            <a:endParaRPr lang="zh-CN" altLang="en-US" sz="2400" b="1"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73278" y="6372225"/>
            <a:ext cx="2743200" cy="365125"/>
          </a:xfrm>
        </p:spPr>
        <p:txBody>
          <a:bodyPr/>
          <a:lstStyle/>
          <a:p>
            <a:fld id="{565CE74E-AB26-4998-AD42-012C4C1AD076}" type="slidenum">
              <a:rPr lang="zh-CN" altLang="en-US" sz="1800" b="1">
                <a:solidFill>
                  <a:srgbClr val="FF0000"/>
                </a:solidFill>
              </a:rPr>
            </a:fld>
            <a:endParaRPr lang="zh-CN" altLang="en-US" sz="1800" b="1" dirty="0">
              <a:solidFill>
                <a:srgbClr val="FF0000"/>
              </a:solidFill>
            </a:endParaRPr>
          </a:p>
        </p:txBody>
      </p:sp>
      <p:graphicFrame>
        <p:nvGraphicFramePr>
          <p:cNvPr id="6" name="表格 5"/>
          <p:cNvGraphicFramePr>
            <a:graphicFrameLocks noGrp="1"/>
          </p:cNvGraphicFramePr>
          <p:nvPr>
            <p:custDataLst>
              <p:tags r:id="rId1"/>
            </p:custDataLst>
          </p:nvPr>
        </p:nvGraphicFramePr>
        <p:xfrm>
          <a:off x="976630" y="1104900"/>
          <a:ext cx="10339705" cy="3167380"/>
        </p:xfrm>
        <a:graphic>
          <a:graphicData uri="http://schemas.openxmlformats.org/drawingml/2006/table">
            <a:tbl>
              <a:tblPr/>
              <a:tblGrid>
                <a:gridCol w="549275"/>
                <a:gridCol w="1861820"/>
                <a:gridCol w="2763520"/>
                <a:gridCol w="1443990"/>
                <a:gridCol w="1567180"/>
                <a:gridCol w="1370330"/>
                <a:gridCol w="783590"/>
              </a:tblGrid>
              <a:tr h="975360">
                <a:tc>
                  <a:txBody>
                    <a:bodyPr/>
                    <a:lstStyle/>
                    <a:p>
                      <a:pPr algn="just"/>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序号</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作者（全体作者，按顺序排列）</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题</a:t>
                      </a:r>
                      <a:r>
                        <a:rPr lang="en-US" sz="1600" b="1" kern="100">
                          <a:effectLst/>
                          <a:latin typeface="Times New Roman" panose="02020603050405020304" pitchFamily="18" charset="0"/>
                          <a:ea typeface="宋体" panose="02010600030101010101" pitchFamily="2" charset="-122"/>
                          <a:cs typeface="Times New Roman" panose="02020603050405020304" pitchFamily="18" charset="0"/>
                        </a:rPr>
                        <a:t>    </a:t>
                      </a:r>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目</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发表或投稿刊物名称、级别</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发表的卷期、年月、页码</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与学位论文哪一部分（章、节）相关</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b="1" kern="100">
                          <a:effectLst/>
                          <a:latin typeface="Times New Roman" panose="02020603050405020304" pitchFamily="18" charset="0"/>
                          <a:ea typeface="宋体" panose="02010600030101010101" pitchFamily="2" charset="-122"/>
                          <a:cs typeface="Times New Roman" panose="02020603050405020304" pitchFamily="18" charset="0"/>
                        </a:rPr>
                        <a:t>被索引收录情况</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algn="just"/>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沈文浩</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1" kern="100">
                          <a:effectLst/>
                          <a:latin typeface="Times New Roman" panose="02020603050405020304" pitchFamily="18" charset="0"/>
                          <a:ea typeface="宋体" panose="02010600030101010101" pitchFamily="2" charset="-122"/>
                          <a:cs typeface="Times New Roman" panose="02020603050405020304" pitchFamily="18" charset="0"/>
                        </a:rPr>
                        <a:t>陈家贤</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王益</a:t>
                      </a:r>
                      <a:endPar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一种基于</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 CT </a:t>
                      </a: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扫描表征纸张填料特征及其空间分布的方法</a:t>
                      </a:r>
                      <a:endPar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发明专利</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申请号：</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2024113582108</a:t>
                      </a:r>
                      <a:endPar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第二章</a:t>
                      </a:r>
                      <a:endPar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0500">
                <a:tc>
                  <a:txBody>
                    <a:bodyPr/>
                    <a:lstStyle/>
                    <a:p>
                      <a:pPr algn="just"/>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altLang="zh-CN" sz="1600" b="1" kern="100">
                          <a:effectLst/>
                          <a:latin typeface="Times New Roman" panose="02020603050405020304" pitchFamily="18" charset="0"/>
                          <a:ea typeface="宋体" panose="02010600030101010101" pitchFamily="2" charset="-122"/>
                          <a:cs typeface="Times New Roman" panose="02020603050405020304" pitchFamily="18" charset="0"/>
                        </a:rPr>
                        <a:t>Jiaxian Chen</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,Yi Wang,Yin Liu</a:t>
                      </a: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Wenhao Shen</a:t>
                      </a: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Jaan-WillemSimon</a:t>
                      </a:r>
                      <a:endPar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Permeability simulation for filled paper based on</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three-dimensional structural model developed by</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X-CT scanning</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rPr>
                        <a:t>TAPPI Journal</a:t>
                      </a:r>
                      <a:endParaRPr lang="en-US" alt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已投</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稿</a:t>
                      </a:r>
                      <a:endPar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sym typeface="+mn-ea"/>
                        </a:rPr>
                        <a:t>第二章</a:t>
                      </a:r>
                      <a:endParaRPr lang="zh-CN" alt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p>
                      <a:pPr algn="ct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8414" marR="5841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9485"/>
    </mc:Choice>
    <mc:Fallback>
      <p:transition spd="slow" advTm="29485"/>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0" y="3998470"/>
            <a:ext cx="10972800" cy="2968171"/>
          </a:xfrm>
          <a:prstGeom prst="triangle">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a:off x="7633983" y="4605556"/>
            <a:ext cx="4558018" cy="2361084"/>
          </a:xfrm>
          <a:prstGeom prst="triangle">
            <a:avLst>
              <a:gd name="adj" fmla="val 100000"/>
            </a:avLst>
          </a:prstGeom>
          <a:solidFill>
            <a:srgbClr val="024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719562" y="1604414"/>
            <a:ext cx="10446184" cy="1689052"/>
          </a:xfrm>
          <a:prstGeom prst="rect">
            <a:avLst/>
          </a:prstGeom>
          <a:noFill/>
        </p:spPr>
        <p:txBody>
          <a:bodyPr wrap="square" rtlCol="0">
            <a:spAutoFit/>
          </a:bodyPr>
          <a:lstStyle/>
          <a:p>
            <a:pPr algn="ctr">
              <a:lnSpc>
                <a:spcPct val="150000"/>
              </a:lnSpc>
            </a:pPr>
            <a:r>
              <a:rPr lang="zh-CN" altLang="en-US" sz="2400" b="1" dirty="0">
                <a:solidFill>
                  <a:srgbClr val="024DA2"/>
                </a:solidFill>
                <a:latin typeface="微软雅黑" panose="020B0503020204020204" pitchFamily="34" charset="-122"/>
                <a:ea typeface="微软雅黑" panose="020B0503020204020204" pitchFamily="34" charset="-122"/>
              </a:rPr>
              <a:t>感谢导师沈文浩教授对三年研究生工作和生活的悉心指导和帮助</a:t>
            </a:r>
            <a:endParaRPr lang="en-US" altLang="zh-CN" sz="2400" b="1" dirty="0">
              <a:solidFill>
                <a:srgbClr val="024DA2"/>
              </a:solidFill>
              <a:latin typeface="微软雅黑" panose="020B0503020204020204" pitchFamily="34" charset="-122"/>
              <a:ea typeface="微软雅黑" panose="020B0503020204020204" pitchFamily="34" charset="-122"/>
            </a:endParaRPr>
          </a:p>
          <a:p>
            <a:pPr algn="ctr">
              <a:lnSpc>
                <a:spcPct val="150000"/>
              </a:lnSpc>
            </a:pPr>
            <a:r>
              <a:rPr lang="zh-CN" altLang="en-US" sz="2400" b="1" dirty="0">
                <a:solidFill>
                  <a:srgbClr val="024DA2"/>
                </a:solidFill>
                <a:latin typeface="微软雅黑" panose="020B0503020204020204" pitchFamily="34" charset="-122"/>
                <a:ea typeface="微软雅黑" panose="020B0503020204020204" pitchFamily="34" charset="-122"/>
              </a:rPr>
              <a:t>感谢课题组各位同学对研究工作的帮助</a:t>
            </a:r>
            <a:endParaRPr lang="en-US" altLang="zh-CN" sz="2400" b="1" dirty="0">
              <a:solidFill>
                <a:srgbClr val="024DA2"/>
              </a:solidFill>
              <a:latin typeface="微软雅黑" panose="020B0503020204020204" pitchFamily="34" charset="-122"/>
              <a:ea typeface="微软雅黑" panose="020B0503020204020204" pitchFamily="34" charset="-122"/>
            </a:endParaRPr>
          </a:p>
          <a:p>
            <a:pPr algn="ctr">
              <a:lnSpc>
                <a:spcPct val="150000"/>
              </a:lnSpc>
            </a:pPr>
            <a:r>
              <a:rPr lang="zh-CN" altLang="en-US" sz="2400" b="1" dirty="0">
                <a:solidFill>
                  <a:srgbClr val="024DA2"/>
                </a:solidFill>
                <a:latin typeface="微软雅黑" panose="020B0503020204020204" pitchFamily="34" charset="-122"/>
                <a:ea typeface="微软雅黑" panose="020B0503020204020204" pitchFamily="34" charset="-122"/>
              </a:rPr>
              <a:t>感谢所有研究生期间帮助我的老师，亲友，同学</a:t>
            </a:r>
            <a:endParaRPr lang="zh-CN" altLang="en-US" sz="2400" b="1" dirty="0">
              <a:solidFill>
                <a:srgbClr val="024DA2"/>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565CE74E-AB26-4998-AD42-012C4C1AD076}" type="slidenum">
              <a:rPr lang="zh-CN" altLang="en-US" sz="1800" b="1" smtClean="0">
                <a:solidFill>
                  <a:srgbClr val="FF0000"/>
                </a:solidFill>
              </a:rPr>
            </a:fld>
            <a:endParaRPr lang="zh-CN" altLang="en-US" sz="1800" b="1" dirty="0">
              <a:solidFill>
                <a:srgbClr val="FF0000"/>
              </a:solidFill>
            </a:endParaRPr>
          </a:p>
        </p:txBody>
      </p:sp>
      <p:pic>
        <p:nvPicPr>
          <p:cNvPr id="15" name="图片 14"/>
          <p:cNvPicPr>
            <a:picLocks noChangeAspect="1"/>
          </p:cNvPicPr>
          <p:nvPr/>
        </p:nvPicPr>
        <p:blipFill>
          <a:blip r:embed="rId1"/>
          <a:stretch>
            <a:fillRect/>
          </a:stretch>
        </p:blipFill>
        <p:spPr>
          <a:xfrm>
            <a:off x="200025" y="159406"/>
            <a:ext cx="5286375" cy="669696"/>
          </a:xfrm>
          <a:prstGeom prst="rect">
            <a:avLst/>
          </a:prstGeom>
        </p:spPr>
      </p:pic>
      <p:sp>
        <p:nvSpPr>
          <p:cNvPr id="9" name="文本框 8"/>
          <p:cNvSpPr txBox="1"/>
          <p:nvPr/>
        </p:nvSpPr>
        <p:spPr>
          <a:xfrm>
            <a:off x="2730270" y="3619044"/>
            <a:ext cx="7051293" cy="768415"/>
          </a:xfrm>
          <a:prstGeom prst="rect">
            <a:avLst/>
          </a:prstGeom>
          <a:noFill/>
        </p:spPr>
        <p:txBody>
          <a:bodyPr wrap="square">
            <a:spAutoFit/>
          </a:body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rgbClr val="024DA2"/>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恳请各位专家老师批评指正！</a:t>
            </a:r>
            <a:endParaRPr kumimoji="0" lang="zh-CN" altLang="zh-CN" sz="4000" b="1" i="0" u="none" strike="noStrike" kern="1200" cap="none" spc="0" normalizeH="0" baseline="0" noProof="0" dirty="0">
              <a:ln>
                <a:noFill/>
              </a:ln>
              <a:solidFill>
                <a:srgbClr val="024DA2"/>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048"/>
    </mc:Choice>
    <mc:Fallback>
      <p:transition spd="slow" advTm="15048"/>
    </mc:Fallback>
  </mc:AlternateContent>
</p:sld>
</file>

<file path=ppt/tags/tag1.xml><?xml version="1.0" encoding="utf-8"?>
<p:tagLst xmlns:p="http://schemas.openxmlformats.org/presentationml/2006/main">
  <p:tag name="KSO_WM_DIAGRAM_VIRTUALLY_FRAME" val="{&quot;height&quot;:487.9251968503937,&quot;left&quot;:13.7,&quot;top&quot;:43.574803149606296,&quot;width&quot;:937.55}"/>
</p:tagLst>
</file>

<file path=ppt/tags/tag2.xml><?xml version="1.0" encoding="utf-8"?>
<p:tagLst xmlns:p="http://schemas.openxmlformats.org/presentationml/2006/main">
  <p:tag name="KSO_WM_DIAGRAM_VIRTUALLY_FRAME" val="{&quot;height&quot;:487.9251968503937,&quot;left&quot;:13.7,&quot;top&quot;:43.574803149606296,&quot;width&quot;:937.55}"/>
</p:tagLst>
</file>

<file path=ppt/tags/tag3.xml><?xml version="1.0" encoding="utf-8"?>
<p:tagLst xmlns:p="http://schemas.openxmlformats.org/presentationml/2006/main">
  <p:tag name="KSO_WM_DIAGRAM_VIRTUALLY_FRAME" val="{&quot;height&quot;:487.9251968503937,&quot;left&quot;:13.7,&quot;top&quot;:43.574803149606296,&quot;width&quot;:937.55}"/>
</p:tagLst>
</file>

<file path=ppt/tags/tag4.xml><?xml version="1.0" encoding="utf-8"?>
<p:tagLst xmlns:p="http://schemas.openxmlformats.org/presentationml/2006/main">
  <p:tag name="KSO_WM_DIAGRAM_VIRTUALLY_FRAME" val="{&quot;height&quot;:487.9251968503937,&quot;left&quot;:13.7,&quot;top&quot;:43.574803149606296,&quot;width&quot;:937.55}"/>
</p:tagLst>
</file>

<file path=ppt/tags/tag5.xml><?xml version="1.0" encoding="utf-8"?>
<p:tagLst xmlns:p="http://schemas.openxmlformats.org/presentationml/2006/main">
  <p:tag name="KSO_WM_DIAGRAM_VIRTUALLY_FRAME" val="{&quot;height&quot;:487.9251968503937,&quot;left&quot;:13.7,&quot;top&quot;:43.574803149606296,&quot;width&quot;:937.55}"/>
</p:tagLst>
</file>

<file path=ppt/tags/tag6.xml><?xml version="1.0" encoding="utf-8"?>
<p:tagLst xmlns:p="http://schemas.openxmlformats.org/presentationml/2006/main">
  <p:tag name="KSO_WM_DIAGRAM_VIRTUALLY_FRAME" val="{&quot;height&quot;:487.9251968503937,&quot;left&quot;:13.7,&quot;top&quot;:43.574803149606296,&quot;width&quot;:937.55}"/>
</p:tagLst>
</file>

<file path=ppt/tags/tag7.xml><?xml version="1.0" encoding="utf-8"?>
<p:tagLst xmlns:p="http://schemas.openxmlformats.org/presentationml/2006/main">
  <p:tag name="KSO_WM_DIAGRAM_VIRTUALLY_FRAME" val="{&quot;height&quot;:487.9251968503937,&quot;left&quot;:13.7,&quot;top&quot;:43.574803149606296,&quot;width&quot;:937.55}"/>
</p:tagLst>
</file>

<file path=ppt/tags/tag8.xml><?xml version="1.0" encoding="utf-8"?>
<p:tagLst xmlns:p="http://schemas.openxmlformats.org/presentationml/2006/main">
  <p:tag name="KSO_WM_DIAGRAM_VIRTUALLY_FRAME" val="{&quot;height&quot;:487.9251968503937,&quot;left&quot;:13.7,&quot;top&quot;:43.574803149606296,&quot;width&quot;:937.55}"/>
</p:tagLst>
</file>

<file path=ppt/tags/tag9.xml><?xml version="1.0" encoding="utf-8"?>
<p:tagLst xmlns:p="http://schemas.openxmlformats.org/presentationml/2006/main">
  <p:tag name="KSO_WM_BEAUTIFY_FLAG" val=""/>
  <p:tag name="KSO_WM_DIAGRAM_VIRTUALLY_FRAME" val="{&quot;height&quot;:487.9251968503937,&quot;left&quot;:13.7,&quot;top&quot;:43.574803149606296,&quot;width&quot;:937.55}"/>
</p:tagLst>
</file>

<file path=ppt/tags/tag10.xml><?xml version="1.0" encoding="utf-8"?>
<p:tagLst xmlns:p="http://schemas.openxmlformats.org/presentationml/2006/main">
  <p:tag name="KSO_WM_DIAGRAM_VIRTUALLY_FRAME" val="{&quot;height&quot;:487.9251968503937,&quot;left&quot;:13.7,&quot;top&quot;:43.574803149606296,&quot;width&quot;:937.55}"/>
</p:tagLst>
</file>

<file path=ppt/tags/tag11.xml><?xml version="1.0" encoding="utf-8"?>
<p:tagLst xmlns:p="http://schemas.openxmlformats.org/presentationml/2006/main">
  <p:tag name="KSO_WM_DIAGRAM_VIRTUALLY_FRAME" val="{&quot;height&quot;:487.95,&quot;left&quot;:13.7,&quot;top&quot;:43.55,&quot;width&quot;:937.55}"/>
</p:tagLst>
</file>

<file path=ppt/tags/tag12.xml><?xml version="1.0" encoding="utf-8"?>
<p:tagLst xmlns:p="http://schemas.openxmlformats.org/presentationml/2006/main">
  <p:tag name="KSO_WM_DIAGRAM_VIRTUALLY_FRAME" val="{&quot;height&quot;:487.95,&quot;left&quot;:13.7,&quot;top&quot;:43.55,&quot;width&quot;:937.55}"/>
</p:tagLst>
</file>

<file path=ppt/tags/tag13.xml><?xml version="1.0" encoding="utf-8"?>
<p:tagLst xmlns:p="http://schemas.openxmlformats.org/presentationml/2006/main">
  <p:tag name="KSO_WM_DIAGRAM_VIRTUALLY_FRAME" val="{&quot;height&quot;:487.95,&quot;left&quot;:13.7,&quot;top&quot;:43.55,&quot;width&quot;:937.55}"/>
</p:tagLst>
</file>

<file path=ppt/tags/tag14.xml><?xml version="1.0" encoding="utf-8"?>
<p:tagLst xmlns:p="http://schemas.openxmlformats.org/presentationml/2006/main">
  <p:tag name="KSO_WM_DIAGRAM_VIRTUALLY_FRAME" val="{&quot;height&quot;:487.95,&quot;left&quot;:13.7,&quot;top&quot;:43.55,&quot;width&quot;:937.55}"/>
</p:tagLst>
</file>

<file path=ppt/tags/tag15.xml><?xml version="1.0" encoding="utf-8"?>
<p:tagLst xmlns:p="http://schemas.openxmlformats.org/presentationml/2006/main">
  <p:tag name="KSO_WM_DIAGRAM_VIRTUALLY_FRAME" val="{&quot;height&quot;:487.95,&quot;left&quot;:13.7,&quot;top&quot;:43.55,&quot;width&quot;:937.55}"/>
</p:tagLst>
</file>

<file path=ppt/tags/tag16.xml><?xml version="1.0" encoding="utf-8"?>
<p:tagLst xmlns:p="http://schemas.openxmlformats.org/presentationml/2006/main">
  <p:tag name="KSO_WM_DIAGRAM_VIRTUALLY_FRAME" val="{&quot;height&quot;:487.95,&quot;left&quot;:13.7,&quot;top&quot;:43.55,&quot;width&quot;:937.55}"/>
</p:tagLst>
</file>

<file path=ppt/tags/tag17.xml><?xml version="1.0" encoding="utf-8"?>
<p:tagLst xmlns:p="http://schemas.openxmlformats.org/presentationml/2006/main">
  <p:tag name="KSO_WM_DIAGRAM_VIRTUALLY_FRAME" val="{&quot;height&quot;:487.95,&quot;left&quot;:13.7,&quot;top&quot;:43.55,&quot;width&quot;:937.55}"/>
</p:tagLst>
</file>

<file path=ppt/tags/tag18.xml><?xml version="1.0" encoding="utf-8"?>
<p:tagLst xmlns:p="http://schemas.openxmlformats.org/presentationml/2006/main">
  <p:tag name="KSO_WM_DIAGRAM_VIRTUALLY_FRAME" val="{&quot;height&quot;:487.95,&quot;left&quot;:13.7,&quot;top&quot;:43.55,&quot;width&quot;:937.55}"/>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015_4*l_h_a*1_1_1"/>
  <p:tag name="KSO_WM_TEMPLATE_CATEGORY" val="diagram"/>
  <p:tag name="KSO_WM_TEMPLATE_INDEX" val="20231015"/>
  <p:tag name="KSO_WM_UNIT_LAYERLEVEL" val="1_1_1"/>
  <p:tag name="KSO_WM_TAG_VERSION" val="3.0"/>
  <p:tag name="KSO_WM_UNIT_ISCONTENTSTITLE" val="0"/>
  <p:tag name="KSO_WM_UNIT_ISNUMDGMTITLE" val="0"/>
  <p:tag name="KSO_WM_UNIT_NOCLEAR" val="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DIAGRAM_VERSION" val="3"/>
  <p:tag name="KSO_WM_DIAGRAM_COLOR_TRICK" val="1"/>
  <p:tag name="KSO_WM_DIAGRAM_COLOR_TEXT_CAN_REMOVE" val="n"/>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0.xml><?xml version="1.0" encoding="utf-8"?>
<p:tagLst xmlns:p="http://schemas.openxmlformats.org/presentationml/2006/main">
  <p:tag name="KSO_WM_UNIT_VALUE" val="448*447"/>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1015_4*l_h_d*1_1_1"/>
  <p:tag name="KSO_WM_TEMPLATE_CATEGORY" val="diagram"/>
  <p:tag name="KSO_WM_TEMPLATE_INDEX" val="20231015"/>
  <p:tag name="KSO_WM_UNIT_LAYERLEVEL" val="1_1_1"/>
  <p:tag name="KSO_WM_TAG_VERSION" val="3.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3"/>
  <p:tag name="KSO_WM_DIAGRAM_USE_COLOR_VALUE" val="{&quot;color_scheme&quot;:1,&quot;color_type&quot;:1,&quot;theme_color_indexes&quot;:[5,6,5,6,5,6]}"/>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015_4*l_h_a*1_3_1"/>
  <p:tag name="KSO_WM_TEMPLATE_CATEGORY" val="diagram"/>
  <p:tag name="KSO_WM_TEMPLATE_INDEX" val="20231015"/>
  <p:tag name="KSO_WM_UNIT_LAYERLEVEL" val="1_1_1"/>
  <p:tag name="KSO_WM_TAG_VERSION" val="3.0"/>
  <p:tag name="KSO_WM_UNIT_ISCONTENTSTITLE" val="0"/>
  <p:tag name="KSO_WM_UNIT_ISNUMDGMTITLE" val="0"/>
  <p:tag name="KSO_WM_UNIT_NOCLEAR" val="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DIAGRAM_VERSION" val="3"/>
  <p:tag name="KSO_WM_DIAGRAM_COLOR_TRICK" val="1"/>
  <p:tag name="KSO_WM_DIAGRAM_COLOR_TEXT_CAN_REMOVE" val="n"/>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015_4*l_h_a*1_4_1"/>
  <p:tag name="KSO_WM_TEMPLATE_CATEGORY" val="diagram"/>
  <p:tag name="KSO_WM_TEMPLATE_INDEX" val="20231015"/>
  <p:tag name="KSO_WM_UNIT_LAYERLEVEL" val="1_1_1"/>
  <p:tag name="KSO_WM_TAG_VERSION" val="3.0"/>
  <p:tag name="KSO_WM_UNIT_ISCONTENTSTITLE" val="0"/>
  <p:tag name="KSO_WM_UNIT_ISNUMDGMTITLE" val="0"/>
  <p:tag name="KSO_WM_UNIT_NOCLEAR" val="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DIAGRAM_VERSION" val="3"/>
  <p:tag name="KSO_WM_DIAGRAM_COLOR_TRICK" val="1"/>
  <p:tag name="KSO_WM_DIAGRAM_COLOR_TEXT_CAN_REMOVE" val="n"/>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3.xml><?xml version="1.0" encoding="utf-8"?>
<p:tagLst xmlns:p="http://schemas.openxmlformats.org/presentationml/2006/main">
  <p:tag name="KSO_WM_UNIT_VALUE" val="448*448"/>
  <p:tag name="KSO_WM_UNIT_HIGHLIGHT" val="0"/>
  <p:tag name="KSO_WM_UNIT_COMPATIBLE" val="0"/>
  <p:tag name="KSO_WM_UNIT_DIAGRAM_ISNUMVISUAL" val="0"/>
  <p:tag name="KSO_WM_UNIT_DIAGRAM_ISREFERUNIT" val="0"/>
  <p:tag name="KSO_WM_DIAGRAM_GROUP_CODE" val="l1-1"/>
  <p:tag name="KSO_WM_UNIT_TYPE" val="l_h_d"/>
  <p:tag name="KSO_WM_UNIT_INDEX" val="1_4_1"/>
  <p:tag name="KSO_WM_UNIT_ID" val="diagram20231015_4*l_h_d*1_4_1"/>
  <p:tag name="KSO_WM_TEMPLATE_CATEGORY" val="diagram"/>
  <p:tag name="KSO_WM_TEMPLATE_INDEX" val="20231015"/>
  <p:tag name="KSO_WM_UNIT_LAYERLEVEL" val="1_1_1"/>
  <p:tag name="KSO_WM_TAG_VERSION" val="3.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3"/>
  <p:tag name="KSO_WM_DIAGRAM_USE_COLOR_VALUE" val="{&quot;color_scheme&quot;:1,&quot;color_type&quot;:1,&quot;theme_color_indexes&quot;:[5,6,5,6,5,6]}"/>
</p:tagLst>
</file>

<file path=ppt/tags/tag24.xml><?xml version="1.0" encoding="utf-8"?>
<p:tagLst xmlns:p="http://schemas.openxmlformats.org/presentationml/2006/main">
  <p:tag name="KSO_WM_UNIT_VALUE" val="448*448"/>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1015_4*l_h_d*1_3_1"/>
  <p:tag name="KSO_WM_TEMPLATE_CATEGORY" val="diagram"/>
  <p:tag name="KSO_WM_TEMPLATE_INDEX" val="20231015"/>
  <p:tag name="KSO_WM_UNIT_LAYERLEVEL" val="1_1_1"/>
  <p:tag name="KSO_WM_TAG_VERSION" val="3.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3"/>
  <p:tag name="KSO_WM_DIAGRAM_USE_COLOR_VALUE" val="{&quot;color_scheme&quot;:1,&quot;color_type&quot;:1,&quot;theme_color_indexes&quot;:[5,6,5,6,5,6]}"/>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015_4*l_h_a*1_3_1"/>
  <p:tag name="KSO_WM_TEMPLATE_CATEGORY" val="diagram"/>
  <p:tag name="KSO_WM_TEMPLATE_INDEX" val="20231015"/>
  <p:tag name="KSO_WM_UNIT_LAYERLEVEL" val="1_1_1"/>
  <p:tag name="KSO_WM_TAG_VERSION" val="3.0"/>
  <p:tag name="KSO_WM_UNIT_ISCONTENTSTITLE" val="0"/>
  <p:tag name="KSO_WM_UNIT_ISNUMDGMTITLE" val="0"/>
  <p:tag name="KSO_WM_UNIT_NOCLEAR" val="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DIAGRAM_VERSION" val="3"/>
  <p:tag name="KSO_WM_DIAGRAM_COLOR_TRICK" val="1"/>
  <p:tag name="KSO_WM_DIAGRAM_COLOR_TEXT_CAN_REMOVE" val="n"/>
  <p:tag name="KSO_WM_UNIT_TEXT_FILL_TYPE" val="1"/>
  <p:tag name="KSO_WM_UNIT_TEXT_TYPE" val="1"/>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6.xml><?xml version="1.0" encoding="utf-8"?>
<p:tagLst xmlns:p="http://schemas.openxmlformats.org/presentationml/2006/main">
  <p:tag name="KSO_WM_UNIT_VALUE" val="448*448"/>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1015_4*l_h_d*1_3_1"/>
  <p:tag name="KSO_WM_TEMPLATE_CATEGORY" val="diagram"/>
  <p:tag name="KSO_WM_TEMPLATE_INDEX" val="20231015"/>
  <p:tag name="KSO_WM_UNIT_LAYERLEVEL" val="1_1_1"/>
  <p:tag name="KSO_WM_TAG_VERSION" val="3.0"/>
  <p:tag name="KSO_WM_DIAGRAM_MAX_ITEMCNT" val="6"/>
  <p:tag name="KSO_WM_DIAGRAM_MIN_ITEMCNT" val="2"/>
  <p:tag name="KSO_WM_DIAGRAM_VIRTUALLY_FRAME" val="{&quot;height&quot;:349.5749545264056,&quot;left&quot;:64.81250610351563,&quot;top&quot;:104.4750454735944,&quot;width&quot;:842.7374938964844}"/>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DIAGRAM_VERSION" val="3"/>
  <p:tag name="KSO_WM_DIAGRAM_COLOR_TRICK" val="1"/>
  <p:tag name="KSO_WM_DIAGRAM_COLOR_TEXT_CAN_REMOVE" val="n"/>
  <p:tag name="KSO_WM_UNIT_LINE_FORE_SCHEMECOLOR_INDEX" val="13"/>
  <p:tag name="KSO_WM_DIAGRAM_USE_COLOR_VALUE" val="{&quot;color_scheme&quot;:1,&quot;color_type&quot;:1,&quot;theme_color_indexes&quot;:[5,6,5,6,5,6]}"/>
</p:tagLst>
</file>

<file path=ppt/tags/tag27.xml><?xml version="1.0" encoding="utf-8"?>
<p:tagLst xmlns:p="http://schemas.openxmlformats.org/presentationml/2006/main">
  <p:tag name="TABLE_ENDDRAG_ORIGIN_RECT" val="493*356"/>
  <p:tag name="TABLE_ENDDRAG_RECT" val="22*114*493*356"/>
</p:tagLst>
</file>

<file path=ppt/tags/tag28.xml><?xml version="1.0" encoding="utf-8"?>
<p:tagLst xmlns:p="http://schemas.openxmlformats.org/presentationml/2006/main">
  <p:tag name="TABLE_ENDDRAG_ORIGIN_RECT" val="487*391"/>
  <p:tag name="TABLE_ENDDRAG_RECT" val="32*108*487*391"/>
</p:tagLst>
</file>

<file path=ppt/tags/tag29.xml><?xml version="1.0" encoding="utf-8"?>
<p:tagLst xmlns:p="http://schemas.openxmlformats.org/presentationml/2006/main">
  <p:tag name="TABLE_ENDDRAG_ORIGIN_RECT" val="792*138"/>
  <p:tag name="TABLE_ENDDRAG_RECT" val="26*74*792*138"/>
</p:tagLst>
</file>

<file path=ppt/tags/tag30.xml><?xml version="1.0" encoding="utf-8"?>
<p:tagLst xmlns:p="http://schemas.openxmlformats.org/presentationml/2006/main">
  <p:tag name="TABLE_ENDDRAG_ORIGIN_RECT" val="437*170"/>
  <p:tag name="TABLE_ENDDRAG_RECT" val="40*160*437*170"/>
</p:tagLst>
</file>

<file path=ppt/tags/tag31.xml><?xml version="1.0" encoding="utf-8"?>
<p:tagLst xmlns:p="http://schemas.openxmlformats.org/presentationml/2006/main">
  <p:tag name="TABLE_ENDDRAG_ORIGIN_RECT" val="467*383"/>
  <p:tag name="TABLE_ENDDRAG_RECT" val="30*88*467*383"/>
</p:tagLst>
</file>

<file path=ppt/tags/tag32.xml><?xml version="1.0" encoding="utf-8"?>
<p:tagLst xmlns:p="http://schemas.openxmlformats.org/presentationml/2006/main">
  <p:tag name="TABLE_ENDDRAG_ORIGIN_RECT" val="493*435"/>
  <p:tag name="TABLE_ENDDRAG_RECT" val="15*78*493*435"/>
</p:tagLst>
</file>

<file path=ppt/tags/tag33.xml><?xml version="1.0" encoding="utf-8"?>
<p:tagLst xmlns:p="http://schemas.openxmlformats.org/presentationml/2006/main">
  <p:tag name="TABLE_ENDDRAG_ORIGIN_RECT" val="487*340"/>
  <p:tag name="TABLE_ENDDRAG_RECT" val="25*164*487*340"/>
</p:tagLst>
</file>

<file path=ppt/tags/tag34.xml><?xml version="1.0" encoding="utf-8"?>
<p:tagLst xmlns:p="http://schemas.openxmlformats.org/presentationml/2006/main">
  <p:tag name="KSO_WM_DIAGRAM_VIRTUALLY_FRAME" val="{&quot;height&quot;:333.77770004685254,&quot;left&quot;:58.65,&quot;top&quot;:148.1,&quot;width&quot;:862.65}"/>
</p:tagLst>
</file>

<file path=ppt/tags/tag35.xml><?xml version="1.0" encoding="utf-8"?>
<p:tagLst xmlns:p="http://schemas.openxmlformats.org/presentationml/2006/main">
  <p:tag name="KSO_WM_DIAGRAM_VIRTUALLY_FRAME" val="{&quot;height&quot;:333.77770004685254,&quot;left&quot;:58.65,&quot;top&quot;:148.1,&quot;width&quot;:862.65}"/>
</p:tagLst>
</file>

<file path=ppt/tags/tag36.xml><?xml version="1.0" encoding="utf-8"?>
<p:tagLst xmlns:p="http://schemas.openxmlformats.org/presentationml/2006/main">
  <p:tag name="KSO_WM_DIAGRAM_VIRTUALLY_FRAME" val="{&quot;height&quot;:333.77770004685254,&quot;left&quot;:58.65,&quot;top&quot;:148.1,&quot;width&quot;:862.65}"/>
</p:tagLst>
</file>

<file path=ppt/tags/tag37.xml><?xml version="1.0" encoding="utf-8"?>
<p:tagLst xmlns:p="http://schemas.openxmlformats.org/presentationml/2006/main">
  <p:tag name="KSO_WM_DIAGRAM_VIRTUALLY_FRAME" val="{&quot;height&quot;:333.77770004685254,&quot;left&quot;:58.65,&quot;top&quot;:148.1,&quot;width&quot;:862.65}"/>
</p:tagLst>
</file>

<file path=ppt/tags/tag38.xml><?xml version="1.0" encoding="utf-8"?>
<p:tagLst xmlns:p="http://schemas.openxmlformats.org/presentationml/2006/main">
  <p:tag name="KSO_WM_DIAGRAM_VIRTUALLY_FRAME" val="{&quot;height&quot;:333.77770004685254,&quot;left&quot;:58.65,&quot;top&quot;:148.1,&quot;width&quot;:862.65}"/>
</p:tagLst>
</file>

<file path=ppt/tags/tag39.xml><?xml version="1.0" encoding="utf-8"?>
<p:tagLst xmlns:p="http://schemas.openxmlformats.org/presentationml/2006/main">
  <p:tag name="KSO_WM_DIAGRAM_VIRTUALLY_FRAME" val="{&quot;height&quot;:333.77770004685254,&quot;left&quot;:58.65,&quot;top&quot;:148.1,&quot;width&quot;:862.65}"/>
</p:tagLst>
</file>

<file path=ppt/tags/tag40.xml><?xml version="1.0" encoding="utf-8"?>
<p:tagLst xmlns:p="http://schemas.openxmlformats.org/presentationml/2006/main">
  <p:tag name="KSO_WM_DIAGRAM_VIRTUALLY_FRAME" val="{&quot;height&quot;:333.77770004685254,&quot;left&quot;:58.65,&quot;top&quot;:148.1,&quot;width&quot;:862.65}"/>
</p:tagLst>
</file>

<file path=ppt/tags/tag41.xml><?xml version="1.0" encoding="utf-8"?>
<p:tagLst xmlns:p="http://schemas.openxmlformats.org/presentationml/2006/main">
  <p:tag name="KSO_WM_DIAGRAM_VIRTUALLY_FRAME" val="{&quot;height&quot;:333.77770004685254,&quot;left&quot;:58.65,&quot;top&quot;:148.1,&quot;width&quot;:862.65}"/>
</p:tagLst>
</file>

<file path=ppt/tags/tag42.xml><?xml version="1.0" encoding="utf-8"?>
<p:tagLst xmlns:p="http://schemas.openxmlformats.org/presentationml/2006/main">
  <p:tag name="KSO_WM_DIAGRAM_VIRTUALLY_FRAME" val="{&quot;height&quot;:333.77770004685254,&quot;left&quot;:58.65,&quot;top&quot;:148.1,&quot;width&quot;:862.65}"/>
</p:tagLst>
</file>

<file path=ppt/tags/tag43.xml><?xml version="1.0" encoding="utf-8"?>
<p:tagLst xmlns:p="http://schemas.openxmlformats.org/presentationml/2006/main">
  <p:tag name="KSO_WM_DIAGRAM_VIRTUALLY_FRAME" val="{&quot;height&quot;:333.77770004685254,&quot;left&quot;:58.65,&quot;top&quot;:148.1,&quot;width&quot;:862.65}"/>
</p:tagLst>
</file>

<file path=ppt/tags/tag44.xml><?xml version="1.0" encoding="utf-8"?>
<p:tagLst xmlns:p="http://schemas.openxmlformats.org/presentationml/2006/main">
  <p:tag name="KSO_WM_DIAGRAM_VIRTUALLY_FRAME" val="{&quot;height&quot;:333.77770004685254,&quot;left&quot;:58.65,&quot;top&quot;:148.1,&quot;width&quot;:862.65}"/>
</p:tagLst>
</file>

<file path=ppt/tags/tag45.xml><?xml version="1.0" encoding="utf-8"?>
<p:tagLst xmlns:p="http://schemas.openxmlformats.org/presentationml/2006/main">
  <p:tag name="KSO_WM_DIAGRAM_VIRTUALLY_FRAME" val="{&quot;height&quot;:333.77770004685254,&quot;left&quot;:58.65,&quot;top&quot;:148.1,&quot;width&quot;:862.65}"/>
</p:tagLst>
</file>

<file path=ppt/tags/tag46.xml><?xml version="1.0" encoding="utf-8"?>
<p:tagLst xmlns:p="http://schemas.openxmlformats.org/presentationml/2006/main">
  <p:tag name="KSO_WM_DIAGRAM_VIRTUALLY_FRAME" val="{&quot;height&quot;:333.77770004685254,&quot;left&quot;:58.65,&quot;top&quot;:148.1,&quot;width&quot;:862.65}"/>
</p:tagLst>
</file>

<file path=ppt/tags/tag47.xml><?xml version="1.0" encoding="utf-8"?>
<p:tagLst xmlns:p="http://schemas.openxmlformats.org/presentationml/2006/main">
  <p:tag name="KSO_WM_DIAGRAM_VIRTUALLY_FRAME" val="{&quot;height&quot;:430.674251968504,&quot;left&quot;:37.75,&quot;top&quot;:80.57574803149605,&quot;width&quot;:907.7}"/>
</p:tagLst>
</file>

<file path=ppt/tags/tag48.xml><?xml version="1.0" encoding="utf-8"?>
<p:tagLst xmlns:p="http://schemas.openxmlformats.org/presentationml/2006/main">
  <p:tag name="TABLE_ENDDRAG_ORIGIN_RECT" val="814*249"/>
  <p:tag name="TABLE_ENDDRAG_RECT" val="76*87*814*249"/>
</p:tagLst>
</file>

<file path=ppt/tags/tag50.xml><?xml version="1.0" encoding="utf-8"?>
<p:tagLst xmlns:p="http://schemas.openxmlformats.org/presentationml/2006/main">
  <p:tag name="resource_record_key" val="{&quot;10&quot;:[1998616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NDA3Mjg0MDU3NzEyIiwKCSJHcm91cElkIiA6ICIxNzMxMjcwMzUiLAoJIkltYWdlIiA6ICJpVkJPUncwS0dnb0FBQUFOU1VoRVVnQUFBaHdBQUFFK0NBWUFBQURHY3NuY0FBQUFBWE5TUjBJQXJzNGM2UUFBSUFCSlJFRlVlSnpzM1hlY0crV2RQL0NQZXQyVlZyc3JiZS9GYTN2ZE1RWmpERFpnRzNDd0tVY25oRUNTbzRSeU9CZU9YeTZYUWdxUWhIQ1ErRWdqSklBaEJvY2pZQU0yQVlQQjJPQnVyNzI5RjJsWDBxclhtZDhmMHM1cXBKRldXMlFEOTMyL1huNTVOYU1aUFZ1aytjN3pmSi92SXpyLzlrZFpFRUlJSVlSa2tQaE1ONEFRUWdnaFgzNFVjQkJDQ0NFazR5amdJSVFRUWtqR1VjQkJDQ0dFa0l5amdJTVFRZ2doR1VjQkJ5R0VFRUl5amdJT1FnZ2hoR1FjQlJ5RUVFSUl5VGdLT0FnaGhCQ1NjUlJ3RUVJSUlTVGpLT0FnaEJCQ1NNWlJ3RUVJSVlTUWpLT0FneEJDQ0NFWlJ3RUhJWVFRUWpLT0FnNUNDQ0dFWkJ3RkhJUVFRZ2pKT0FvNENDR0VFSkp4RkhBUVFnZ2hKT01vNENDRUVFSkl4bEhBUVFnaGhKQ01vNENERUVJSUlSbEhBUWNoaEJCQ01vNENEa0lJSVlSa0hBVWNoQkJDQ01rNENqZ0lJWVFRa25FVWNCQkNDQ0VrNHlqZ0lJUVFRa2pHVWNCQkNDR0VrSXlqZ0lNUVFnZ2hHVWNCQnlHRUVFSXlqZ0lPUWdnaGhHUWNCUnlFRUVJSXlUZ0tPQWdoaEJDU2NSUndFRUlJSVNUaktPQWdoQkJDU01aUndFRUlJWVNRaktPQWd4QkNDQ0VaUndFSElZUVFRaktPQWc1Q0NDR0VaQndGSElRUVFnakpPQW80Q0NHRUVKSnhGSEFRUWdnaEpPTW80Q0NFRUVKSXhsSEFRUWdoaEpDTWs1N3BCaEJDeUhRWmIxMTlwcHRBeUdsbGZuYlhtVzdDcEZFUEJ5R0VFRUl5amdJT1FnZ2hoR1FjQlJ5RUVFSUl5VGdLT0FnaGhCQ1NjUlJ3RUVJSUlTVGpLT0FnaEJCQ1NNWlJ3RUVJSVlTUWpLT0FneEJDQ0NFWlJ3RUhJWVFRUWpLT0FnNUNDQ0dFWkJ3RkhJUVFRZ2pKT0FvNENDR0VFSkp4RkhBUVFnZ2hKT01vNENDRUVFSkl4bEhBUVFnaGhKQ01vNENERUVJSUlSa25QZE1OSUlTUXo2c0NwUUwxMlJyc0hiYkR6ekFaZTQzUllCRGVzUEQ1dFZJSkFneURBTVB5dHV0a1VuakQ0WVR0cVY1SExaVUFBRnpCRU16K3dQUWFQa1ZpQVBsS09ZcFVTaHkwT1dia25IS3hLT1hQUVNJQ3d1bjltQ2Fra1VqZ0RvZG41bVNuVVVWaExpcUw4MUJiWmtKTnFSRTFwVVlBUUd2UEVGcDdMR2p1SGtKbi96QTYrMGN5MWdZS09BZ2hKSWxyeWdweGZyNEJ0MWN4K0hqRWhtZGF1eEZpVTErNU5CSUpEQW9aREhJNURISVo4cFZ5NU1ybDBNbWwrTm1KdG9UbjMxOWZpVEtOQ2lkR1hYaTFkd0RIUjEyOC9WZVdGbUp0WVQ1T09sellZN0hoQThzSTFoZWJzS0c0QU8rWlIvQ0g5cDYwdnBldlY1ZGlnVDRiQUxCM3hJNWZuR3hQNnppbFdJeWJLb3ZoQ1lYeFFsZC9Xc2NrODRQR090UmxhU0FWaVFBQS8zV3NPZUg3bllwdjExV2lXSzNFOW40ejNqZGJ1ZUJRSWdKV20vSndWV2toTnJkMlRUdkFNU3JrZUhySlhBUVlGaU9CQUY3czdNUEhJL1pwdHovVHZudnJPdVRwTlhDNmZXanBNV1ByemsvUjJtTUdBQzc0dUdCUkhkVEw1MkxZN3NhamY5NlJrWFpRd0VFSUlRS0tWQXFjbDI4QUFDZ2xZa2hGSW9SWUZtSUFxd3Z5b0pmSm9KTkxvWmZKb0pmTGtDT1hRUytUUVM0V0pUMW5nVktCUVorZmUxeXBVYUZLcXdZQXpOVm40US90M1FuSExESG9JQk9KMEtqTFFxZmJpeEsxQ3RlV0ZVRUVZRTFoUHZhTjJIRjAxRG1qMy91WStmcHNmS09tREVhRkhBRFE3L1hqUGJQd0hYQTY0L090VGpkbVoydTV4eGNhODlBMFFjQXhVYi9Td3B4c25KMnJCd0RjVVYyR3RZVkdQSER3QkJSaU1SNWYySUFDcFFJQThJM3Fjanh3OEhqU25xUjBMSS8rUGNqRkloUW9GV2gxZWFaOHJ0TmhZWDBaSHJsckE1N2NzZ3M3UGpvdStKeDl4enV4NzNnbjkzamQ4cm40eHhQMzRPR250K0Z3UysrTXRvY0NEa0lJRVhCdFdSRjNFZldFR1R6WEVmbndaUUJzS0NuZ0xzS1RVYUZSOFFLT05ZWDUzTmQ3TEZiMGUvMjg1eGVybENpTVhqQUI0RU9MRmUwdUQ5NGRHc1pxVXg1RUFMNVZXNDc3RHh4UGUyZ2xIZmtLT2I1YVdjSmR5TWQ4czZZTVF6NC9taHo4SUdGRGlRazNsaGRQK25WV0dnMVlhVFNrZk02VHpaMzR3R0lWM0tlU2lQSDFxakxldGxkN0J3QUFmb2JCWWJzREJRV1JuM0dlUW9hdlZaWGlOeTFkU1Y5TExaR2tEQmlYNStWd1gzZTZ2UWd5RFBTeTlDK2pua2tNZ1UzWFRaY3V3NktHTWx6OW5jM3crTklmUHR1KzV4ZytPTmlDUis3Y2dMM0hPdkRpam4wejFpWUtPQWdoSkU2VlJvMXpZaTR1TDNmM3d4NE1jWStiUmwwd1RuQ2h0QVdDR1BJRk1CSUlZTmdmd0lnL2dHNlBsOXV2bFVxd0lqOFhRQ1NJMmRvemtIQ09DMDI1M05lRFBqL2FvM2ZVVzdyNmNWNitBUXF4R04xdUw3UlNLYXlCNEpTKzExaGFxUVJYbGhSZ2JaRVJNbEhpaGJmWjZVWXdRN2tzVTNGUFhTVk15dkhBNzRURGhROHROdTd4aTUzOU9DYzNCOW5Sb09CQ1l5NDZYQjVzSDdBSW51L3V1Z3FjWmRDbDlkcVZHaFYrdDNUZXBOcjdoL1llN0VqeTJqUHBwc3VXSVRkTGd3ZCs4ZktVam5kNS9MajM4WmR3L3cwWDRZWjFaK09GN1ovTVNMc280Q0NFa0RpM1ZwVmc3SExiNmZaaWU3OFpKV29sTmhRWDRPOTlnemhzZDBBdmoxemtiWUVncklFZ0NwVUtYRlprNU03eDYrYU9sUGtKYXdyenVidnBQUllyQWd5RFJ4YzA0QVB6Q0haYnJIQUdRMWhwSEE4NFJCRGgyM1VWM0dOWEtJeVJjQkRlY0JnM1ZmQjdGNTVwN1ladkVvR0JXaUxHdWlJanZsSnNnbG9pU2RqZjd2TGd4YTUrSExKUG5BUGhDWWZSNS9HbC9kb1RjY1FFZXJHdUxpM2tCUWVlTUlPbm1qdDV6M0dIdy9oTmF4ZSsyMUROYmJ1MXFoUjlYaCtPMkRNekRIV21MYXd2dzZMNk1qend5NmtGRzdGKzljSk9QTG5wT2h4cjZjT1IxdWtQcjFEQVFRZ2hNVllhRFdpSTVoa3dBRGEzZG9FQmNGdFZLUnAxV1RqZmFNQ0hGaXQrZkx5VmQxeHNkL3RFbEdJeExpc3lBUUJDTElzdFhmMzRTbkVCS2pVcVZGYVdvRUdYaFQwV0s2KzczcVNVdzZSTTdGVXBVaWtTdHYycHZRZStOT0lOclZTQ3k0dE1XRmVVTHhobzlIcDllS21ySDNzbmtSalo3SFRqa1ppZnplMVZwU2hTS3dFQXIvY05DU1p1WGxsU2dMbjZMQUNSWWFOM2gxTFBsRmhibUk5cnl3cDUyLzdRMWcyTHdNeWJ6NnlqZUd2UWdqWFJvUlV4Z0UwTjFmajVpVFljeTFEdXk1bjB5RjBiY1BWM05zL1krUjUrK3U5NDRTZTNZLzE5VDAzN1hCUndFRUpJVko1Q2psc3JTN25IMi92TmFITjVzTlNnUjZNdWNrRVVJWEpSblk2TnBRWElpazVSZldkd0dBR0d3V3BUSHJkL1crOGd2bFZUUHEzWFNFZUJVb0VyU2t6Y3JKRXhiUzRQWHVzZHhONFJPNmFTY1hCbFNRRnFzalFBZ05rNkxUVFJZQ1pMS3NYRkJma0p6Ni9XcW1HUXl3QkVmZ2RMREpIY0VVOG9qS2RhK0wwV2x4VVpjV3RsQ1cvYkcvMW03RTZTNXdFQXo3YjNva0tqUm4yMFRVcXhHQS9OcnNIako5dDRBZEJmT25xeHJYZVFkNndJd0QxMUZWenlxVFVReEM5T3RxTlVyY1Q1TVQxUWYrOGRoQ3VVZXJxczJlZFB1WCs2dm52ck9qeTVaVmZLbkkxejUxWGorclZMVVZXU2oyQXdqRk5kZzNqbTFkMW82eFVlNm5GNmZOaTg5WDFzdW1VTkhudnVyV20xandJT1FnaUorbHBWQ2JUUzhUdjlKUVk5Rmh0MHlJbGVESUZJc1BIV05NYmh0VklKdmxKczRoNmJsQXA4cDZHYUcxNDViSGZBSUplaExOb3JBQUJEdmdBZVBIaUNlM3hsYVFFMmxoUUFBRHJjWHZ6bmtWTzgxMGgzT0tYVjVjSHpuWDM0YXZRQ2Z0anV4R3U5ZzlPZTlWS1hyY0hpbk1SY2lBcU5DaFVhVmNwakM1VUtMbEhXR1hNQkZ3TzR2cndZRzBwTXZPZC9haDNGbnp0U2QvZUhXQmFQTnJYaFovTm5JVCthN0NzWGkvQ2RobXI4dGJNUGIvUkhwb2dPK1B4QVhGQ3cycFRIQlJzQThPZU9YalE3M1RESVpid1pOMDk1ZklJOUxLZExSV0V1Y3ZXYXBMTlJBT0NTWmJQeDhOY3ZBd0FFUTJHb2xYSXNhNnpDb2xsbCtOWlAvcG8wNkhqanc2Tll2YlFCcGFZYzlBelpCSitURHFvMFNnZ2hVZkU1RnlhbEhBVktCUlRpeUVkbGlHWHgyOWF1S2QzMWozR0Z3aGp4anlkNExzckpSbTMwemh1STlHN0U1MlN3WU9GakdPNWZiQzBRbHVYdm0wenVCZ0Q4bzkrTUxkMzkySFNvQ1Q4KzNwS3hLYmJUa1NXVjRPRTV0UW5CeGtHYkE3ODgyWjdXNzhNUkRPR0h4MXBnaTBtdWxZcEV1TFd5QkEvTXFvSlNuSGc1ekZmSWNYUGwrTy9pMktnVEh3MVAvWUtiU1pYRmVYQk5rRHR6MDZYTEFBQzdEelJqN2QxUDRNb0hmNE9CNFZISVpWSmN0WHBSeW1PZGJoK3FpaE43cHlhRGVqZ0lJU1RxSTRzVlg2MHNnUmlSNElKaHdac211YlZuQUwwemtCQzViOFNHOWNXbWhPMEhiUTdNeXRieTdxZ0JJRXNtNVUwN25SVnpaMjFReUhuN1hLRVFYdXNiZ2hoQWRVd2dFNXVqb1pWS2VFSE9FYnNUTXJHWXQyMGlRWVpCcDlzcnVPL25KOXE0cE51ZnpwL0YxUnI1bjladXZEczBuUEQ4ZStzcmNXNDBCK2ExdmlHODBObkgyNy9LbElkNTBSeVBNZFpBRVA4MGoyQkJUbmJhYlFhQTdRTVdYRjllaE5oQnBHS1ZBa3hjMkNJVmlmREFyQ3B1T0NqTUFuOXE3K1h1MGtWeHcxQmlVZkk3ZURiNkw1TnF5MHhvNlRZbjNTOFNBVWRhZWpFd1BJcVgzdjRVb1RBRG04T0RnNmU2VVpqWENFTjI2dDk5Yy9jUWFzdE5lUDlBODVUYlNBRUhPZTJLOC9YSXlkWkFKazFNVWlOa0t2b21ma3BhN01FUU5oMXNnalVRUUpobDhmakMyVnk5alhhM0I5dDZCckd4cEFBWHhJemRqMUZLK0plYnUyc3JFUkRvYlhqbzhFbHM3Um5FbXdObTVNamxlR1JlUFVTSVhKQzJkUGZqQm9GNkZocUpKT0h1Zm94ZUp1WHRzL2dEZUsxdkNCcXBCRCtaVnk5NHpGeGRWdEo5NmJJR2d2am0vcU9DKzVKZFlCY2FzcUdUSjE1MlNtS0dqMWcyc2RqWGEzMURxTlNxZVltNUJya01EOVJYVHFIbEVZNVFDTmxTS2J4aEJvODF0U2ZVeDdpOXVndzEwVUFKaUZRdC9jWENocVRuZTJyeDNLVDczak9QNE9rVTlUOW1RazJwRVZ0M2ZwcDBQOHNDai8vbGJkNDJrUWlZVXgzNWUrdVlvS1I1YTQ4WlY2NUszUXN5RVFvNFNNYlZscG13ZXVrc0xHdXNRbVZSM3NRSEVESkoxK3c1TUdQbkdxdVZjVjk5SlJkc0JGa1cvMzJxRXd3aWE1Z0l6UXlKbDZlUUNXNlhpQ0s1Q1o1d0dIZFVsM04zMm51SGJXaDNlYkI5d0l6NWNYZnpuM2RTMFhpd2xhcnkrMUtESGtzTit1UlBTR0Z6U3hkTVNnV2FScDJDdlVPVDlmMGp6ZmhtVFJuZUhoem1GV01EZ0g4cEs4UnFVMkpRK1hsV1Uycmt5cFduNis1clY2Rzh3QUIvSUlUWDNqdVk4cmt0M1VPb0xadmV6NTBDRHBJeHhmbDZmUE9xbFZpNXVPNU1ONFdRU1ZsZlpPVGRUVC9mMllkZTc4elZsZ0NBK2Zvc0xJb09CNFJZbGx1bjVLQjFGS1BCRUk3WUhWZ1JMYVU5bWFUUitLR0IweUYybGt0NGdyVm1wc3JITUhqbzhFblVabWxtSk9BdysvMzQvdEhtaE42VVM0dU11S2EwTU9INVFaYUZNNlltaUZ3czVpVVkyNE1oTURIZmU3Wk1takQ3NS9Qa251dFc0ZXJWaXdFQXYzNXhGd1pIWm1ZaHZWUW80Q0FaY2RIWkRmamU3WmNuM1grcWN4RGVHYWlNU01oTVc1RnZ3RTB4MHk0NzNGNjB1enhZYVRTZ1VLbEVmYllXVDV6cVNEaXVMa3VEUzJNS2Z5WEw5L0NHR1NqRVl0eFJQVDd0OWJETmdYS05DbWZsNnBFcmwrSG5UVzJvMXFxNWdHTXNhWFNNVU5Kb1BHY296T3Y1ZVhoT1RkTEYyeVFpNE9rbGpjaU56c1o1WjNBWXo3UWxydXVTakV5Y1BPRDQzdEZURUNQOUMrOUVpK04xdUR5NDg5TmozT083NnlwNHMwWHVQWEFjUVlIeTRkOXBxT1pteUxDQVlJbng5Y1VtM0ZJaFhLTDlwTU9GSHg1cjRSNHZ5OVhqMzJaVmNZLy80L0JKM2l5Vkh6WFdZOVlFZVJFenFiWEhqSnBTSTI5ZEZDRWlFYkRwbHJXNDdMeEdzQ3p3MUV2djRvMFBqMHg0L2tpT3lOQzAya2dCQjVseHQ2NWZqcTk5NVZ6ZXR2Yy9hOFlIQjF2UTJtTkdSMzlpMGhnaDAyRzhkZldNbktjdVM0Tjc2aXA0bDhkS2pRby9iQnp2cGV2MStyQW55VXlGUzJPK1BqYnFURnBwOUlvU0U2OGs5MktERG91alZUTjdQVDQ4MjlHTDZwajhBUkZFdkZrVXNYZk9JaEYvSHdOMjB1dDFoTmxJVWE2eCtoWVhGZVRob0cwVSs2MmphUjJ2aWtsSTlZYkRXSmlUUGExZWlCREQ0aWNuV29YM3NTenZ3cTZWamwvRy9BeVRzQjZORUgrU21UeHJZOWEyQ1RBc0hNRWc4cWF3WnM2WmtHN0FjZDhORitPeTh4b1JabGo4L05udGVPdmo1Tk5vWTlXVUd0RXl5U0diZUJSd2tCbTE4Y0tGdkdEREZ3aml5UmZUaTZBSk9kUGFYUjQ0Z3lGdTdRMGg5aG5vbVVzMnV3T0lKRFBHTXlubCtNczVDd1NmWDZsUjhmWlovQUZlRDBDNjNocXdZRTFoUGdxVkNvZ1FXZkw5UjhkYjBpcHlGbnRSOW9ZWkdPUXlybERhVkFUVEhKYVJpVVM4ZkpxaEZBV3ZGREZKdmI0a0s4YnVzVml4c2FRQWZvYkJ6MDYwNGZKaTR4Y200R2p1SHNMS1JhbUhyeTlkM29nTkYwVCtWbDU5OXpNMGRReWdyQ0RTaStiMUIyR3hKWjhTWFY5dXdzNTlUZE5xSXdVY1pNWXNxQ3ZGdDY4YnY5UHNIclRpNGFlM29Yc3dlUVZBUWo1UFFpeUxkd2FIY1ZWcEpEL0NGUXJEN1BQREhGMTh6ZUlQY0F1b1RjZFJ1d01CaG9WY0xJSW56TURpODJNNEVJQTlFRUtUNDh6VXdRaXhMSjVwN2NiMzV0WkNqTWlzbSsvTnFjVXZUN1VMbGlPUEZYdFJ0Z1dDQ0VXSGVXUWlNU1F4M1VXcGFvVEl4V0p1V21tNmFTRHpjN0o1dlQzZEtRSTVSVXd2a0Rjc1hCRjAzNGdkYXd1TitNbUpWcHgwdUhCNXNWSHdlWjlIbmYzRHVIUjVZOUw5RW9rWXQxMXhIdmY0bW91VzRKcUxsbkNQUDJ2cVNybitpa2FsUUVmZjlIcW5LZUFnTTBJdWsrSy92cmtlNHVoWXJ0M3B3WjAvZlI3T0dWekVpWkRUNGMxK000NlBPdEhsOWdyMk5zeUVBTVBpKzBkUFlkZ2Y0SzFDbTR3N0hNWTdBK01mOXJPeXRWeCtnRDBZd25zeGE0KzRwdEhtRnFjYnIvWU00T3BvMHFSU0Vpa0Ivcjk5UTNpNXUxOXdxRVlNSUQ5bWVNZ2FDT0I5c3hYdm02Mm95OUxnKzNQcnVGb203d3hZOEpmT3ZvUzAxa3NLOG5CYlZSbkd4ckplNkpwNG9yTk1KTUwxY1ZPSVU2Mk5FbHVIeEp1a0JIbXJ5NFAvUEhvcVpROVV1Z3hKWmlsbFNtZi9DSWJ0THF4YlBoZmI5eVQyY05XWG01Q2ZveFU0Y21LWHI1aUgvdUhSYVZVWkJTamdJRE5rNDRVTGtST1RJUFhJSDk2a1lJTjhJVGxDSWE3YXBsUWtRb0ZTZ1NLVkVrWHE2UDhxSlE3WkhJTEx5VTlHYTdTblJBekFxRlNnV0tWRXNWcUpVclVTWFc0dkwzblNHUXpoK1ppTDhMK1VGWElCaDlVZjRPMUxScFFrY1ZNaEZtT1JRWWR6OG5Ld1VKK05tL2NlZ2ttcDRCSldSUUN1S0RiaG5Md2N2TlRWanc4dFZ0N01qa3F0bXBkREVwdEQwZXgwNDRsVDdYaXdvUnBpUkpJeWkxUksvSzZ0R3lPQklMS2xVdHhjV2N5cmEvSmlWejlYYWp3WnFVaUVlK3NyZWVYZnZXRUduNHdJWHhEbFloR3ZUb283U1E4SGtIcTRheUxuNXVWQUJHQ09Mb3ViVWcxRTFvUTVIUjc5OHc3ODQ0bDc4TUhCRnJnOC9GeVdFKzBEV0huSFk1TStwMDZyd2gwYlYrQ0tCNTZlZHZzbzRDQXo0c3BWQzdtdjM5eHpGUHVPSjJieEUvSjVkNVpCaHptNkxDNnd5RmZLQmF0SEhwdkcwdVpxaVJqWGxoWEJwRlNnUUtXQVNhbEltRDc1ZXQ4UXpER0prWk5KR2dXQUFNTWtUUGZVeGVTbHlNVmluSk9YZzNQeWNyQW9KNXNiYmdoSFk1eXhaZDdIZ2c0QU1Dcmt1S2V1QXRlWEYySG4wREQyV0d3WTlQbDVNMFFZQUQwZS9nVjd2M1VVdjJocXg3ZnJLNkFRaTdIWW9NTmMvUnpzc2Rpd0xFL1A5VHlFV0JaL2F1L0IyNE9wdSsxTFZFcmNXVnVlVUJYMWxaNEJ1RUpoRkt1VThJYkRjSVZDWEkvTWtyamFINjQwZXBXbTRwS0NmTXpSSmZZaTlKekdtNitIbjk2R1IrN2NpSHNmM3pJajUzdmtybzE0K0tsdE0zSXVDampJdEZVVzVhRWdkM3locGhkMzdEdURyU0ZrNnViblpIUExtR2RLZ0dHeHRzaVljaUdyK0tUSnlTU05Bc0RUTFYxNHp6dyt6SklqbDZGVVBiNW8ycUtjYks0R1NDdzJPdGpCQUhpeXVSTkRQait1TEMza3RUVlBJY2QxWlVXNG9yZ0E5eDg0anJOajZwWDB1TDJDQ1puN3JYYjh0cVVMMzY2dmhCaVJYcFZWY1lXMVh1c2R3cWZXVWE3cWFyeDhoUnpyaTAyNHVDQXZJVUE3NFhCeHZTTDMxVmR5MDE4WlJHYTh4SmFuQjVEV1RKYXA2SFI3RWdLT1FaOGZINlJZeVhhbUhXN3B4ZDVqN2JqL3hvdndxK2QzVHV0Yy8zYlR4ZGg5c0FYSDJ2dG5wRzBVY0pCcFc3NmdodnZhNGZaUmtpajV3dXB3Q1hlbk80SWg5SGw5a1g4ZUh3N1pwMTRrS2NTeU1QdjhDZXVsaEZnV2cxNC8rcncrbkhTNFlGSk9YTTAwWGF0TXViemt6WGpEL2lBK0diRmg3NGlkdC8ybDdnRWN0VHR4VjEwRmI0Z0FBRGEzZGtFcmszSkx2Z05BazhPRlpibDY2R1F5Nk9SUzZHVXlsS3FWcU5Db0UwcS94N3VxdEFCWGxSWWd4TElZRFliZ0NJYmdEWWV4cldjUVRRNFgvcXV4THFFTlFHUm0wYzlPdEhKRFVIMWVIeGR3aUlHRVlBTUFQclhhRTdiTmhCYW5HLzFlUDRJTUEwY29oQmFuRzIvMG01Tk93ODJVRjNmc3d3MXJsK0xKVGRmaDRhZi9QdW5oYloxV2hVZnUyb2pkQjF2dzh0djdaNnhkRkhDUWFhc3BHYjhqUEhBeXMrc0ZFSkpKYlM0M090MWVkTG85NkhKNzBSWDkyam5EWS9DSGJRNTB5S1RvOXZqUTQvR2kyKzNGa00vUEd3YUpyUW5oQ1RQWU00bTc1UDY0cXFqdkRBeGpmYkdKVzRnTWlNekEyV094WXJmRm1uTHE2d21IQy9kK2RoeVhGeHR4UlhFQnRGSUpkZzRONDZOaEd5bzBLdGlESWVpand6WC9OSS9nK3ZJaXJzQ1lrQURENHVpb0E5MXVMeGJrNkZBWnQxeTlWQ1JDcmx5R1hMa01ybEFZSngydTZEVFZWand5YnhaVU1ZSExPNFBEZUxhamg1Zk1hdllsNzcxZ0VTbkkxcHJtVEtQWCs0YXd4eExKQzBsbk92U2VZVnZTR2kybjJ3czc5dUZZV3o5ZStNbnQyTHoxZmJ6eG9mQzZOL0V1WHpFUGQyeGNnWWVmMmpaalBSdGpLT0FnMDZhT21RZC91TG4zRExhRWtPbnBkSHV4NmREMGFnMms0L2Z0UFpONnZpTVluRlRsejRUalF5SDhyWHNBdDFhV29OUHR4ZXQ5US9obzJEWmhWYzh4SVpiRjMzdUhzTDNmZ3ZPTkJyd2ZIYTdwZEh2eDc0ZWE4UC9tMU1JYkRxUGQ1Y0h2V3J2eDY4Vnp1R0VQZHppTU5xY0h6VTRYVG95NmNNcnA0Z0tFRjdyNm9aZEpNVnVYaGZvc0RTcTFhcFJyVkZ4ZXh6LzZoN2lwdEQwZUg1NXU2Y1NEczZyUTZ2SmdTMWNmRGd2azBueHFIWVZNTElaVUpJSkVKSUpZRk1sTkdmWUhjTkEyT3FtazBHU0YyNzRvanJUMFl2MTlUMkhUTFd1d2F1a3N1RDBCTkhjUG9TWDZENGhVRUswcE5hSyszQVNOU29IKzRkRVpTUkFWSWpyLzlrZFBmK0Y5OHFYeTYwM1hZVUZkS1FEZ3ZsKzhoSU1ucC83QlNNaFV6RlNsMFM4ek1ZQmxlVG40S0FOMzRGcXBCTGtLT2JxaUYvT3pjL1ZnV0JiZEhtL0tZbHpKWk11a0tGUXEwT1ZKekFtcDBLaG1aTnJxRjUzNTJWMlRlbjZwS1FlVnhYbW9MVE9ocnN6RUxjVFcwajJFbGg0em1yc0cwZEUzUE8ycHI2bFFEd2VaVVd5R0ZtNGloRXdQQTJRazJBQWl3ek91MEhnUThNbkk5SElrSE5FY0RpRVViRXhOejVBTlBVTTI3RDdRTXZHVE15UjFGZzhoaEJCQ3lBeWdnSU1RUWdnaEdVY0JCeUdFRUVJeWpnSU9RZ2doaEdRY0JSeUVFRUlJeVRnS09BZ2hoQkNTY1JSd0VFSUlJU1RqS09BZ2hCQkNTTVpSd0VFSUlZU1FqS09BZ3hCQ0NDRVpSd0VISVlRUVFqS09BZzVDQ0NHRVpCd0ZISVFRUWdqSk9BbzRDQ0dFRUpKeEZIQVFRZ2doSk9NbzRDQ0VFRUpJeGtuUGRBTUlJV1M2ek0vdU90Tk5JSVJNZ0hvNENDR0VFSkp4RkhBUVFnZ2hKT01vNENDRUVFSkl4bEhBUVFnaGhKQ01vNENERUVJSUlSbEhBUWNoaEJCQ01rNTAvdTJQc21lNkVaUDFsRXAwcHB0QXlPZmEzZDR2M051YUVQSWxSejBjaEJCQ0NNazRDamdJSVlRUWtuRVVjQkJDQ0NFazR5amdJSVFRUWtqR1VjQkJDQ0dFa0l5amdJTVFRZ2doR1VjQkJ5R0VFRUl5amdJT1FnZ2hoR1FjQlJ5RUVFSUl5VGdLT0FnaGhCQ1NjUlJ3RUVJSUlTVGpLT0FnaEJCQ1NNWlJ3RUVJSVlTUWpLT0FneEJDQ0NFWlJ3RUhJWVFRUWpLT0FnNUNDQ0dFWkp6MFREZUFFRUtteTNqcjZqUGRCRUpPSy9PenU4NTBFeWFOZWpnSUlZUVFrbkVVY0JCQ0NDRWs0eWpnSUlRUVFrakdVY0JCQ0NHRWtJeWpnSU1RUWdnaEdVY0JCeUdFRUVJeWpnSU9RZ2doaEdRY0JSeUVFRUlJeVRnS09BZ2hoQkNTY1JSd0VFSUlJU1RqS09BZ2hCQkNTTVpSd0VFSUlZU1FqS1BGMnpKQUpKTkNwdE5BcHN1Q1ZLK0ZMRXVENGZjK085UE5Ta2trazBJc2x5VnNaM3grc0dGbTJ1Y1hLMlNRR1hTOGJTR25CMkdYSjYzalpmb3NLQXZ6RUhTNkVYSzRFWEo1QUlhZGRyc0lJWVNjSGhSd3pLQ2NzK2VnY09PRmtLaVZDZnM4UFlQd3RQV2RnVmFsUVFSVTMzYzlWS1VtM3Vhd3k0dFRQLzREd2g3ZjVFOHBrNElOaHJqSDJycHlsTit4Z2ZjYzgxdDdNZlRHaDl4amFiWUdJWWRiOEh5RzVmTmhYTE5zZkFQTHd0M1doL1ludDB5NmJZVWJMb0JNcitVZSt3WkhZTjd4OGFUUFF3Z2hKSDBVY013Z3gvRU9GRiszUm5DZmZ1R3NhUWNjOG53OWNwYk9uZFF4akQ4QXk4NTlLWitUdTJKaFFyQUJBTjVlOCtTRERiRUkrYXZPUXY3Rlo2UHp0Ni9BMDltZjNtRktPV29ldkJuK29SSDB2L0l1L0lNanZQMVpzOHI1QjRoRThQWU9UYTV0WStlYVd3V0YwY0E5bHJiMkpBUWNGZCs4RWxrTmxWTTYvMFRhbjNvSjd0YmVqSnliRUVJK3J5amdtRUZobHdlT282M1FMYWhMMktlYlg0dityYnVtZFg1NW5wNS9sNStHZ01XV011Q1FacWxSY05sNWd2dTBzOHFSdTNJUlJ0NC9rTlpycVN1S1VIejlKVkFXNWdFQXlyNjJIaTAvZXhaaHIzL0NZd3V2V0FtWlhndVpYb3U2NzM0VncrOGR3TUQvN2dZWUJoS1ZBcXF5Z29SalhFMmRhYlZyS2tSaU1TQVdaZXJzR1RvdklZUjhmbEhBSWNDd2ZEN1VBaGU0ZE1peU5ZTGJwVG90eW02OUhJdy9PS256dVR2NllkdDdkRXB0QVlDUXk1dHlmL0YxbDBDc1VpVGRYM2pGU25qYSsrRHRtYmczUVZtU3p3VWJBQ0RMeVVMeGRaZWcrMCt2cHp3dXU3RUdodVh6eHplSXhWQVljd0Fta2p1aXJTOEhSUHlMTkJzTXdkWGFNMkdiQ0ptT0FxVUM5ZGthN0IyMnc4OU1QNWNwMld1TUJvUHdKc21WMGtvbENEQU1BbkU1U3pxWkZONXdPR0Y3SnNuRklxZ2xFdGhqaGt2VFZhcFdRaWFPekZQd2h4bjBlU2MvVkR0R0lSYmovR2d2WllCaDhMN1ptdlM1amJvc0ZFUS80MFlESWV5ejJpZjFXaUlBWDRac3NZckNYRlFXNTZHMnpJU2FVaU5xU28wQWdOYWVJYlQyV05EY1BZVE8vbUYwOW85TWNLYXBvNEJEZ0xhK1hMQ1hZcnAwaTJaTitoaVJURExOZ0NONVVtYitSVXVSM1ZpVCt2V2xFcFIvL1N0by9jWHpDRGxUSjNoYVB6d00zYnc2YUdPR1AzUUw2NkU3M01MTDU0Z2x6OU9oOUtaMXZHMk1MNERlbDk3aEhtZk5xVTQ0em5tcUsrazVDWmtwMTVRVjR2eDhBMjZ2WXZEeGlBM1B0SFlqeEthKy9HZ2tFaGdVTWhqa2NoamtNdVFyNWNpVnk2R1RTL0d6RTIwSno3Ky92aEpsR2hWT2pMcndhdThBam8rNmVQdXZMQzNFMnNKOG5IUzRzTWRpd3dlV0Vhd3ZObUZEY1FIZU00L2dEKzJuSi9CV2lzVjRhRTROQ3BRSy9QUkVLenJkcVc5bTRuMTNkZzJNQ2prQW9NWHB4bjhjT1RYbHRtaWtFbnlqdWd3QTRBeUZVd1ljcXd2eXNEd3ZoM3VOZ3dXSkFBQWdBRWxFUVZUZHlRUWNKcVVjLzI5T0xWN3RHY1EvelptN0VHZmFkMjlkaHp5OUJrNjNEeTA5Wm16ZCtTbGFlOHdBd0FVZkZ5eXFnM3I1WEF6YjNYajB6enN5MGc0S09MN2t3a2w2T0RTMXBTaTRmRVhDOXRDb0M5SXNOU0FlbnpFdE0raFFlZGMxYVB2MUZqQVRESS8wdnZnVzZ2L2ZiUkRKSW45YWpDOEFpVUtPVUxLQXc2QURFd3J6NW1mM3Z2UTJRbU1mdW1JeHN1Y2xCa1dCWVR2VVZjVXAyOElHUTJuMXpLUWo3UGJpeE1PL21mUnh1U3NXb3VpcVZUUFNCbko2RmFrVU9DOC9jaGV0bElnaEZZa1FZbG1JRWJtSTZXVXk2T1JTNkdVeTZPVXk1TWhsME10a2tLY1lpaXRRS2pEb0czOFBWV3BVcU5LcUFRQno5Vm40UTN0M3dqRkxERHJJUkNJMDZyTFE2ZmFpUkszQ3RXVkZFQUZZVTVpUGZTTjJIQjExQ3I3ZU42ckxzRHcvWjlMZis2YURUVEQ3QTl4amcxeUdUUTNWcUltMjlVZno2dkdqWXkxb2Rnb25lUXVSeGZSUytqTFVXelNUdEZJSkhwNVRpd0tsQW5mV2x1T3NYRDAydDNhaFdxdUdWanExUzJlTDA4MzcvV2Zhd3ZveVBITFhCank1WlJkMmZIUmM4RG43am5kaTMvSHg0ZWwxeStmaUgwL2NnNGVmM29iRExUT2JhMFlCeHhlSTYyUVhqai80NjZUN1JWSUpadi9zYnQ0Mm9SNE9oVEVINVY5Ym41aWp3TExvK3RQclVKY1ZvUERLQzNtN2xFWDVxUHpXVldoLzZ1V1VQUXRCbXdQRDczMkcvSXZQaHYyekpneHNldzhoaHp0cFQ0cXJ1UnZOai93UlJWZXRndjZzMlJqWmZSQ2puNTNrOW12cnl5QVJHUExKdTJBeDhpNVluTFFkUUNRb09mWEQzME9Xa3gwWm9va1N5L2pUZnlWcVpXVFlobXRUbC9BSnA5SjFQY0hkTVBuOHVyYXNpQXVFUFdFR3ozVkVQbndaQUJ0S0NyaTc5Y21vMEtoNEY1dzFoZm5jMTNzc1Z2VEhCZlRGS2lVS2xlTi8veDlhckdoM2VmRHUwREJXbS9JZ0F2Q3QybkxjZitDNDROQ0tVaUtHV2lLWmREdkZNY0ZCUTdZV0Q4eXFnbDQyZnJrNFpuZWlQZnJab3BOSllWUW1INVlGSXNNU3VwaHA5eEtSQ0xWWndzUFBzVnpCRUFhaVA2KzdheXRRbDYzQnJzRmhmR0FSN3RHUWlrU1F4ZzIvU21JZWkwUWlLTVg4OGxNTTJJU2ZuVndzd25kbjEvQis5dFZhTmFRaUVhNHJLK0tDeE1sNnBxMGJnNE9uSitDNDZkSmxXTlJRaHF1L3N4a2VYMkRpQTZLMjd6bUdEdzYyNEpFN04yRHZzUTY4dUNQMXBJUEpvSUFqWFF3REpoVE82RXVJcFJKZXowSUNsZ1ZFUU1INjgzbWI3Wjgyd2RQWkQ2a3k4UU13Rk5mdEtjL1RvK3FlYXlFUmVNT1kzOTRMVDNzZlBPMTlVSlVWUUwra2diZGZYVm1FcXJ2L0JaMi8yNWJRY3hJWmVya2k4bjBvWkFnNTNKQW9GU2k1UGpKclI1cVYrSHI2UmJPZ0tqRnlqOE11RHhSR0F5cStlU1g2L3JZTFFldm9qQXh0NlJmUFFzRlh6ays2WDFtVWo4cTdydUVlSDN2Z1Y5TitUZkxGVnFWUjQ1eTg4U0QxNWU1K1h0NUMwNmdMeHBpWlRrSnNnU0NHZkFHTUJBSVk5Z2N3NGcrZzJ6UCt2dEZLSlZpUm53c2dFc1JzN1JsSU9NZUZwbHp1NjBHZm43dkliK25xeDNuNUJpakVZblM3dmRCS3BiQUdKcGNmTmhHNVdJUWJ5b3V4cnNqSTY0SGNNMnpEazZjNk1OWkhjVTVlRHI1ZVZUcXBjOC9PMXVJbjgrb25mTjUrNnlnZWJZb01RK1VyNVNoVUtxQ1RKYjlzM1ZsYmpoWDV5WDh2TlZvMS9uTE9BdDQyZXpDRU8vWWQ0UjVycFJJOE5Mc0dkVEVCa1MvTTRLY25XbWY4WjV3cE4xMjJETGxaR2p6d2k1ZW5kTHpMNDhlOWo3K0UrMis0Q0Rlc094c3ZiUDlrUnRwRkFVZWFiUHViMFB2ODlveStSdG10bDArWTV5SEx5VWJ1K1F0NTIxd25JOTFoVW9FZ0lqYnZRbWJRb2VxZWF5SFZhUk9lNXpyVmhhRTNQK0llOTc3NEZoUW1ROEowV1hWbEVXb2V1QW1kbTErQlAyYmNWQ1FXSTJ0T0ZlKzU4WS9qeWZQMWtPZnJlZHZHOGo4ay8vZ0FJWmtVdWdVVGZ5aWRMa0tGMFNZaW1zTGRKVG56YnEwcTRlWVNkYnE5Mk41dlJvbGFpUTNGQmZoNzN5QU8yeDNReXlNWGVWc2dDR3NnaUVLbEFwY1ZqUWZRdjI3dVNNakhpTFdtTUo4YmZ0bGpzU0xBTUhoMFFRTStNSTlndDhVS1p6Q0VsY2J4Z0VNRUViNWRWOEU5ZG9YQ0dBa0g0UTJIY1ZNRmYzanhtZFp1K0JnR3YybnB3ak90M2JpbHNnUVhGMFFTdW8vWW5YZ3NlaEZmWVRUd2NpSHUzSDhVRUFGbjUrcHhYVmt0OHVKNmNkNGRHc0htMXE0emtrU3BqL1pNT2tLWnk5MHl5R1g0M3B4YWxNVFVVZ293TEg3V05KNnpNdUR6YzhtdjhVcGpqaHNKQk9HSnUwbDFaZmltRllnTW95eXFMOE1EdjV4YXNCSHJWeS9zeEpPYnJzT3hsajRjbVlHcC9CUndURkhwTFpjaFlMRmgrSU9EU2ZNa3hBb1ppcTVNSEw4ZjJ2NFJnbmJoTWRlSkNNMkNDVVRQSmRXcUV2YU50VTFWWG9pS096WkFLblQ4OEdoa0prbE05ejhiREtGejh5dW92djlHeVBQNEZVTGxlVHBVLzl1TjZOKzZDL2I5SjZiMGZhUkR2N0JlY0RqbFRKQm9WSmp6K0wxbnVobmtORmhwTktBaE94S1VNd0EydDNhQkFYQmJWU2thZFZrNDMyakFoeFlyZm55OGxYZmM4cnowY3lXVVlqRXVLNG9FOHlHV3haYXVmbnlsdUFDVkdoVXFLMHZRb012Q0hvdVZONHhoVXNwaFVpYmV2UmNKdkVmKzFONERIeE01ZDRobEVZNTViek5ndVJ5S1lOeFFnbzloMEtqTHdsMjFGYnpKMnd3aXZUeXY5QXdtdkpZdEVNVEpKQVg3Z0VpQ1o2bEFNVVFBNlBmNjRVZ3hSTnNiMHlPVUhmMVpyQ3MwWW1YK2VDQ21rVXJ3MklJR1BOclVCbCtZZ1NmTXY2akx4V0p1bUlVQjRJdmJIeHNVM0ZoUnpBczJRaXlMeDArMjhRTEhKMDUxSkczdlM4c1hjYjFCejNmMkpSMzZ5YVJIN3RxQXE3K3plY2JPOS9EVGY4Y0xQN2tkNis5N2F0cm5vb0JqQ25RTDY3bmhodnlMbHNLMjd6Z3M3KzVId01MUGZwYW9sTWc1cHpIaGVNdXUvVk4rYmFHQVlTekJVbWlZSk9UMlFuL1diSlJjdndZaWFlTGRkdGp0UmVmbXJZSUZ2a0pPRHpwKyt6ZlUzSDlEd3JrbEtnVktiNzRVK2tXejBMdmw3UW1UU2FlQ04xVTJ5dFBXQi92Qms3eHQ2b3FpaE9HZmtkMEg0ZWxNN0tJbUpKVThoUnkzVm80UEQyenZONlBONWNGU2d4Nk51aXdBa1h5RXlTUkxDdGxZV29DczZQdnhuY0ZoQkJnR3EwM2pVOHEzOVE3aVd6WGx5UTdQcUtPalRqemYyY2YxbXRnQ1FWNXZ6Vmp5N0poUFJ1ejRaRVI0NW9jWXdFTnphcmlBSThTeTZQZjZVS2FPM0J3cEpHSThjN0lMUFJNVUdKU0tSTkJFZjE0R3VReUdtTjVHTVNLNU1US3hDTSswZGVPWk5uN2k3WDMxbFZ3dzJEYkI3SmlEdGxHY256ODIzWmJGbzAxdGFISTRVYUpXb25jS0ZaZFB0Ky9ldWc1UGJ0bVZNbWZqM0huVnVIN3RVbFNWNUNNWURPTlUxeUNlZVhVMzJub3RnczkzZW56WXZQVjliTHBsRFI1NzdxMXB0WThDamtrU0srVW9pa21vRk1ta01DeWZEOE81OHpCNjRCU0czdnFZcTVJcFNqTFd5RXhqT21kOHdNR0dHVzdZUktpSFExVnNSUEgxbHlROW42L2ZBc081ODFLK3ByZlB3a3VxakpVMXV3cnluR3g0SFAxby91bXovTGFxbFNpKzltSW9DbklGajdYdU9ZemgzUWNGOTRsbFVxZ3JpeEsyait3NUJQdW5UZnpuQ2lUdldmY2NobTlnR0FEZ0d4aUc3WlB4REczZC9GcUlZL0pkUWs0UG5DZkc3MXBZV3FQbC82eXZWWlZBR3hPWUx6SG9zZGlnUTA3TUJhN1o2Y1piQThJZnp1blFTaVg0U3ZINFVLVkpxY0IzR3FxNTRaWERkZ2NNY2huS1l1NjBoM3dCUEhod3ZEZnh5dElDYkN5SjFBcnFjSHZ4bjNFWDBlbk9Bbm10YndnTk9pMmtJaEdlUE5YSkRXUGt5R1g0WVdNZHR2VU80dDJoMU5ORWxSSXh2bDFYaVFYNmJHN2I2MzFEZUxQZmpKOHZhSUJCTGtPdVhJWWZ6NnZISDl0N1VrNXRMVkFxSml5WEp4T0xFeEpDZ1ltVFJzZjRHQWFmV2tjUllGZ0VHQVkvYjJyRFNZY0xkMVNYWWJVcEQ2LzNEZUZ2UGYwUWkwUllHNVBzKzk3UXlKVHFrc3kwaXNKYzVPbzFTV2VqQU1BbHkyYmo0YTlmQmdBSWhzSlFLK1ZZMWxpRlJiUEs4SzJmL0RWcDBQSEdoMGV4ZW1rRFNrMDU2Qm15VGJtTkZIQk1rbjV4ZzJBT0JFUWk2QmJQZ203UkxJd2ViazY1TmdjVG5IcmlrVFF1c3p2a0dPL3FFd280UmcrZFF2N0ZTeUhQMHlmc0F3Qk5iUmswdFdWVGJvOXQzM0d1ZkxrL2VvRUhJclZNU201WUExbE9kckpERVhKNWtUMjdFbUtWQXBaM1B1RVZSU3Y3NnVXQ3gwaXpFMy8yTW4xV3dyYUF6Y0Y5N1R6ZUR1ZnhkdTZ4dXJJUWlwaXVhZi9RU0ZyNU9VeVNoREdSUkFLUmhQOGh4Z1pEWUpQTVVHSFp6LytVd1ArcmpvKzZzTlF3L2w0eHhTVmloMWdXdjUxbURvTXJGTWFJUDhpZGUxSGNlMFNvZDRPTkdRWVphd2UzajJVek1zMzBpWk1kdlBQcVpWTDhaM1NhNkwvV2xFTXJsZUovKzRTbm5aK2RxOGRYSzB1UUgzTXowT3J5NE9YdUFZUllGajgvMFlZZnphdm5Db25kWFZ1QjFhWTh2TkRWSnpnOFV4d052b0lzaTZlYk82R1ZTbkY3ZGFRbnlodG04RCt0WGJpMnJBaG54UzBRR1U4b2FYVE1iWjhjaGpNVXhsdURGdXdjdEtEZjY4YzV1WHBjRXMxOTJWQml3cXhzRFg1MXFnTTNsby9uekJ5eE96OFhBVWRsY1I1Y0UvVEMzSFJwcEZMMTdnUE4rTUV6cnlOTG84UnZIN29KaFhrNlhMVjZFUjc5Yy9JZURLZmJoNnJpZkFvNFpwcmxuVTlnKytRWWIxdlFGc21Uc080NURGK2ZHYVoxeTZGdHFFZzhXQVRvRnRSRlpuc2s2ZEpua25SM21YZnVnMjAvUHljaVB0Y2pQb2NqYUI4UE9DUWEvckFIR3d3aDdQVmo4UFVQVVBhMTllUGJ3MHpDQlRKdExNdFYvV1FEUVF5K3ZwdmZ2cHhzRkt3L0Qvb2xzeWM4bGFhcUdKcnFFa0FzZ3VHY2VSaDZjdytzSHgyQlBFOEgzVUxoWkZHRktYR2NYSmJERHpqQ0hsL1NuL0ZVaGQxZW5Iam9hY0Y5UlZldlRramtiZi92bDJoSTV3dm9JNHNWWDYwc2dSaVJpenJEZ2xkWFkydlB3SXgwcmU4YnNXRjljZUw2UlFkdERzeksxcUlnYnBwcGxrekt1OGpOaWdtOERRbzViNThyRk1KcmZVTVFJVktSRStEZjVZc3hmcGN2aTVzYVA3WTlIQmZFR0JWeWZHOXVMYTlkVlZvMXJ3cG5sbFNDYy9NTnVLUWduOWM3QXdCOVhoK08yaDI0dmJvVXozWDBvZDN0d1krT04yTlRReld5b3pVdEdySzErRkZqUGJvOVB1d2FHc1pCNnlnM0piWklGVGxmbjhlSFBjTTJHT1F5THVBSXNTejJETnV3ZUlKZ0kxMWowNS9MTlNyY0daT2t5d0I0c1N1OXRhSE9oTm95RTFxNnpVbjNpMFRBa1paZURBeVA0cVczUDBVb3pNRG04T0RncVc0VTVqWENrS1JLOXBqbTdpSFVscHZ3L29IbUtiZVJBZzRCeVlwRkZXNjRBTjZlSWRnUG5FVEhiN2RDWFZFSTAyWG5KUXczK0hyTkdINy9BTElFQWhJMkZBYWJKRlBaMTJ1R3J6ZjVId3lRT0tRU0c1REU5M0NNbFRVZlBYZ0t2alhMb0N6S1I5RHVRdCtXdDFEeHJhdFN2azR5UTI5K0JHVnhQblFMNmpEOC9nRnVkVmVGMFlEY0N4YkJzS3d4TVZlRVlUQjZ1Q1VoaU5EVWpvK1ZTN1BVS0w3Mll1U3RYSVNndzUxMEhSTmxRVjdDTmxWUlB1OXgwT3BJZU03L05RdnJwOTVyOVVVMFUrc3cyNE1oYkRyWUJHc2dnRERMNHZHRnM3bDZHKzF1RDdiMURHSmpTUUV1TUNZT0V5cmpndmk3YXlzUkVPaDVlT2p3U1d6dEdjU2JBMmJreU9WNFpGNDlkK0hlMHQyUEc4b1RDOXBwSkJKc0tFa01VSUJJejBQc1Bvcy9nTmY2aGxDdVVlR3hCUTBKejUrbnp4Szh5OCtTU3JqdFIwZWQrT0d4RmdEQ2RUamVNNC9nTnkxZFVFc2tXRmRrUktNK0M3T3l0UkM2aldsMnV0SHNkSE5EUUlzTmV2eXV0UnY3ckhZOGRPZ2tIcHBUZ3hMVmVJQlNwbGJpYTVVbCtGcGxDYXlCSUg3VDBzbmxiSFNscUc0cWxEQTZHYkc5VnJseUdiN2JVTU1iZnZsYjl3Qk9PRnk4L0pGVS9yVzJITitvR1g4ZkhyUTU4TXVUN1NtT21KNmFVaU8yN3Z3MDZYNldCUjcveTl1OGJTSVJNS2M2OHZmV01VRko4OVllTTY1Y3RXaGFiYVNBSTAzWjgycVJ0Mm9KQU1DNDdseVl0MzhFKzRFbWREejlOMmhubGFQd0t5dWhMREVDTEl2ZUxXOERMQ3U0VEgwNkM1bWxraEJ3akNZZlVva3QrbVhlOFhGa0JkZi9lUlVzd3lZZEhwaEl5T2xHOXg4L1JzNnl1WEFjam53Z2llUXkxR3k2R1dKRjRodVJDUVRSOCt3L0lrTk9jUUVIR3dvbkJDZUtndHlrT1I4QUluVTd4R0p1blJXSlNnR1pnZDhsN1p0Z2JIbENJbVJ3NGJiVDQ0a0hyejNUVFRpdHJ0bVQzZ0tENlJpcmxYRmZmU1VYYkFSWkZ2OTlxaE1NSW9XdWhHYUd4TXNUZUQ4QWdFUVVtWUxxQ1lkeFIzVTVsNXV3ZDlpR2RwY0gyd2ZNbUM4d1RIaTZpUUJjWG1URWpSVWxrTVM4SGQ0ZUhNYnZvb21abm5BWWl3MDZyZ0pwTEFhUm5JMHRYZjFZWFpDSEFNTkNMaFpCTDVOaVUwTVZQckJZOFZSekp4NDZkQkpYbHhYaXNpSmpRdEV1bVZpTVV3NDNqdHFkNkhSN0JRTzRNVUlKby9FaXdkbjRPbGx2RFZpNFhwUXhXVklKdmplM2x2ZjdPejdxd2lzQ2RWSlNrWWxFdk9xcXFTclF6b1NhVWlOWHJqeGRkMSs3Q3VVRkJ2Z0RJYnoybm5BKzNaaVc3aUhVbGdrSHZlbWlnQ01OWXFVY3hkZXM1aDRyakRrby9lcGxNSzVaaHNIWFA0RGphQ3RhVGo0SC9aSUd5SE4xOEhaSHBvNEpCaHlUWEg4Z25pd3VoeVBzOG5MMUllTHJjSVE5UG9qbE1yQXNpOUZEelhBY2IrZXFoS2FxV0pvTzI5N3hJU2MyRUlSdDcxSGtydVJIdjRIaFVYVDkvdS93OVZzRUs0ME92L3NwZ25ZblRKZWZKL2l6RWlLU1NhRXFNWEkvWTZGVlpMMWRpVlAzVXBGb1ZNaGJ0UVRxaWlKb3FvclI4WnV0Q2ZVekpHb2xadjN3VzhMSHF4TXZQaFhmMkFnbWxQekRNVGd5aXJaZnZ6aXBkcExUWjMyUmtUZk45Zm5PUHZST1k3RXhJZlAxV1Z6K1JvaGw4VUswdS82Z2RSU2p3UkNPMkIxY0VhdkpKSTB5MFh0MWhtVzVPLzdZcWFFaGx1VXUzRktSbUxzUXNnQzgwZWRycEJMOG9MR09teDQ4NWgvOVp2eTVZN3dlQXd2Z0QyM2QrT2w4ZnYyZ3czWUgvdExaeC9WSXZEVmd3Vkc3QXcvT3FrYXBXZ2tHd0ZHN016Sk5sV0h3MTg0KzdCd2N4czJWeFZoaTBITTlKYS8zRFhGRE83dUdoaUZFSmhiaGxzb1M3TEZZMFRmQmNGZXVRczZybFhMVTdvUXRFT1NxaldiTHBQaiszRm9VcS9pZlIzdEhiRitLQmR4aTNYUGRLbHk5T2xLdCtkY3Y3c0xnU09aN2hpbmdTRVBCNVNzRUUwVVZCYmtvdjJNRFBKMzlHSGp0L1lUWkUwTEpqQk10Z0phU1dBeUpodCtMWWJyOFBKZ3VUN0s4ZkgwNTVqeCtMd0lqb3pqMWc5K2xYdXhNSklLeUtBK2E2UG9rSXg4Y21sVFRodC8vakJkdzJQZWZRTi9mZGtLYXBZYTJyZ3p5M01UeFZaWmxNZkxoSWRnUG5rTGhGU3VSczJ3dWdFZ1JNazFWY2RKWlB0cTZNaTdneUdxb1ROaWZLbmRDcHMrQ09PNjh5c0k4Rkc2NGdIdk0rQU1RU2VNNmgwVWl5UFFDeWNKSlNMUnFwQ3I1eFdhd2VCRUFIR3FtbFhTbmFrVytBVGRWbG5DUE85eGV0THM4V0drMG9GQ3BSSDIyVnJBV1ExMldCcGZHWE15UzVYdDR3d3dVWWpIdXFCNGZpajFzYzZCY284Slp1WHJreW1YNGVWTWJxclZxTHVDWVN0Sm90OGVIcis0OURBRFkxRkRGSmNQdXNkandWRXVrV09BRnhsemNWUnRwaHlzVXhtMmZIRWFKV29sSEZ6VHc3czREREl2ZnQzVUxMbURXNnZKZ3YzVVVqZm9zZkRKc3g1djlaclM3RXovblJnTWg3QnV4bzkrcnhONFJHejYwOEpNUEIzMStQTmJVRG9OY2hwWEdYQ3pOMVdQSFFPU092VUNwUUUyV0dzVXFKWXJWS2w1ZEQ2VllqUFZGUmppRElmeHMvdVFXeVB6dTdNakNrQ2NjTG56L2FEUCt2YUdhbTdJN1hTOTA5ZU9nYlpSN0hGOEViS2ExOXBoUlUycmtyWXNpUkNRQ050MnlGcGVkMXdpV0JaNTY2VjI4OGVHUmxNY0FZemtpMDF1YmlnS09OQXp0K0Fnc3d5RDN2QVdDdFN6VUZVV292dmQ2ZFAzaE5XNllBVWdTY0tRb2tETVJXYllhRTg0TkU4QUtEWitJUmR6YUlOcUdDcFRmZGdVM0pCSWFkU1VFSElibDg1RTFxd0t1bG02NG1ydTVxYjlqQXNPajhIVDBRNmJQUXYvV1hYQWNqUlJGS3Y3NkZRazVMb0ZoT3dJV08xZXBOT3oyb3ZlRkhiQi8xZ1RqMm5QUS9jZi9SZGJjYXBUZWZDa0NJNk5nZkFFb2k4ZnpOTExuVnNPeU0xTGZQMnN1djVvcEcyYmc3ZVcvS2ZJdldncE5kUWxVWlFXQ0pkYmpNWUVnSkJPc0RmRjVkKzlqVzg1MEUwNHI0NjJySjM1U0d1cXlOTGluamwvMHFsS2p3ZzhieDB2czkzb2ppWXRDTG8zNSt0aW9NMm1sMFN0S1RMd1pNSXNOT2k3cHNkZmp3N01kdmFpTzZiRVVnVCtkVTVwaXFxZlEyaUFHK2ZocnVTWUlkbnM5UHJ6WTFZOWJvblU0K3IxKy9PSmtHN3Fqd2RQc2JDMEdmSDdZWWo1WE5yZDJ3UjltNEU4eTVDRUc4TUNzS3N6VFoySElGOERPUWVIZUNqR0ErZnBzV0FNQlBIUjR2TjdPSllYNVdCOFR6R1hLc0QvQUsyayszWE5OZGtYZDZVZzM0TGp2aG90eDJYbU5DRE1zZnY3c2RyejFjZkpwdExGcVNvMW9tZVNRVFR3S09OSVFkbmt4OE9vL01melBUMkZhZHk1eXpwN0x6ZFFZNCswZWhPTUl2L0tnWEdCS2FEREpxbzdwaUo4U215NG1FUG1BRVN0azBDMm9SODdaY3hEMkJkRDF6RFlBa1dBaE52OUNxdE5DbnFkSFlIaThtSSsycmd6WjgydVJQYjhXUUNSdzZ0ajhDaS9KdGUvbGQrQzMyTGtBUjJITWdiWXVibnBmSUlqMnAvNkdvSFVVOFZ5bnV1QTZGVms0emI3L0JMUjFaYkR1T1FMdHJISmV3S0d1TElJMFN3MkpSZ1ZGM0hvVzN1N0JoS1JjdzduemtrNExGc0tHd2drOVNlVC9obmFYQjg1Z2lLdHFLY1ErQSt0cHBMb1FDWlh1TmlubFNhZHpWbXBVdkgwV2Z3QjNmc3FmWlJlYjZKak9laUN2OXcyaFVLbUFXaXJCNXRZdStNS1JRR0srUGd2ZmFhaUJPeFRDWXlmYjBSSXRnQ1lHY0VkMUdUNGF0dUt3M1lGbHVUbTRKZHBMWkFzRXNYM0FqSG5SR3pDVFVvNkg1OVJnMTlBd25tM3Y1WHBuNXVpMHVMTzJBa2FGSE40d2c2TjJKOWZXb1JRcnJESUFqbzg2TWV3UHdCTU9SMmJoU01TQ0NhUWlpS0NLU2U3MU1Rd1lsdVdHa283WUhUZzNMd2RCbG9VSVNNZ3ArVHhyN2g3Q3lrV3AxNTY2ZEhrak5sd1ErVnQ1OWQzUDBOUXhnTEtDeUdlbzF4K0V4WmI4K2xSZmJzTE9mVTFKOTZlREFvNUpDTnFjNkgzaExRenZQb2lpcTFaRnBuUWljb0hxK2V2MmhKVkJGUVdKWllnRHc0a1gyblFKVlJsTkJ4TU1RbHRmam9vN05rQTA5c0hEc0pCbWF4Qnl1Qkd3MkJCeWVuaDMvNXFhVWw3QW9TN241MHBJMUVyNHplTjNlZnF6WmlOM0JYOXFxRFFyc1VlR0NZVlJkcXR3alkweDFvK1B3UGJ4VWZRK3Z3TUF3RElNVEpjdUgzK0NTSVNjY3hvaEU2ako0VGpTa3JBdDdQWUNrd2c0Z01UOEczZHJMM3FlKzRmZ2MwMlhuUmNKUW1OMFByTU52dDdrM1k5c21HcHhmQjZGV0JidkRBN2pxdExJMzdzckZJYlo1NGM1dXZpYXhSL2dGbENianFOMkI1ZEU2UWt6c1BqOEdBNEVZQStFME9TWStrMkpFTDFNeWdzNExHa3VqLzc3dG03RS9wVXV6TW5HZzdNaUJjcmtjaGwrMEZpSEJ3NmN3S0RQajNQekRWaHBqUHl6QllMNFc4OEE3elhmTjFzUkNETzR2YnFNQytaV20vS1FMWk54aTdOWmZBRnV2UlNWUkl6YnFrcnhlSFJXaHpuYVpsK1lRYXZMalQ2dkQyc0tJamNoN2xDWW0xSFQ0ZmJnMjNXVnFOU29zR3RvaEp2aU9xWlVyY1F2RjQ1UDJYLzBSQnVPeHR3RU5qbGM4SVVqUmI4ZW1GWEZWWVA5SXVqc0g4YWx5eE1yVzQrUlNNUzQ3WXJ4NGZkckxscUNheTVhd2ozK3JLa3I1Zm9yR3BVQ0hYM0NQVlBwb29Bam5sZ2NXYlUxaFlEWmhzN2Z2Z0xkb2xrb1dMOEMxbzhPSTJoMThCYjNrbWhVZ25mSlFZZDcwb3VBc2VFdzJEQ0RvTjBKODF0N0ozeCt6dGx6ZWZrR1RDQUVUOWNBdjFkR0xJSmhXU1BNYjBmTzUybnY0M292QUVCYld3cmIzcU9SNzBXcmhpeHVqcnU3clpjM1ZDUFRhYUd1S0p5d2JSSzFjc0xudVpyNDQrUGU3a0dFWFI1ZWVmWGM1Zk1GaHoxR0R5Zk9FUTlOa0VqR2hzSnd0L1RBY2J3Tnp1UHRFTW1rQ1hWS2dqWUhyK1pKck5pQ1pXUENMay9TNTVQUHR6Zjd6VGcrNmtTWDI1dXhoY0lDREl2dkh6MkZZWDhncmFKUjduQVk3OFFVMXB1VnJjV3M2QTJJUFJqQ2V6RXpzK0tIVE9JVFB5Y3FJejRtTnRpNHZNaUltNlAxU2NaczdSN0FZRFFRaUUyd2JYYTZ3UWdVdmZ0NHhJN2pveTU4dTc0UzgvVlpzQVdDK0dON053eHlHVUlNQzdNL2dOZjdocmhnNyt6Y1NEbjVvNk5PbkhLNDhPQ2hKdlM0dldBUTZiRVpDemhpbloyclIyWDBjM2Q5a1JIK2NCZ3ZkYWMvdTZUZjY4ZjNqcDQ2clVNaE02V3pmd1REZGhmV0xaK0w3WHVPSmV5dkx6Y2hQeWY5UExSWWw2K1loLzdoMFdrVi9RSW80RWlRdjJwSnlxWE1oUmpYbkFQam1uUFNlbTc1N1ZkTXVrM210L1ppNkkwUDRldXp3TmMzY1VubDdEbFZjUUZIRUl3dmdOSER6YnlDWERreEFZYzdMdUFZNjcwQkFHM04rTmRqWWt1Qm53Nk80KzI4WGdTaENxYStQb3RnRDFMWW5mb0QxdFBaajQ3ZmJ1VWVxeXNTUzZxSHBybDJCdm5pY0lSQzNGMnZWQ1JDZ1ZLQklwVVNSZXJvL3lvbER0a2Nnc3ZKVDBacnRLZEVETUNvVkVRVElwVW9WU3ZSNWZieUVrT2R3UkNlN3hxdk52SXZaWVZjd0dIMUIzajc0cDJWTzk2NzV3c3o2Si9FYkJ1MVJJemJxOHNTbG54L3ZXOElyL1pHRXJjTGxBcGUzc01IRml1dlBId3NSeWlFUjQ2MzRNclNBaHl3am1MWUg4UzZ3bnpjVkZHQzk4MGplTTg4Z2d0TnVWenZ5RTJWeGZqM1F5ZmhDVE1wYTNDTWVhVm5FSHFaakNzOWZuVnBJVnloTU43b1R6LzM0SXNZYkl4NTlNODc4SThuN3NFSEIxdmc4dkI3c2s2MEQyRGxIWTlOK3B3NnJRcDNiRnlCS3g0UUxudzRHUlJ3ZkFsSTFFckljcklnVnNqaGFlOUxtTjB4ZGdkdTIzdU1GM0RJODNUUTFKYkMzZElEZHp2L0EwdG15SVkwUzQyUTA4TUxQc2JFbGdxZmFVTEREU01mSGtvWXRvZ1hYeDEyVE5qakF4c013ZDNXQytmSlR1UmRzRmd3b1hlTVVCMlFnTlVCVlhrQnhMTEUzaW1oMlN1cUVoTkUwc1MzVjlEdTVBMVZrYytYc3d3NnpORmxjWUZGdmxJdVdNenEyQlJYZXdZaUYvRnJ5NHBnVWlwUW9GTEFwRlFrNUFxODNqY0VzMys4V3U1a2trWUJJTUF3WUJBWlRqa25wdmVoeWVGQ3VvTjU4L1haK05mYWN1VEc5Y2krMGpPSUxkM2pGVGZYeEt3cjRncUY4WmwxRkN0amNxdkVjZDhiR3ozSG1Mb3NMZVJpRVM0dXlNT0ZwbHk4Mk5XUG02TUpxMVVhTlpibjVTUk4waFh5eC9ZZUdKVUtMTXJKUnB2TGcwK3Q0KzgzZmR6N2wvblNUWFlGSG41Nkd4NjVjeVB1Zlh4bUVzY2Z1V3NqSG41cTI0eWNpd0tPTHdvUmtMZHlNYVE2TFdUWkdraXpOWkRwdEpBWnNya2hHbCt2R1MyUFBnZXhQRDdnaUh4d3VWcTZFYlM3ZUJmSW5MUG13TjNTQTErL0pUSnJKYVk0amJxaUNJNmpyZERVbFBMT0Y3U09jak5NeG94OGNCRDJUeU4xQWdxdVdBbjlZbjZGdzU2L3ZBbDNDNzhvanl3bkcxWDNYTXViK2NNR1E3RHRTOHlhOW5ZTnd0TTVrSFE0SnV6MXcvcVI4TlF1eTg1UE1QRGErOXkwNElrV3ExTVZKM2JWQml4MmxONThhVUtTYWpKRi8zS1I0UGJoOXo3RHdLdi9UT3NjNVBTYm41TXQyRlUva3dJTWk3VkZSc0ZBWmt3d2JraGlNa21qQVBCMFN4ZmVNNC9neG9waVhuQ3lMOG1xcnJHS1ZBcmNXRkhNVzFNR2lBeXgvTEc5aDdkd25Wd3N3b1dtOFFCOWo4VWFyZk14M242ZFRJcUZPZGs0YU9QWGVaQ0tSSmluejhMU21CNllKb2NMYi9hYnNiWXdIM3E1REcvMm16dW9vOWdBQUNBQVNVUkJWQk9PbXdnTDRJbFQ3VmhiYUVTcjB3MmxSSUlpbFFKYXFSVFhsZk43TDYwQ3c2SEpYR1RLdzFlclNoSW1DdjZvc1o0TFhHSi9wL0dWUmdIZ2xNT05IeDlQekRPYlNZZGJlckgzV0R2dXYvRWkvT3I1bmRNNjE3L2RkREYySDJ6QnNmYVpLZWxPQWNjWEJRc1kxNTZUc2tEV1dONUIvT3FwWEZWUkZyQi8xb1Q4MVdkeCszVHphOUgzOGp0Z2d5SDR6VmJlM2IyNnZCQ2V6bjRvNDBxSE80NGw5bTR3L2lBWWZ4Q0tnbHpvRi9MbndydGJlMkhmZnlMaG1KSWIxeVZNTTdiczJwK3dmc3lZa2QwSG9LNjRUSGpmQndlVFZrK2RiQzZGVURFeDMxRHlsU3pKbDBlSFM3ZzczUkVNb2MvcmkvenorSERJUHZVaVNTR1doZG5uVDFndkpjU3lHUFQ2MGVmMTRhVERCZE0wcDJiUDFXWHhTckQ3R1FZZlQ5QlRVS1pXNHJHRnN4T0NJVWNvaFA4KzFabndmU3ZFWXV3MlczRmV2Z0ZaVWdsWG5Hc2dadGhHQk9BL1p0Y2s5S3dJQlZ5N0JvY1JZbGs4MWR3SnN6K0FZZi9VMWtUeWhobHM2eDNFLzV6Vm1MUVV1VFVRVERuN0paNVVMTHpTYktSd1d1SnNsdmhLbzhENDJqYVo5dUtPZmJoaDdWSTh1ZWs2UFB6MDMrR2M1UG8vT3EwS2o5eTFFYnNQdHVEbHQvZlBXTHNvNElqanQ5aTRHaEpUSVJLSmtEV25LbUhhTEJnV2p1TnRVMnRUdE9aRllHUVVxbFFWT2NjQ2pyZzNHQlB6cGgwOWNKSVhjSWhWQ21UTnFZTGpjQXU4dldaZXdLR3FLRVNXdVRMaHZTU1VtRG1tNUxwTEVzcUN5M04xTUswN0Y5WlBqblBUWVF1dnZEQ2hQa2ZRNW9RNVdsOURTQ0RGR2ltamg2YStvRkFza1V5YUVIQ0V2WDdCYWJ6a3k2Zk41VWFuMjR0T3R3ZGRiaSs2b2w4N1o3aG8wMkdiQXgweUtibzlQdlI0dk9oMmV6SGs4L011eXJGTG9IdkNEUFpZMGc5Nis3MCt0RGpkZUdkd0dCZEgxeC9hT1RnTTl3UnJqWFI3ZkhobndNSWJKam5sZE9PWEo5c0ZwOU02UTJIOHNiMEh6M1gwWXE0dUN4M1IvSWMybHdmdExnK3FZaEs5SjdyVW5uUzQ4RkUwSURyaG1KbUU2MmFuRzh0eUUyZW9zUUQrMnRtWDl2RFNGOUVMTy9iaFdGcy9YdmpKN2RpODlYMjg4ZUhSdEk2N2ZNVTgzTEZ4QlI1K2F0dU05V3lNb1lBamp1TndDNjk0MTJTSXBCS1UzbnhwWXJDQlNCNkI0MGdyUm8rMGdKbmllaXFCa1ZHb1NwUFhzaGVKSlJCSkpRbTlCckhydDNoN2hoQVlHZVZWL3RRdmJvRGpjQXQ4ZldaZ1NRUENMZy9jYlgxd251eE1XQkUzN1BMQzNjcWZhamJHc0h3KzFGV0pDMC9KY3JKZ1hIY3VqR3ZQaGJ1dEYwRzdJMkUxV1RZVVJ0Y2YvMWU0U0JrQVJXRWVLcjZ4TWVuM1huYnpwV2o3OVJhRXA3bVNwN2FtTkdHR1NyTEYvRUpPRC93VHJOdWlxU3FPclAxQ3ZoQTYzVjVzT2pTOVdnUHArSDM3NUNyQk9vTEJDZGNKRWZKTVd6Y1lsc1d5dkp5MGsxeWY3ZWhGYmJZR2hVb2xYdXpxdzQ0Qnk0U1pEaUdXNWZWK3NBQitlcUlWTjFRVW8xR1hEWU5DSmhod1JIcDdBdGczWXNlcnZRTXpubEhSN3ZMZzdGdzl3aXdMUDhQQUZReWp4K1BGamdFekRrOHlEMmZ2c0EyZEFoVlVKeVBUMVViakhXbnB4ZnI3bnNLbVc5WmcxZEpaY0hzQ2FPNGVRa3YwSHhDcElGcFRha1I5dVFrYWxRTDl3Nk16a2lBcWhBS09HYUlxTDBUcERXdWdLRXhjelJRQUpGb1ZTbTVjaStMckxvSHJaQ2ZzQjA3Q2NiUjFVc3VvQjBZaWQ5bHNLSXlBMVlHQXhRYS94UmI5M3c3L2tCVVNnVVdsNGhlTWN4eHVSdDZxOFY2T3JGa1ZFRWtsc08wL0FjZlJ0dkg4RExFSUJldFg4STg5MXBwUWIyU003Wk5qWUFKQjVLNVlLSnhySVFJMEFqTmVBS0R2Ynp2aDdSTCtRRlJYRktIaUd4dFREaWNwQ3ZOUWZlOTE2UGp0SzBtSFpOS1J2YUEyWVp1N1Jmamk0RHJWaVo3bjNreDV2dGsvdll1S2lQMGZzV2ZZTnFua3hvbnNHTEJneDhERXM5SW04dnYySHJ3NVlJWkw0R0wzWG5SbVNLd1F5K0t4cG5hRVdaWlhUWFN5N01FUWZ0UFNOZVhqVTdFR2dta3QyTGV0ZHhEYmVpZTN0dEtZMno0NW5MQXRuU25NbjBlUFBmY1dTazA1cUN6T1EyMlpDVmV1V3NRdHhOYlNQWVNXSGpOMjdtdENSOS93dEtlK3BrSUJ4elNwSzR1UXYrb3MzcFRTVkVRU01iTG1WQ0ZyVGhYWVVCak9wZzZNSGpnVkNUNG1lSE1Qdi9jWnJCOGVpZ3d0Skxub3grZGJBQUlCeDdFMjVGMjRCTzdXSHRnL1BZblJ3ODFnUTJHRUhHNWU2WFZ0YlZuQ1JYNDBSZThQR3dyRHZ2OEU3UHRQUUZWcVF0NEZpNkZiV0M5WURwNTNYTFNVdUVTalNsamNUcitrQVNYWHIwbTZya29zUldFZWF2N3RSblQ5NlhWNDJpZS9ZTGxJSW9hdU1mSDM2R3JPekljbUlhZEwveVI3VmFlYU8wRSt2M3FHYk9nWnNtSDNnY3dtcmFaQ0FjY1VLRXdHNk9iWFFiZW9YdkFDbnk2UlZJTHN4aHBrTjlhQURRUXhlclFWOXYwbjREelp5YTF6RWl1VVpGMkdXTG9GaWFWdHczR1ZFZDF0ZldqNjN1WUoxM1dKWCtHVjhRVzQwdU1UOFZ0c2NCeHJnelJiazVDckVVOGtsNkZ3NHdVb1dMOENqaU10TUwvOUNRTFdVUlJmY3hIMFo4MU9lV3c4cVU2TDZtOWZpNkVkZTJGNVo2L2dGTnRraGQzK2YzdjNIUjFYZWE0TC9KbXEwYWozWmpWYnpRMWN3RGFZYmhOYUNCRGdKZ0ZmNGt2SVhVbElBaVNIQkM0cDVPUkFBaUhuQkVKUE15RVlURThDd1lBTHhqWUcyN2pMUmIyT05LUFJqRFM5N24zL21OSFdqS2FvYmh1SDU3Y1dhMmswVzFzYkNiU2YvWDN2OTM1Wml4dWdTbzhlalFqWVhYQjF6T3c4SmhIUjV4RUR4M2lVQ3VoSzhxR3ZLSUYrZGhuUzZ5dVM5bkNJTkxCNUR4d25PcEI3emhuSVhGaVQ5RWxmb2RVZ2UrbGNaQzhOMVZBTTdUc0I2NTZqY2FjWjBtb3JVSG5yMVFqWVhRZzZQUWg2ZlJCOGZtaHpNcEJhR1R1VjRUVlpVZnVqVzZJNmRVNkVlc3pOVjZGUm8vNW4zNHo2bkhuclhwZy8rQlJwTmVYUWxlUWhwU2dQdXRKODZLdEtZMm9oeHFOUXE1QzFxQTQraXcwNXl4Y2szV2h0Y05zK2FQT3pRd1c2WXltVktMcnlYT2lyUzlEeDFHdFJiNlVVNTBHVEhkczBEQUR5TDE0YTh6bmJ3V1lrbWxqT1dsUWZkN2ZhU0tvWjJubVNpT2gweDhBUlIwcEpQb291VzRHVTRqeWtGT2FPT3lVd2x1RDJvdmVWVGRKMjlZN2puVkRwZGNoWk5oODU1eXlFTGtHZHh3aFZ1aDU1Rnl4RzNnV0w0UnNZUXZ0VHIwUjEwUFFhQnhPMlRoOHJZSE1pNlBKQW5aVStvWjFTazFHb2xERk5ybFE2TFNDS0tMM3VJdWhtVFd3M1IzZG5IMVJwZW1qelk3ZXNoMUtKZ3RYTGtuNjlkWGNqREs5dGdVS2p4dXp2ZlNWK3ZZZ2d3UGoyVGdCQTZmV1hJT2VjaFJCOWdkQVUwWmhWTkJCRlpKNVJHN2NnMTdJcjhiYk5DclVLS2pVREJSSFJSTEI4UGc1di95QTB1Wm5RbFJaTU9td01IMmhDMDYvV1NXRmpSTkRsZ2ZtRFQ5SDhxM1ZvK2UzZllObDVjRUlGb3dxVlFpb1dIUkd3T1NlODBzWDZjZnp1bXpOdHBFVjZNZ0diRXowdnZJT1czNzZBRS8vMUovUnVlRCtxUjRiZk1venU1LytWc0Q0RkFBYTNIMERQQys4QUNEVUo2M2o2TlhqajlNZ3d2ZnN4M0YyaFlqRm5hdytVV2sxb3VtUnMyQUFROVBqZ3Q5cGlmaC91enI2RUsxU0lpR2h5T01JUmp5aWk1NFdOcVAzeDF5Y1dPRVRBZnJRTnBuYy9udEI4djd1ekg3MmQvVEM4dmhYWlo4MUYzbm1MRWk1M0hkeCtJTzZRdnRjOGxIU0pMQUI0VFJZTWJOMDcvdlhQZ09HRFRmQ1poK09PV25pTkZwaTM3SVYxVCtQbzF2R0NBTXZPZzdEdWJrVCt4VXRSdUhvNURLOXRoZTF3QzFRcDJ0aE9uWUtJL3JlMlkyQk1uNDZneTRPMngxNUN4YTFma2xxd2UwMFdtTjcvUkRyR2tXQVo3d2lQd1F4M3R4RWR6NzZPNm0vZklCV29HaWV3VVI0UkVVME1BMGNDWHFNRkE1dDJvL0R5eEp1eUJXeE9XUGNjaFhYWG9haXQyaWRLOUFkZzNYVVkxbDJIa1ZwUmpMenpGaUY3U2IyMGhiem9EOENTWUlUQ2x5UndCQjF1RE8wN0R0Tzd1NlJWSC9hamJVbVhsVTZWMUlGVEJLeWZIRWJSVmFIdGovMFdHNFlQTldONDMzRzRPaEt2L3hmOUFReTg5d2tHdHgrUVJtMEdkeHhBU21rKzhzNEx0V3YyRHpuUS9keGJjTGJHRHc0QnV3dHR2OStBMHVzdVJ0NkZTMkI0YmN0b3NFRjQ1MWFySFpxYzJOb2JNUkNVOW1CeHR2U2crNFdOcUZqN1JiZzZETEFmU2Q2b2JmaEFFM28zdkovMG1QcWZma09XbnpzUjBlbUdnU01KMDNzZkkvdnNlYU5Oc2dRUjdtNGpITTFkc0IxdWdhdDk1bFl2dUx2NjBiTitJd3h2YkVYT3N2bklPMjhSWEoxOU1jdEVSL1Mrc2duOS85d09RSVFZRkVOYjJQc0RDSHI5Z0JDN01xUG5oWTB6ZHEySldIWWRodDlxaDZPbEcvNGtYVUhqR1R0RjFQZmFGcVRPS29TN3N4LzliKzhZZi9wSkVHRjRiUXVHRHpURkRTYXVEZ095c3VxaXBsUzgvWU13dkw0MWFqTzE0WDNIWVNySlQ5cE5kWVFZQ0NUOC9Zd2U5TyszT1JRUjBWUW9Mcmp0NGRQdUwrTGpxYkh6OEhKSnF5Mkh2cUlZcmk0ajNOMzlrMnJVTlYxS3JXYmMzaHovMWhSSXVFSms2dWRVaEtiSlJERnFGT1RmelhmZHA5My8xdE5TdUhiVnFiNEVvcFBLdEc3enFiNkVTZU1JeHppY3pkMEpPMDNLN1hNZE5vQ1pEeHRBS0dpY3B0MENpWWhPWjF5bFFrUkVSTEpqNENBaUlpTFpNWEFRRVJHUjdCZzRpSWlJU0hZTUhFUkVSQ1E3Qmc0aUlpS1NIUU1IRVJFUnlZNTlPSWpvdEhjNk5rRWkrcnpoQ0FjUkVSSEpqb0dEaUlpSVpNZkFRVVJFUkxKajRDQWlJaUxaTVhBUUVSR1I3Qmc0aUlpSVNIWU1IRVJFUkNRN0JnNGlJaUtTSFFNSEVSRVJ5WTZCZzRpSWlHVEh3RUZFUkVTeVkrQWdJaUlpMlRGd0VCRVJrZXdZT0lpSWlFaDJEQnhFUkVRa093WU9JaUlpa2gwREJ4RVJFY2xPZmFvdllDcSs2eFpQOVNWUWhFZnYvaW9XMVpVREFPNTQ1Q1VjT05GOWlxK0lpSWcrYXpqQ1FVUkVSTEpqNENBaUlpTFpNWEFRRVJHUjdCZzRpSWlJU0hZTUhFUkVSQ1M3MDNLVkNoRlJwTUsxcTA3MUpSQ2RWS1oxbTAvMUpVd2FSemlJaUloSWRnd2NSRVJFSkRzR0RpSWlJcElkQXdjUkVSSEpqb0dEaUlpSVpNZkFRVVJFUkxKajRDQWlJaUxaTVhBUUVSR1I3Qmc0aUlpSVNIWU1IRVJFUkNRN0JnNGlJaUtTSFFNSEVSRVJ5WTZCZzRpSWlHVEh3RUZFUkVTeVkrQWdJaUlpMlRGd0VCRVJrZXpVcC9vQ2lJZytxODdOejBHYnc0VitqM2RhNThuV3FKR2lVc0xvOFUzcTY3UktCZExWb1QvVGdpaGl5QitZOGpVVXBtaXhQRDhIQU9Ed0I3RFZOQmoxL2pWbFJmQUtBbG9kTG5RNlhmQUo0cFMvMStlRkVrQ0JUb3ZTVkIzMlcyMm4rbktTcWlySlEzVlpQbW9yaWxCVFhvaWE4a0lBUUV1M0VTM2RBMmpxTXFMRFlFYUhZWENjTTAwZEF3ZE5tOThmbEQ3VzY3U244RXFJWms2R1dvWGJhNnVnVlNyUU9PekFIOXU2ME9QeUpEeGVBU0JIcTBGQlN1Z0dWS2JYb1N4Vmg5bnBldVJxTmVoeGVYRFgvcU1BUWdFa1c2dEplSzRobng5RC9nRE9MOGpGdDJvcUFRRDJRQkMzZm5Jdzd2R3o5RHI0QlNGcG9DblhwK0tXcWpJQWdNSHRqUW9jR1dvVnZsWlpCcFVpOVBxVjdqNjgzTldYOEZ5VFZaMldpaFRWNUFmVVRSNGZMRDQvVkFvZ1E1MzRkdVVUQkxpQ0F0UUtCYlRLeVgwZmR6Q0lxVVNyWHl5c1ExMUdHdFNLMEEvdC9pTk5hQngyVE9GTThydG43UlhJejA2RDNlbEJjN2NKcjI3YWk1WnVFd0JJNGVPaUpYWFFyMXdBODVBVER6KzNVWmJyWU9DZ2FSdXl1NlNQYThvTDhkSEIxbE40TlVRelkxVnhQclRLME0ya1RLK0QyVHQ2TTcrK3ZCZzVHZzJ5dEJwa2FkVElTOUVpVjZ1UmJqN3h6Tkxyc0NnN0V3ZUdiUGhDU1FGdUxDOUplT3liUFVhODBOazdvZXNzVFUzQi9RdnFvRklvOE1qeDFxaWJYb2t1QlJrYWRkUzF4M051ZnE0VU5rUUFXNDBUZjhyOVFjTnNMTTdKVFBqK2hrNERMaTB1UUdscXlvVFBPZUt2SGIzNFo2OFJ0UmxwK09YQytvVEhmV0FheEJQTm5UaXZJQmUzMTFaTzZudmNzYThSQm5mMENOWkVJa3VMM1lsNW1lblM2NHNMODNGc25NQWhUT3JLcG05eGZRVWV1UDFhUFBiU1ptejhxREh1TWJzYk83QzdzVU42ZmNYS0JYanJkOS9EZlUrOGdZUE5QVE42UFF3Y05HMFdtMVA2dURZOFRFZDBPbE1wZ010TFJ2OWIzdEJwZ0NjNGVydjRYeFdsVXlxQXU3SzBFQWVHWm03b2ZaWmVoNTh2cUVPV0p2U24vS2Z6Ni9Ca2N3YytITEFBQUM0dHpzZlZaVVU0Wm5QZzd6M0doT2M1dnpCWCt2aklzQjBENHdTVVNGcWxBcm9rb3dwcVplSVE5bGwwN2F3aTNGeFpOdW12dTdBd0Z4ZEcvQnpqZWF5cEE5dkR2eHU1cmJseUJaYk1yY0FOUDNvYXJrbE01YjJ6OHdpMjcyL0dBOSs1Rmg4ZmFjZUxHM2ZQMkRVeGNOQzBOWFdOL2lHcnJTZzZoVmRDTkRNdUtNaERYbmpLbzhQcHhtYWpHVXBNN2duVkl3allaYmFpMStXQndlMUJyOXNEWTdnV1JCQmp6NlVJL3pOUmM5TDF1RzkrTFRMVUt1bHpYUzQzR29mdDB1djBjQkN4SmFuOW1KMm1SMzFHbXZSYXBWQklVeS9KdkdVd3dlTHpUK0tLUTdZUFdHRHpCMUNWcHNmOHJOQUlnY1hueHk2ekZRQ3dPQ2NyWmpURUo0Z3hJU2hOcllKZXBVSWlnejQvbXUzT3VPOHR6OHVlMU0vNmRMUG1xaFhJeTBqREQzNzc4cFMrM3VIeTRvNUhOdUN1bTFianBpdVdZLzA3bjh6SWRURncwTFR0T3RRR1FSQ2hWQ3BRa3ArRnhRMFYySCs4NjFSZkZ0R1VLQUZjTzZ0WWV2Mlh0bTZJQUg3WU1CdEtoUUp2OXZSSEhmOXFkeDhPRHRsZzh3Znd4ZElpWEZxY0R5QlVoL0ZrYzJmYzcvRnFkeDllN1k2dWtiaTl0aElYRmVaTjZCcVg1bVRoem9icXFKR0ZuV1lybm16dWlDcjJ6QXdIanVFa2dlUHFzdWlIaEhtWjZWRlRCWWw4T0dDQnhlZkhuMXU3OFpMYWdBcDlLcjVYVndVQUNJZ2k3ajE0SEVBb1RGeGNtQzk5M1Q5NmplaHd1bkY1U1lFVU9Fd2VIOWExaDRidnM3V2FtTURSNW5EaE8zdVBSSDN1cXhXbHVMNjhHSWtjdHpud3V4UHRjZC9ic0hMSmhBS0hLeGhFYjVLNm5jbEtGdnhteXVMNkNpeXByOEFQL250cVlTUFMvNnpmaE1mdS9pcU9OUGZpVU12MHAxY1lPR2phbkc0dnR1dzlqdFhMNWdJQWZuVExaYmpsWjMrR1B4QWM1eXVKUG5zdUtjcVhibmc3elZZY3RUblFrSm1HNVhuWkFJQ3pjN09pam0reHUzQThQSzNvQ0l6ZVVGUko2am1tNCtxeUlxeXBLcE9tZEFRQUwzVWE4TWFZSUFRQStkcFFFZmNsUlhsUllhWWtOUVhQbjdNSXpYWW41bVZtVE9rNmdtSW8ySmk4UHNBTGFDTENqNGpReU5DcE5EY3pIVCthT3lmdWV4UDl6VFRablhpZ3NVVjZmZHZzY3BUcWRRQ0FmL1lhNDY1TStmS3NZaXpJRHYxTWR3eFlzR1VTOVRBejRZSGJyOFVOUDNwNnhzNTMzeE52WXYyRHQrSHFPeCtmOXJrWU9HaEcvUG52TzNISjJRMVFLaFFvTGNqRy8vblNTano3K29lbityS0lKa1d2VXVFcmxhVUFBRTlRd0YvRFQ5MjNWTTJTanRsbHRtSjVmazdjR282QU9EcTZNRjdneU5WcW9sYXFKRnVGTWVMOGd0eW82UTVYVU1Cako5cnhxWFU0N3ZINTRWVmphb1VpNmk2ckFLQlRLckV3YXpSc2VJSUMrajFlVktXbEFrQzQwRlNCL0pUUnFhVlplcDFVR0R2VlZiTVBuTkVBQVdKVWdXMWRaaHFlUDJjUkFFQ2ppRjhQY21GaExrcDBPdW4xeU9oSUlybGFEWExIaE1PcCtQS3NZdFNFcDV6bVphVWpMVHlOazZGVzQ5TGlncGpqNTRSWEpRRkFmb29XWitXR2dxb3JFTVRqelIweHg4K2tlOVplZ2NkZTJweTBadVBjTStiZ2E1Y3Z3K3haQmZEN2d6alIyWTluWC84UXJUMERjWSszdXp4NCt0VnR1UHVXeS9DYnY3NDdyZXRqNEtBWjBXdXk0cjFkamJqODNBVUFnSnV2V0k0dGU0NUxTNitJVGdjM1ZwUWdPendONFJNRS9LQmhOdlFxRmNyRFQ3WHVvSUIxN1QxU1A0dXh2QkdGcGVNdHo3eWh2RVNhZnBtb0hRTVdyQ3pJd2RLY0xQUjV2SGpvYUN0NjNmR0gvTE0wYXVubU9CSHIycnZSNFhUajEyYzJBQUFlYmVyQTNNeDAzRlJaQ3E4ZzRPNER4L0RNMlF1bG0ybFFuRnJpQ0szOGlRNWpTaUJwNFNrQWZLRzRBSFVSdFNZblMxMW1HcGJteEFhWHFyUlVLWndsVXFKTFFZa3VORnBtbDNuRXQ2b2tEM25aYVFsWG93REFGMWJNdzMzZnVBb0E0QThFb2RkcHNXTGhiQ3hwcU1DM0h2eGJ3dER4OW83RFdMVnNMc3FMY3RCdHRFNzVHaGs0YU1ZOC9lbzJuRFd2Q3ZuWm9TZVBwKzY5R1g5OGN3ZGVlWDh2aENuK2NTSTZtZHpCMFp0Q3BrWXQxVUNNV04vWm03UlEwaXVNQm83eCtrNGs2OE9SaUFqZ2R5ZmFzYWF5REM5Mkd1QU1KcjZKelFxSEpBSEFBNDNObUpPZWhwdkNvemRtcng5UE5IZmdtM01xVUpxYWdsYUhDMXVNZzdnNVBIb1NGSUUyaHhPcmlrTFRNQ00xSUpHakVsTU5IUHVzTmpnREFaU2s2bENUcmdjUXFtMDRHRjY5MDVDWmpvS1UySDQrR1pyeGIxY2ZtZ2J4c1RuNmh2amsyUXVsd3RwZkgyMk5LcW9GUXNXOS93NnF5L0xoR0tmZVpNMlZLd0FBSCs1cndpK2UvU2N5MG5SNDZ0NDFLTW5Qd3ZXcmx1RGg1eEtQWU5pZEhzd3VLMkRnb004R3E5MkZlMy8vT3A3NmYydWdWaW1oMWFqeG5Sc3Z3a1ZMNi9HTFAvd1QvZWI0dzc1RW54WEhoaDFBZWZ6M211eE92TnNYK3dSNFMvVXNxWGd4S3lKRWFCUUtQSGhHZE8rSUk4TjJyTzgwaEk2TnVJSDZCQkZDUlBzcHZ5aGdlVjQyNWtkTWVXaVVDbHhlRWhyQzczRjdvcGF5anJXNTM0elphYUdiZVkvTGpVTkQ5cWlwQ3A4ZzRNaXdIUThkYThFdkY5Ymo5MDBkU0ZVcHNUbzg0dExwQ25VYXJVb2JEUVFBb0lwWTR1b1AzNmpQek01QVJabytLaVFvb1pDS1VUOFpFd0JlN095VmlrWkhBb2ZCN2NWalRhSHBoanZycStNSGpvZ3BwNC9NVmpnalJneE8yQjFRWVB4UnBYaDBTbVhTMFBIUTBWWnBQT1pYWnpaZ2R2aWFuMm5wd2hhak9lYjRPK3FyY1c1NEJPenZ2VWFzNzVoWVA1WHBxcTBvUW5OWDRoRmxoUUk0MU55RFB2TXdOcnkzRjRHZ0FLdk5oZjBudWxDU3Z4QzVtY2xIajVxNmpLaXRMTUsyZlUxVHZrWUdEcHBSVFYxRy9QalJWL0dmMzc0R2FlSEN1M216UzdEaFYvOFhYZjBXdFBVTW9LVm5BTTFkUm5oOThsZHMwK2ZEVFAxSmI3STc4VXhMRi9vOEhtaVZTdHd6cndaS2hBTEJFODBkY1R0U2hncE00emUxcWgwekJUQVlNVG9TT2NKeDE3N0dVUEZsaEY4dXJFZER4RTFBcDFUaUc3TVRwS0V4ZGc1WUVCQkZCRVVrWEJvS2hHNzBkKzAvQ3BzL2dLOVZsa3BUTUx2TVZxU3JWYWdNVHhrTWhhODdNclNNMUt1Y2s1OHJqWVNNVUNrdzJ0VjBCbFo1S0FEb0k1Yi8vclc5SitwbkNZU21PSDZ6YUc3Uzg5d3pMMzRSNlUwZjdZYy93WWlOR1A1bnJNVzVtY2pTeHQ1Q1IwYVdBRUNNcy94WkxqWGxoWGgxMDk2RTc0c2k4TWp6NzBWOVRxRUE1czhKL1o3YXgybHAzdEp0d3BjdldUS3RhMlRnb0JtMzkxZ252dlhnMy9EZ2Q2OURlZEhvVTFoRmNTNHFpbk54MFZtSk93WVNUY1dOTy9mTnlIbThnb0JONGFmV244NnZsUXBEWCtveXhIU2puSzVzeldqZ0dQSlB2cC9GZU43cEc4Q2hJWHZNdE5CWU5uOEFOZWw2WEZNV0dxVUppQ0syR0FleEtDZFRlckp2Y1lSQ1MyUVRyOEFVcTBhblVqU2FwbFpGRmVuS3VieFVIZkg5azgwYUxjdk54ckp3UWVoblFVMTU0YVJyNXI3N2xVdFFXWndMcnkrQXYzK3dQK214elYzR2FmZFpZdUFnV1hUMVcvRDFuLzBGVjE5d0J0WithU1Z5TXZTbitwS0lKdXpxMGtLY0VWN2FlTXptd0Z1OWlidDAvckcxRzBkdG9icUFtdlEwZkNlaXRmWi9IbW1PQ2hPdThEU0FUcVdVMnFZRHdKK1dueGwxemszOVp1d3dXK0FWZ2pnek85UTIzQ2VJZUxmUGhOd1VMVmFHaCt5SC9RRjhhSXA5TWgycEplbDFlOUFiWjNXcVZxbkFpcnhzVktTbFlydkpnaDgyekpaYW0rOHlXMkh6QjZKNlp4eTNPYUJFZE12dmtSR09KcnNEV3FVQ0dSbzFGb1d2VlVCb2xBVUFCbjNSSXpkVEtScE5qNWhPRVFCY1ZSYmQwZmlqZ2VocEc1OGdTalVoaTNNeXBYQnp3dTZFelIrQVNxSEFrZ1R0MkdlaVR1VjA4TDJ2WG9JYlZpMEZBRHo2NG1iMEQ4cS8rUndEQjhrbUtBaDQ4NE1EZVBPREExZzJ2eG9yRjlXZ3FuUmlqWTJJVHBXemM3T3dwbnAwR2V5UllUdHVyaXJETEwwTzFXbDYvT1pZOUY1QlpxOFAzZUZwZzdFM0tHY2dLTDBYS1hKMEE0aTkyUVpGRWUvMkRTQWdDRkxnOEFvQy90clJDNzFLaVhQQ3kzSXpOT3FFSFQrTGRTbW9URXRGWG9vV1JTbGFhV2tuRUZxdStjT0cyUUJDUzIzend6VVRybUFRejNmMG9rU1hJdldTQ0lnaW11M09tRDRiSTRGamkzRVFXNHlEcU0xSWt3SkhVQlNsbWd3QU1MZzlNVCtiZExVS09lRnBKYThnd0JSbkthYzlQSklSV1RDcUJHSmFqN2M3WEZITnpSeUJBQjRPLzU3K3ZQeE1xV2gwUTZjQmg0ZnQwS3RVZUc1RmRNZ2JvVkVtRGh3L1BYd0N5a24wS0EyY3hNRFMwbTFDVFhsaDFMNG84U2dVd04yM1hJNnJ6bHNJVVFRZTM3QUZiKzg0Tk83NVF6VWlpWVAzUkRCdzBFbXh1N0VkdXh2amQvMGptcTdDdGF0bTVEeFpHalYrMkRBbjZrbCs3Q1pyeWJhSUg3dEpXbzVXQThRcG9jaU9NL2NmeVoxazlZa3JLS0RKNWtSRFpocVVBRllWNWVPVjd0aWRYVmNYNStPYXN2R0h3SXQxby9VbmYrdm9oZFhueDUzMTFkTFA0S0RWQnA4Z0lrTWRYWFE2R1E4ZGk5M1E4ZktTQXFrbXBkM2h4azhQbjBqNDlaSHQyK09aeVJ0N2FzUlNZbmN3aU1VNW1USGRXQ2NqSUloNDhHakwrQWRPMDBRRHg1MDNYWXFyemx1SW9DRGlvWFh2NE4xZGlaZlJScW9wTDBUek5Oc2NNSEFRRVlVTit3TVk4dnVsZlZUaUhwTmtXYXhQRUdIekI2UzZpYUxVRk1BS0ZPbTBHUEQ0cEFMQ0xxY2JQdzYzL2g1eFYzMjFkUE9QM0NndW5vL01GcW1nOUxLU0FyeHRNTUUxSnFRTWpMTmhWMUJFMUwvclp1TWczdTgzb3o0alRWcGxBUUFid3l0elVpSnV4UDVKMW0va3AyaGp4Z1VpcDBrMFNrWGNsU251WUJDT1FCQzliZytlYlkzZUx1SHIxYk9RRWg1MUdYczl1Vm9OTnF3TUZUaEdoc2VmTEtpZDBMV09mbjhCdVZwTlZJTzB5VXBVakRyVG1ycU11SEJKWGRKanJseTVFTmRlRktxVmVYM0xwempXM29lSzRsQ2RuZHZyeDREVm52QnI2eXVMc0duM3NXbGRJd01IRVZHRWcxWWJ6c3JOUXE4N3RPbGF2OGNMbzlzTG85Y0hrOGM3N2czRTRQWWdVeFBxUlRQU0l2M1M0Z0lzenNuQ0N4MDkyR2Uxd1JVVTBPWndSWDFkNUpTRmM1d21VVHNHTEZoVE5RdGFwUUpaR2pWdXFpekZIOXU2bzQ0eGVVZUxYSzArUDRiOUFhbFJWYi9IaXp2M05TSW9BbXVyWnlGTG84RXpMWjFJVVNyeDNib3FLUnowZTd6UzdyYXBxcW1QY0R5MmRENDBTVHF2emtuWDQ4bXpGc1I4Zm1QZkFQN1UxZzJqeDRmMys2T1hvSDQ5WXRvclhnRnJ2SXFRaVN5YWpRd2NWcDhmQVZHRVJ4Q2dVU2lsT2hjZ2VmOE9yVklwZmErVE5hdlNZVERqeXBVTEU3NnZVaWx4NnpYblNhOXZYSDBXYmx4OWx2VDYwMk9kU2ZkZlNVdE5RWHR2N0RMZ3lXRGdJQ0tLOEV4TEo1NmF3dGZOejBySHdxeE05TGc5YUFodmZsYXVEOTNnc3pScVZPaDF1SGRlRGI2OTl6RE0zdGhSa3ZTSWFRTm5JUGtxREhzZ2lHMm1RYWxUNmFVbEJkaGpHY0xCb2RFbjFGYTdDdzhkYTBXTDNZa2hmd0JMYzdLa1phR0NHQnJoQUlCMTdUMVN3UGgrZlZYVUZFdmtCbk5wNnNpK0llTUhEaVdBbW95MHFKcUltUlRaYzhNbkNnZ0lJbzdhSERISDFXZWtTMEdoMCttT2FwYVdxOVhBNHZOTHkxNlZBQXAwbzRIRDR2TmhtOG1DYlNZTDZqTFM4UE1GR3d5ZDdnQUFDZE5KUkVGVWRWS3g3L3Q5QTNpK296ZG15ZXdYaXZOeDYrd0txUzUyZmVmSjZjUFJZUmlFZWNpQksxWXV3RHM3ajhTOFgxOVpoSUtjOFRmbGkrZUw1NThCZzNsNFdrMi9BQVlPSXFJb0k3ZlNYSzBHSmFrcEtFM1ZoVnBVcCtwUW1xckRJOGVqNnhIeWRhRUN6QlY1MmZqVU1veTlsbUdzRGsvNXowN1hRNjFRU0RkeEFhR241ckcwU29VMFBRQUFqbkZHT0ZLVVNyemEzWWNMQy9PZ1ZTcWdCUEFmRFhOdy81RW10SVpIVG15QkFQWmFKdFpzVDBSb1k3TElaWjZIaHV6WVpySklyeU9EaUcrY0tSVzFRb0UvTFQ4VDZXb1YzaktZY05CcWkxcFNDNFJHRW1hbGhucFdPSVBCdVAxQ2VoTDA4TkNyVkZGVE5MNmdBSlBYaDU4ZmptMUtGVmswK2x4N0R3NFAyM0ZGU1FFdUtzeERvUzRGRHpTMlNEVWcxZW42cUFMZXlLWFFUWFluZm5laURmOHhOMVRqYzNWWkVVcFRkZmhEYXhjR2ZYNWtxdFg0MzlWbFVadmt2ZGhwd051R2s3ZTl3OFBQYmNSYnYvc2V0dTl2aHNNVnZZejdhRnNmTHZ6bWJ5Wjl6cXowVkh6enV2Tnh6UStlbVBiMU1YQVFFWVY5b1RnZmx4WVhvRGcxSmVFeVRSSFJRL08zUlRUalVpa1ZhSXE0Y2VxVVNseFZXb2paNmFGNkM1UEhLNDBzUkNxTzJKUU1HTzB6a1RKbUw1UUt2UTZYbFJUaXZJSWNyUDM0SUY3dU1tQk51TUdXVHFYRXp4YlU0Zyt0WGRneE1QRW5VWlVDK0haTkZTNk02RnpxRTBRODI5b3B2YzVVcTNGRjZlaEdaU05GclRxbEVwZVZGS0ErTXgzMUVhdGdGQmdkc1JFeGZ0Rm90OU1UdFN2cmVQTEgxSHNrSzdJZFM2TlFZR2x1bHRReDlNdmx4WGl5T2ZUdk9pOXpkQVJBQU5EdGlsNVR2TWN5ak44ZWE4UDM2NnVRb2xSaWFXNFdGbVRQeDg0QksxYmtaME1mL24wRlJCRi9hZXZHZS8zVG00S1lpdnVlZUFNUGZPYzYzUEhJU3pOeXZnZHV2dzczUGY3R2pKeUxnWU9JS0V5alZJNjdJVmRacWk3aGU5NmdnQzZYRzJhdlg5cGxkVTNFN3E3dDRkR0htblE5Y3JTYThJWmVJbTRZc3hKbU1MemFwVkkvZWkwWmFoVit1M2llOURwTG84WS9lbzFZbUoySk04TkxXUFVxRmU2b3E0Yk5IOENob2NRRmdDUHlVelQ0ZmwwMTVrYmNhSU1pOEMrRENiOWZ1Z0JlUVlCUEVKQ3VWa2VGclA3d2szOVFGUEcxeXJLbzJvYXhVbFhLdUFXaEV5a2FCVUkvMDRBb1lIRk9GbnlDQUtWQ2dWVkZvejFDaFBCMU5HU21JME90UXJwYWpYU05XdnBZRjFGN2NzKzhtcWorSjBCb1dmQ0dUZ01HZmY2b1RmbTZuZTY0eGJ0N0xFTjRxcmtUM3crdjVFbFJLbkhKbUU2cmYrOHhZcTlsR0FyRTcxSXFwNFBOUGZqNFNCdnV1bmsxL3VlRlRkTTYxdy9YWElvUDl6ZmpTSnRoUnE2TmdZT0lLS3pENllyNW5FOFEwZVZ5bzl2bFJxZlRqWVhac1NzV2JJRUFYdW5xdzN2aEZSM2JCd1p4M2F6aW1PTkdtbEhWWjZaamJVVFJZNlEranhjZVFVQ1dSbzF6QytMdlNndUVudktIL0FIODkvRlcvSHhCbmZURXZzVTRPS0d3b1FSdzc3d2FWRVNFR2dIQW8wM3QrTmhzeFNYRmVjaFVxK09POU95eERBRUlyY0RvZGJ1anp1RVZCQndac21PZmRSaTVXaTJ1THkvRzZxTGt1K0ltS2hvRmdJOEhoL0RvaVhiY1hsY1Z0L0RVNFBJZ1ZhWENMeGNtWDZFQklDWnNBS0hwbjZ0S0M3RnR3QkkxU25QTTVzQ0t2R3hrYVRUSTBxcVJyZEdnWEs5RFZabytLc1RFYzMxNU1hNHZMMFpBRkRIc0Q4RG1EOEFkRE9LTjduNnBDRmRPTDI3Y2pac3VYNGJIN3Y0cTdudmlUZGduMlY0K0t6MFZEOXgrSFQ3YzM0eVgzOXN6WTlmRndFRkVGTmJoQ0cxMDF1WndvY1BwUXJ2VGhUNjNOK29wTlZlcndZVUZlZENwbEJBQXZHTXc0ZVV1QTF3UlQ4UC82RFhpd3NJOGFTdDNJQlJLUGdwdlpKWnNmNU0zdXZzQmhKYm85cnU5VVNNdUFWSEVMck1WbTQxbXRJUkhTMXhCQWZjZmFjSWQ5ZFhJVUt2eGh6SExSeE1SQVB4WFl3dCtNajhVT2h5QklCNXJhc2QrYStpRzJHUno0cXpjMkczWjkxaUc4Y25na1BTNnplRkNwa2FEdlpZaDdCa2N3cUVodTFRVE1WTFVPbDBCVVVTN3d4VjNlL29QQnl3WTlQbGg4Zm1qZnQ2SnVJSkJtTDArdUFKQnFiaDNWWEVCZGc4T1ljZ2ZRSFo0U2ZOVzB5QytWbGtxTlRPTHh5ZUlPRHhzUTVmVGpVVTVXYWdlTXpxbVZpaVFwOVVnVDZ1Qkl4REU4VGhGclhKWnYzRTNqclFhc1A3QjIvRDBxOXZ3OW83REUvcTZMNTUvQnI1NTNmbTQ3L0UzWm14a1l3UURCeEZSbURNWXhDOGJtNU1lWS9INThWS1hBYXVLOHZGa2M0ZDA0NC9rQ0FSeC8rRW0zRHFuSEEyWjZiQjQvWGltcFJQdWNDaHBkN2dRRUVXb0ZBb0VSUkUrUWNDQXg0ZC85Wm13TmFKVitVdWRCdHd6Ync3c2dTQTI5cG53YnQ5QVZFZk5FZTZnZ0Y4ZmJZVk9wWnhVRXl5cno0K2ZIMjdDMnVweXZOeGxpTnBBYmxPL0dZTmVIeFFLQlFLQ0FHY3dpSGFIQzN2R0ZLSSsxOTZESjVvN3g1NGFRS2dSMm5TZjZFZW1vWnJ0VG1rVXh5ZUlHUGI3c1dQQWdqZDdRZ0d0Y2RpT3VabnBzUHI4c1ByOXNIcjk0U0RpZzhVYkNpU0RYcCswbkZXSjBOYjFya0FRbTQxbWREamQrUEdCWS9qSi9GcTRnMEcwT1Z6NFEwc1hIbDA2WDJwMzdnd0cwV3Azb2NudXdORmhCMDdZSFZJQjdmcE9BN0kxYXN6THlrQjlSaHFxMC9Xb1RFdVY2anJlTWhpVExxV1Z3NkhtSGx4OTUrTzQrNWJMc0dyWlhEaGNYalIzbTlEVWFVUnpkNmhyYUcxNUVXb3JDbEZYVVlnMHZRNkdnYUVaS1JDTlIzSEJiUS8vK3phTEo2TFBoWm5xTkRwUlNnQktoZUtrdEs2K3VEQVB1OHpXazM2eitqekkwV3BpVmcybHExWElTOUdpMHhrcUdGMmVsdzFCREUyckdjZHBwaFpQcGthTkVsMEtPbDN4YTBLbXlyUnU4NlNPcnlqT1JYVlpQbXJLQzFGWFVZUzY4RVpzVGQxR05IZVowTnhsUkx2QmpLNCt5emhubWpxT2NCQVJUWklBUURoSkhaMjJ4dG1jaldaR3ZDWEtqa0FRanNEbzZwVEk2YU9wc0lWck9FNjFybjRMdXZvdDJQWnA3TkxoazJVaWpkZUlpSWlJcG9XQmc0aUlpR1RId0VGRVJFU3lZK0FnSWlJaTJURndFQkVSa2V3WU9JaUlpRWgyREJ4RVJFUWtPd1lPSWlJaWtoMERCeEVSRWNtT2dZT0lpSWhreDhCQlJFUkVzbVBnSUNJaUl0a3hjQkFSRVpIc0dEaUlpSWhJZGd3Y1JFUkVKRHNHRGlJaUlwS2QrbFJmQUJIUmRKbldiVDdWbDBCRTQrQUlCeEVSRWNtT2dZT0lpSWhreDhCQlJFUkVzbVBnSUNJaUl0a3hjQkFSRVpIc0dEaUlpSWhJZGd3Y1JFUkVKRHNHRGlJaUlwSWRBd2NSRVJISmpvR0RpSWlJWk1mQVFVUkVSTEpqNENBaUlpTFpNWEFRRVJHUjdCZzRpSWlJU0hZTUhFUkVSQ1E3Qmc0aUlpS1NIUU1IRVJFUnlZNkJnNGlJaUdUSHdFRkVSRVN5WStBZ0lpSWkyVEZ3RUJFUmtld1lPSWlJaUVoMkRCeEVSRVFrT3dZT0lpSWlraDBEQnhFUkVjbU9nWU9JaUloa3g4QkJSRVJFc21QZ0lDSWlJdGt4Y0JBUkVaSHNHRGlJaUloSWRnd2NSRVJFSkRzR0RpSWlJcElkQXdjUkVSSEpqb0dEaUlpSVpNZkFRVVJFUkxKajRDQWlJaUxaTVhBUUVSR1I3Qmc0aUlpSVNIWU1IRVJFUkNRN0JnNGlJaUtTSFFNSEVSRVJ5WTZCZzRpSWlHVEh3RUZFUkVTeVkrQWdJaUlpMmYxL3orNEdUODh4Ymd3QUFBQUFTVVZPUks1Q1lJST0iLAoJIlRoZW1lIiA6ICIiLAoJIlR5cGUiIDogIm1pbmQiLAoJIlVzZXJJZCIgOiAiMjAxOTY3Mzg0IiwKCSJWZXJzaW9uIiA6ICIxNCIKfQo="/>
    </extobj>
  </extobjs>
</s:customData>
</file>

<file path=customXml/itemProps49.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12262</Words>
  <Application>WPS 演示</Application>
  <PresentationFormat>宽屏</PresentationFormat>
  <Paragraphs>1337</Paragraphs>
  <Slides>46</Slides>
  <Notes>19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15</vt:i4>
      </vt:variant>
      <vt:variant>
        <vt:lpstr>幻灯片标题</vt:lpstr>
      </vt:variant>
      <vt:variant>
        <vt:i4>46</vt:i4>
      </vt:variant>
    </vt:vector>
  </HeadingPairs>
  <TitlesOfParts>
    <vt:vector size="71" baseType="lpstr">
      <vt:lpstr>Arial</vt:lpstr>
      <vt:lpstr>宋体</vt:lpstr>
      <vt:lpstr>Wingdings</vt:lpstr>
      <vt:lpstr>微软雅黑</vt:lpstr>
      <vt:lpstr>Times New Roman</vt:lpstr>
      <vt:lpstr>Wingdings</vt:lpstr>
      <vt:lpstr>Calibri</vt:lpstr>
      <vt:lpstr>Arial Unicode MS</vt:lpstr>
      <vt:lpstr>Times New Roman</vt:lpstr>
      <vt:lpstr>Office 主题</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华佑泉美</dc:creator>
  <cp:lastModifiedBy>RonaldY</cp:lastModifiedBy>
  <cp:revision>550</cp:revision>
  <dcterms:created xsi:type="dcterms:W3CDTF">2019-03-17T14:10:00Z</dcterms:created>
  <dcterms:modified xsi:type="dcterms:W3CDTF">2025-06-07T04:38:07Z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EE56A1BEC465411DA3885251EBCECA09_12</vt:lpwstr>
  </property>
  <property fmtid="{D5CDD505-2E9C-101B-9397-08002B2CF9AE}" pid="3" name="KSOProductBuildVer">
    <vt:lpwstr>2052-12.1.0.21171</vt:lpwstr>
  </property>
</Properties>
</file>